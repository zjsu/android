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51"/>
  </p:notesMasterIdLst>
  <p:handoutMasterIdLst>
    <p:handoutMasterId r:id="rId52"/>
  </p:handoutMasterIdLst>
  <p:sldIdLst>
    <p:sldId id="312" r:id="rId5"/>
    <p:sldId id="353" r:id="rId6"/>
    <p:sldId id="346" r:id="rId7"/>
    <p:sldId id="314" r:id="rId8"/>
    <p:sldId id="315" r:id="rId9"/>
    <p:sldId id="347" r:id="rId10"/>
    <p:sldId id="349" r:id="rId11"/>
    <p:sldId id="348" r:id="rId12"/>
    <p:sldId id="316" r:id="rId13"/>
    <p:sldId id="313" r:id="rId14"/>
    <p:sldId id="350" r:id="rId15"/>
    <p:sldId id="351" r:id="rId16"/>
    <p:sldId id="352" r:id="rId17"/>
    <p:sldId id="317" r:id="rId18"/>
    <p:sldId id="318" r:id="rId19"/>
    <p:sldId id="319" r:id="rId20"/>
    <p:sldId id="320" r:id="rId21"/>
    <p:sldId id="321" r:id="rId22"/>
    <p:sldId id="323" r:id="rId23"/>
    <p:sldId id="325" r:id="rId24"/>
    <p:sldId id="324" r:id="rId25"/>
    <p:sldId id="354" r:id="rId26"/>
    <p:sldId id="326" r:id="rId27"/>
    <p:sldId id="356" r:id="rId28"/>
    <p:sldId id="327" r:id="rId29"/>
    <p:sldId id="328" r:id="rId30"/>
    <p:sldId id="357" r:id="rId31"/>
    <p:sldId id="358" r:id="rId32"/>
    <p:sldId id="329" r:id="rId33"/>
    <p:sldId id="330" r:id="rId34"/>
    <p:sldId id="332" r:id="rId35"/>
    <p:sldId id="334" r:id="rId36"/>
    <p:sldId id="335" r:id="rId37"/>
    <p:sldId id="336" r:id="rId38"/>
    <p:sldId id="337" r:id="rId39"/>
    <p:sldId id="338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59" r:id="rId48"/>
    <p:sldId id="360" r:id="rId49"/>
    <p:sldId id="361" r:id="rId5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-20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0" Type="http://schemas.openxmlformats.org/officeDocument/2006/relationships/slide" Target="slides/slide46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printerSettings" Target="printerSettings/printerSettings1.bin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4C887C3-E6A5-6748-8611-92B7C9ED63A4}" type="datetimeFigureOut">
              <a:rPr lang="en-US" altLang="zh-CN"/>
              <a:pPr>
                <a:defRPr/>
              </a:pPr>
              <a:t>3/5/14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4588137-DD33-2646-9C27-CA11D318C9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834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BE026A92-383F-4344-A4F9-5C68C37C5AC0}" type="datetimeFigureOut">
              <a:rPr lang="en-US" altLang="zh-CN"/>
              <a:pPr>
                <a:defRPr/>
              </a:pPr>
              <a:t>3/5/14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732D926-1AD5-0047-B283-E6F6D2C9C8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68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kumimoji="0" lang="zh-CN" alt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D9482761-64FD-7143-B07A-754F96F4249D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9FB51-F12A-1247-A661-C040B6CB2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6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DEF0F-1FE1-E345-9A86-4A0DFEFEBC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8327B-77EA-9A4C-A828-2B9F76BD2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7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8C6CA-F563-F744-85FF-1C0210BF12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98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DC001-48D4-CE4F-8212-BF187C778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0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C4781-D3E2-424E-9286-4CB3359E9A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9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4C92B-21E4-1941-B029-D6DA5A8D4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6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FD0C7-64D2-F349-B073-350122E46E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5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8883D-8CD4-CB42-BAE5-0E1845806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6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7B22D-F987-A940-B67D-C79A3BBEC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1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AE342-5D57-424D-97D9-CC0071B55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63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A3A7D-BD7A-1340-B1DB-8D3811C0C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7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cs typeface="+mn-cs"/>
              </a:defRPr>
            </a:lvl1pPr>
          </a:lstStyle>
          <a:p>
            <a:pPr>
              <a:defRPr/>
            </a:pPr>
            <a:fld id="{60E5D277-836C-DD43-9E7B-17DCE6529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njianwei@zjgsu.edu.cn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tagged/android" TargetMode="External"/><Relationship Id="rId4" Type="http://schemas.openxmlformats.org/officeDocument/2006/relationships/hyperlink" Target="http://www.newsmth.net/nForum/%23!board/MobileDev" TargetMode="External"/><Relationship Id="rId5" Type="http://schemas.openxmlformats.org/officeDocument/2006/relationships/hyperlink" Target="http://www.zhihu.com/topic/19555634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dex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racle.com/technetwork/java/javase/downloads/index.html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sdk/index.html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ogerdudler.github.io/git-guide/index.zh.htm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indows.github.com" TargetMode="External"/><Relationship Id="rId4" Type="http://schemas.openxmlformats.org/officeDocument/2006/relationships/hyperlink" Target="http://www.worldhello.net/gotgithub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latin typeface="Arial" charset="0"/>
                <a:ea typeface="Kai" charset="0"/>
                <a:cs typeface="Kai" charset="0"/>
              </a:rPr>
              <a:t> Android </a:t>
            </a:r>
            <a:r>
              <a:rPr lang="zh-CN" altLang="en-US" sz="3600">
                <a:latin typeface="Arial" charset="0"/>
                <a:ea typeface="Kai" charset="0"/>
                <a:cs typeface="Kai" charset="0"/>
              </a:rPr>
              <a:t>平台简介</a:t>
            </a:r>
            <a:endParaRPr lang="en-US" altLang="zh-CN" sz="3600">
              <a:latin typeface="Arial" charset="0"/>
              <a:ea typeface="Kai" charset="0"/>
              <a:cs typeface="Kai" charset="0"/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kumimoji="0" lang="zh-CN" altLang="en-US" sz="2400">
                <a:latin typeface="Arial" charset="0"/>
                <a:ea typeface="Kai" charset="0"/>
                <a:cs typeface="Kai" charset="0"/>
              </a:rPr>
              <a:t>韩建伟</a:t>
            </a:r>
            <a:endParaRPr kumimoji="0" lang="en-US" altLang="zh-CN" sz="2400">
              <a:latin typeface="Arial" charset="0"/>
              <a:ea typeface="Kai" charset="0"/>
              <a:cs typeface="Kai" charset="0"/>
            </a:endParaRPr>
          </a:p>
          <a:p>
            <a:pPr eaLnBrk="1" hangingPunct="1">
              <a:buFont typeface="Wingdings" charset="0"/>
              <a:buNone/>
            </a:pPr>
            <a:r>
              <a:rPr kumimoji="0" lang="en-US" altLang="zh-CN" sz="2400">
                <a:latin typeface="Arial" charset="0"/>
                <a:ea typeface="Kai" charset="0"/>
                <a:cs typeface="Kai" charset="0"/>
                <a:hlinkClick r:id="rId3"/>
              </a:rPr>
              <a:t>hanjianwei@zjgsu.edu.cn</a:t>
            </a:r>
            <a:endParaRPr kumimoji="0" lang="en-US" altLang="zh-CN" sz="2400">
              <a:latin typeface="Arial" charset="0"/>
              <a:ea typeface="Kai" charset="0"/>
              <a:cs typeface="Kai" charset="0"/>
            </a:endParaRPr>
          </a:p>
          <a:p>
            <a:pPr eaLnBrk="1" hangingPunct="1">
              <a:buFont typeface="Wingdings" charset="0"/>
              <a:buNone/>
            </a:pPr>
            <a:r>
              <a:rPr kumimoji="0" lang="en-US" altLang="zh-CN" sz="2400">
                <a:latin typeface="Arial" charset="0"/>
                <a:ea typeface="Kai" charset="0"/>
                <a:cs typeface="Kai" charset="0"/>
              </a:rPr>
              <a:t>2014</a:t>
            </a:r>
            <a:r>
              <a:rPr kumimoji="0" lang="zh-CN" altLang="en-US" sz="2400">
                <a:latin typeface="Arial" charset="0"/>
                <a:ea typeface="Kai" charset="0"/>
                <a:cs typeface="Kai" charset="0"/>
              </a:rPr>
              <a:t>年</a:t>
            </a:r>
            <a:r>
              <a:rPr kumimoji="0" lang="en-US" altLang="zh-CN" sz="2400">
                <a:latin typeface="Arial" charset="0"/>
                <a:ea typeface="Kai" charset="0"/>
                <a:cs typeface="Kai" charset="0"/>
              </a:rPr>
              <a:t>2</a:t>
            </a:r>
            <a:r>
              <a:rPr kumimoji="0" lang="zh-CN" altLang="en-US" sz="2400">
                <a:latin typeface="Arial" charset="0"/>
                <a:ea typeface="Kai" charset="0"/>
                <a:cs typeface="Kai" charset="0"/>
              </a:rPr>
              <a:t>月</a:t>
            </a:r>
          </a:p>
        </p:txBody>
      </p:sp>
      <p:pic>
        <p:nvPicPr>
          <p:cNvPr id="16387" name="Picture 14" descr="http://www.proxware.com/images/androids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48005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18434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784" r="-11578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课程主页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" charset="0"/>
              <a:buNone/>
              <a:defRPr/>
            </a:pPr>
            <a:endParaRPr lang="en-US" altLang="zh-CN" dirty="0" smtClean="0"/>
          </a:p>
          <a:p>
            <a:pPr marL="0" indent="0">
              <a:buFont typeface="Wingdings" charset="0"/>
              <a:buNone/>
              <a:defRPr/>
            </a:pPr>
            <a:r>
              <a:rPr lang="en-US" altLang="zh-CN" dirty="0" smtClean="0"/>
              <a:t>http://android-</a:t>
            </a:r>
            <a:r>
              <a:rPr lang="en-US" altLang="zh-CN" dirty="0" err="1" smtClean="0"/>
              <a:t>class.github.io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考核方式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每人独立完成一个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Android App</a:t>
            </a:r>
          </a:p>
          <a:p>
            <a:pPr>
              <a:defRPr/>
            </a:pP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根据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App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的功能和质量评分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marL="0" indent="0">
              <a:buFont typeface="Wingdings" charset="0"/>
              <a:buNone/>
              <a:defRPr/>
            </a:pPr>
            <a:endParaRPr lang="en-US" altLang="zh-CN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如何选题？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创造一款伟大产品或者服务的最直接方法是去做你想用的。这会让你设计出你了解的，并立即明白你做的东西是否靠谱。</a:t>
            </a:r>
            <a:endParaRPr lang="en-US" altLang="zh-CN" dirty="0" smtClean="0"/>
          </a:p>
          <a:p>
            <a:pPr marL="0" indent="0" algn="r">
              <a:buFont typeface="Wingdings" charset="0"/>
              <a:buNone/>
              <a:defRPr/>
            </a:pPr>
            <a:r>
              <a:rPr lang="zh-CN" altLang="zh-CN" dirty="0"/>
              <a:t>—</a:t>
            </a:r>
            <a:r>
              <a:rPr lang="zh-CN" altLang="zh-CN" dirty="0" smtClean="0"/>
              <a:t>—</a:t>
            </a:r>
            <a:r>
              <a:rPr lang="en-US" altLang="zh-CN" dirty="0" smtClean="0"/>
              <a:t> 《Rework》</a:t>
            </a:r>
          </a:p>
          <a:p>
            <a:pPr>
              <a:defRPr/>
            </a:pPr>
            <a:r>
              <a:rPr lang="zh-CN" altLang="en-US" dirty="0" smtClean="0"/>
              <a:t>如果有一件事是你热爱做的，愿意无偿做一辈子的，那这就是你必须要做的职业。我从小爱说话，比谁都能侃。有一天，我想通了，我必须找个说话的职业。最后，我成为了脱口秀主持人。</a:t>
            </a:r>
            <a:endParaRPr lang="en-US" altLang="zh-CN" dirty="0" smtClean="0"/>
          </a:p>
          <a:p>
            <a:pPr marL="0" indent="0" algn="r">
              <a:buFont typeface="Wingdings" charset="0"/>
              <a:buNone/>
              <a:defRPr/>
            </a:pPr>
            <a:r>
              <a:rPr lang="en-US" altLang="zh-CN" dirty="0" smtClean="0"/>
              <a:t>——</a:t>
            </a:r>
            <a:r>
              <a:rPr lang="en-US" altLang="zh-CN" dirty="0" err="1" smtClean="0"/>
              <a:t>Tavis</a:t>
            </a:r>
            <a:r>
              <a:rPr lang="en-US" altLang="zh-CN" dirty="0" smtClean="0"/>
              <a:t> Smiley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参考书</a:t>
            </a:r>
          </a:p>
        </p:txBody>
      </p:sp>
      <p:pic>
        <p:nvPicPr>
          <p:cNvPr id="57346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763" r="-92763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参考书</a:t>
            </a:r>
          </a:p>
        </p:txBody>
      </p:sp>
      <p:pic>
        <p:nvPicPr>
          <p:cNvPr id="58370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376" r="-66376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参考书</a:t>
            </a:r>
          </a:p>
        </p:txBody>
      </p:sp>
      <p:pic>
        <p:nvPicPr>
          <p:cNvPr id="5939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451" r="-67451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资料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  <a:hlinkClick r:id="rId2"/>
              </a:rPr>
              <a:t>官网</a:t>
            </a:r>
            <a:endParaRPr lang="en-US" altLang="zh-CN">
              <a:latin typeface="Kai" charset="0"/>
              <a:ea typeface="Kai" charset="0"/>
              <a:cs typeface="Kai" charset="0"/>
              <a:hlinkClick r:id="rId2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  <a:hlinkClick r:id="rId2"/>
              </a:rPr>
              <a:t>http://developer.android.com/index.html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  <a:hlinkClick r:id="rId3"/>
              </a:rPr>
              <a:t>Stackoverflow</a:t>
            </a: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  <a:hlinkClick r:id="rId3"/>
              </a:rPr>
              <a:t>http://stackoverflow.com/questions/tagged/android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  <a:hlinkClick r:id="rId4"/>
              </a:rPr>
              <a:t>水木社区</a:t>
            </a:r>
            <a:endParaRPr lang="en-US" altLang="zh-CN">
              <a:latin typeface="Kai" charset="0"/>
              <a:ea typeface="Kai" charset="0"/>
              <a:cs typeface="Kai" charset="0"/>
              <a:hlinkClick r:id="rId4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  <a:hlinkClick r:id="rId4"/>
              </a:rPr>
              <a:t>http://www.newsmth.net/nForum/#!board/MobileDev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  <a:hlinkClick r:id="rId5"/>
              </a:rPr>
              <a:t>知乎</a:t>
            </a:r>
            <a:endParaRPr lang="en-US" altLang="zh-CN">
              <a:latin typeface="Kai" charset="0"/>
              <a:ea typeface="Kai" charset="0"/>
              <a:cs typeface="Kai" charset="0"/>
              <a:hlinkClick r:id="rId5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  <a:hlinkClick r:id="rId5"/>
              </a:rPr>
              <a:t>http://www.zhihu.com/topic/19555634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课程结构</a:t>
            </a: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介绍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基本界面开发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高级界面开发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</a:t>
            </a: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图形图像处理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 </a:t>
            </a: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后台服务开发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</a:t>
            </a: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手机传感器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</a:t>
            </a: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小部件开发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</a:t>
            </a:r>
          </a:p>
          <a:p>
            <a:r>
              <a:rPr lang="zh-CN">
                <a:latin typeface="Kai" charset="0"/>
                <a:ea typeface="Kai" charset="0"/>
                <a:cs typeface="Kai" charset="0"/>
              </a:rPr>
              <a:t>应用程序的发布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为什么要学手机开发？</a:t>
            </a:r>
          </a:p>
        </p:txBody>
      </p:sp>
      <p:pic>
        <p:nvPicPr>
          <p:cNvPr id="60418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773" r="-74773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手机</a:t>
            </a:r>
            <a:r>
              <a:rPr kumimoji="1" lang="zh-CN">
                <a:latin typeface="Kai" charset="0"/>
                <a:ea typeface="Kai" charset="0"/>
                <a:cs typeface="Kai" charset="0"/>
              </a:rPr>
              <a:t>？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电脑？</a:t>
            </a:r>
          </a:p>
        </p:txBody>
      </p:sp>
      <p:pic>
        <p:nvPicPr>
          <p:cNvPr id="61442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4" b="9294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为什么要学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开发？</a:t>
            </a:r>
          </a:p>
        </p:txBody>
      </p:sp>
      <p:pic>
        <p:nvPicPr>
          <p:cNvPr id="62466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967" r="-12967"/>
          <a:stretch>
            <a:fillRect/>
          </a:stretch>
        </p:blipFill>
        <p:spPr>
          <a:xfrm>
            <a:off x="76200" y="1752600"/>
            <a:ext cx="8229600" cy="441166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78000"/>
            <a:ext cx="5080000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Open Handset Alliance </a:t>
            </a:r>
            <a:br>
              <a:rPr kumimoji="1" lang="en-US" altLang="zh-CN">
                <a:latin typeface="Kai" charset="0"/>
                <a:ea typeface="Kai" charset="0"/>
                <a:cs typeface="Kai" charset="0"/>
              </a:rPr>
            </a:b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 – 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开放手机联盟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成立于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2007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年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11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月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5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日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包括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Google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、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HTC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、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Sony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、中国移动等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84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个公司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的历史及可能的未来</a:t>
            </a: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2005 – Google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买下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2007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开放手机联盟成立。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2008 – 2010 Android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成为主要手机平台。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2011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游戏机、平板、电视。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2013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眼镜。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未来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不仅仅是手机。</a:t>
            </a:r>
          </a:p>
        </p:txBody>
      </p:sp>
      <p:pic>
        <p:nvPicPr>
          <p:cNvPr id="2457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572000"/>
            <a:ext cx="365760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的未来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latin typeface="+mn-lt"/>
              </a:rPr>
              <a:t>Our goal is not just a single device. Our vision is a mobile platform that runs on many many different devices. </a:t>
            </a:r>
          </a:p>
          <a:p>
            <a:pPr marL="0" indent="0" algn="r">
              <a:buFont typeface="Wingdings" charset="0"/>
              <a:buNone/>
              <a:defRPr/>
            </a:pPr>
            <a:r>
              <a:rPr lang="en-US" altLang="zh-CN" b="1" dirty="0" smtClean="0"/>
              <a:t>——Eric Schmidt </a:t>
            </a:r>
          </a:p>
          <a:p>
            <a:pPr marL="0" indent="0">
              <a:buFont typeface="Wingdings" charset="0"/>
              <a:buNone/>
              <a:defRPr/>
            </a:pPr>
            <a:endParaRPr kumimoji="0" lang="en-US" altLang="zh-CN" dirty="0" smtClean="0"/>
          </a:p>
          <a:p>
            <a:pPr marL="0" indent="0">
              <a:buFont typeface="Wingdings" charset="0"/>
              <a:buNone/>
              <a:defRPr/>
            </a:pPr>
            <a:endParaRPr lang="zh-CN" altLang="en-US" b="1" dirty="0"/>
          </a:p>
        </p:txBody>
      </p:sp>
      <p:pic>
        <p:nvPicPr>
          <p:cNvPr id="25603" name="图片 5" descr="Screen Shot 2012-10-23 at 12.43.0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370263"/>
            <a:ext cx="5676900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的版本</a:t>
            </a:r>
          </a:p>
        </p:txBody>
      </p:sp>
      <p:pic>
        <p:nvPicPr>
          <p:cNvPr id="26626" name="内容占位符 3" descr="Screen Shot 2014-02-19 at 7.26.27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30" b="-7530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版本分布</a:t>
            </a:r>
          </a:p>
        </p:txBody>
      </p:sp>
      <p:pic>
        <p:nvPicPr>
          <p:cNvPr id="27650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r="3365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栈</a:t>
            </a:r>
          </a:p>
        </p:txBody>
      </p:sp>
      <p:pic>
        <p:nvPicPr>
          <p:cNvPr id="28674" name="内容占位符 3" descr="Screen Shot 2012-10-23 at 12.47.01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237" r="-7423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图片 2" descr="Screen Shot 2012-10-23 at 12.47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317500"/>
            <a:ext cx="6286500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Linux Kernel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安全管理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内存管理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进程管理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文件、网络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设备驱动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对用户不可见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可以用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adb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打开</a:t>
            </a:r>
          </a:p>
        </p:txBody>
      </p:sp>
      <p:pic>
        <p:nvPicPr>
          <p:cNvPr id="30723" name="图片 3" descr="Screen Shot 2012-10-23 at 12.49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11"/>
          <a:stretch>
            <a:fillRect/>
          </a:stretch>
        </p:blipFill>
        <p:spPr bwMode="auto">
          <a:xfrm>
            <a:off x="3657600" y="5259388"/>
            <a:ext cx="4614863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Linux Kernel – Android 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相关</a:t>
            </a: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电源管理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共享内存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低内存结束进程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进程间通信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……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1747" name="图片 3" descr="Screen Shot 2012-10-23 at 12.49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43"/>
          <a:stretch>
            <a:fillRect/>
          </a:stretch>
        </p:blipFill>
        <p:spPr bwMode="auto">
          <a:xfrm>
            <a:off x="3886200" y="2819400"/>
            <a:ext cx="4614863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Native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库</a:t>
            </a: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zh-CN" sz="1800" b="1">
                <a:latin typeface="Kai" charset="0"/>
                <a:ea typeface="Kai" charset="0"/>
                <a:cs typeface="Kai" charset="0"/>
              </a:rPr>
              <a:t>Surface Manager</a:t>
            </a:r>
          </a:p>
          <a:p>
            <a:pPr lvl="1"/>
            <a:r>
              <a:rPr kumimoji="0" lang="zh-CN" altLang="en-US" sz="1400" b="1">
                <a:latin typeface="Kai" charset="0"/>
                <a:ea typeface="Kai" charset="0"/>
                <a:cs typeface="Kai" charset="0"/>
              </a:rPr>
              <a:t>显示管理</a:t>
            </a:r>
            <a:endParaRPr kumimoji="0" lang="en-US" altLang="zh-CN" sz="1400" b="1">
              <a:latin typeface="Kai" charset="0"/>
              <a:ea typeface="Kai" charset="0"/>
              <a:cs typeface="Kai" charset="0"/>
            </a:endParaRPr>
          </a:p>
          <a:p>
            <a:r>
              <a:rPr kumimoji="0" lang="en-US" altLang="zh-CN" sz="1800" b="1">
                <a:latin typeface="Kai" charset="0"/>
                <a:ea typeface="Kai" charset="0"/>
                <a:cs typeface="Kai" charset="0"/>
              </a:rPr>
              <a:t>Bionic</a:t>
            </a:r>
          </a:p>
          <a:p>
            <a:pPr lvl="1"/>
            <a:r>
              <a:rPr kumimoji="0" lang="en-US" altLang="zh-CN" sz="1600" b="1">
                <a:latin typeface="Kai" charset="0"/>
                <a:ea typeface="Kai" charset="0"/>
                <a:cs typeface="Kai" charset="0"/>
              </a:rPr>
              <a:t>Libc</a:t>
            </a:r>
            <a:r>
              <a:rPr kumimoji="0" lang="zh-CN" altLang="en-US" sz="1600" b="1">
                <a:latin typeface="Kai" charset="0"/>
                <a:ea typeface="Kai" charset="0"/>
                <a:cs typeface="Kai" charset="0"/>
              </a:rPr>
              <a:t>库</a:t>
            </a:r>
            <a:endParaRPr kumimoji="0" lang="en-US" altLang="zh-CN" sz="1600" b="1">
              <a:latin typeface="Kai" charset="0"/>
              <a:ea typeface="Kai" charset="0"/>
              <a:cs typeface="Kai" charset="0"/>
            </a:endParaRPr>
          </a:p>
          <a:p>
            <a:r>
              <a:rPr kumimoji="0" lang="en-US" altLang="zh-CN" sz="1800" b="1">
                <a:latin typeface="Kai" charset="0"/>
                <a:ea typeface="Kai" charset="0"/>
                <a:cs typeface="Kai" charset="0"/>
              </a:rPr>
              <a:t>WebKit</a:t>
            </a:r>
          </a:p>
          <a:p>
            <a:pPr lvl="1"/>
            <a:r>
              <a:rPr kumimoji="0" lang="zh-CN" altLang="en-US" sz="1600" b="1">
                <a:latin typeface="Kai" charset="0"/>
                <a:ea typeface="Kai" charset="0"/>
                <a:cs typeface="Kai" charset="0"/>
              </a:rPr>
              <a:t>浏览器引擎</a:t>
            </a:r>
            <a:endParaRPr kumimoji="0" lang="en-US" altLang="zh-CN" sz="1600" b="1">
              <a:latin typeface="Kai" charset="0"/>
              <a:ea typeface="Kai" charset="0"/>
              <a:cs typeface="Kai" charset="0"/>
            </a:endParaRPr>
          </a:p>
          <a:p>
            <a:r>
              <a:rPr kumimoji="0" lang="en-US" altLang="zh-CN" sz="1800" b="1">
                <a:latin typeface="Kai" charset="0"/>
                <a:ea typeface="Kai" charset="0"/>
                <a:cs typeface="Kai" charset="0"/>
              </a:rPr>
              <a:t>OpenGL</a:t>
            </a:r>
          </a:p>
          <a:p>
            <a:pPr lvl="1"/>
            <a:r>
              <a:rPr kumimoji="0" lang="zh-CN" altLang="en-US" sz="1600" b="1">
                <a:latin typeface="Kai" charset="0"/>
                <a:ea typeface="Kai" charset="0"/>
                <a:cs typeface="Kai" charset="0"/>
              </a:rPr>
              <a:t>图形库</a:t>
            </a:r>
            <a:endParaRPr kumimoji="0" lang="en-US" altLang="zh-CN" sz="1600" b="1">
              <a:latin typeface="Kai" charset="0"/>
              <a:ea typeface="Kai" charset="0"/>
              <a:cs typeface="Kai" charset="0"/>
            </a:endParaRPr>
          </a:p>
          <a:p>
            <a:r>
              <a:rPr kumimoji="0" lang="en-US" altLang="zh-CN" sz="1800" b="1">
                <a:latin typeface="Kai" charset="0"/>
                <a:ea typeface="Kai" charset="0"/>
                <a:cs typeface="Kai" charset="0"/>
              </a:rPr>
              <a:t>Media codecs</a:t>
            </a:r>
          </a:p>
          <a:p>
            <a:pPr lvl="1"/>
            <a:r>
              <a:rPr kumimoji="0" lang="zh-CN" altLang="en-US" sz="1600" b="1">
                <a:latin typeface="Kai" charset="0"/>
                <a:ea typeface="Kai" charset="0"/>
                <a:cs typeface="Kai" charset="0"/>
              </a:rPr>
              <a:t>视频、音频</a:t>
            </a:r>
            <a:r>
              <a:rPr kumimoji="0" lang="zh-CN" altLang="en-US" sz="1600">
                <a:latin typeface="Kai" charset="0"/>
                <a:ea typeface="Kai" charset="0"/>
                <a:cs typeface="Kai" charset="0"/>
              </a:rPr>
              <a:t>解码</a:t>
            </a:r>
            <a:endParaRPr kumimoji="0" lang="en-US" altLang="zh-CN" sz="1600">
              <a:latin typeface="Kai" charset="0"/>
              <a:ea typeface="Kai" charset="0"/>
              <a:cs typeface="Kai" charset="0"/>
            </a:endParaRPr>
          </a:p>
          <a:p>
            <a:r>
              <a:rPr kumimoji="0" lang="en-US" altLang="zh-CN" sz="1800">
                <a:latin typeface="Kai" charset="0"/>
                <a:ea typeface="Kai" charset="0"/>
                <a:cs typeface="Kai" charset="0"/>
              </a:rPr>
              <a:t>SQLite</a:t>
            </a:r>
          </a:p>
          <a:p>
            <a:pPr lvl="1"/>
            <a:r>
              <a:rPr kumimoji="0" lang="zh-CN" altLang="en-US" sz="1600">
                <a:latin typeface="Kai" charset="0"/>
                <a:ea typeface="Kai" charset="0"/>
                <a:cs typeface="Kai" charset="0"/>
              </a:rPr>
              <a:t>数据库</a:t>
            </a:r>
            <a:endParaRPr kumimoji="0" lang="en-US" altLang="zh-CN" sz="1600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2771" name="图片 3" descr="Screen Shot 2012-10-23 at 12.53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47" b="21625"/>
          <a:stretch>
            <a:fillRect/>
          </a:stretch>
        </p:blipFill>
        <p:spPr bwMode="auto">
          <a:xfrm>
            <a:off x="2590800" y="2667000"/>
            <a:ext cx="4635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 Runtime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zh-CN" sz="2800" b="1">
                <a:latin typeface="Kai" charset="0"/>
                <a:ea typeface="Kai" charset="0"/>
                <a:cs typeface="Kai" charset="0"/>
              </a:rPr>
              <a:t>Core Libs</a:t>
            </a:r>
          </a:p>
          <a:p>
            <a:pPr lvl="1"/>
            <a:r>
              <a:rPr kumimoji="0" lang="zh-CN" altLang="en-US" sz="2000" b="1">
                <a:latin typeface="Kai" charset="0"/>
                <a:ea typeface="Kai" charset="0"/>
                <a:cs typeface="Kai" charset="0"/>
              </a:rPr>
              <a:t>基本的</a:t>
            </a:r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Java</a:t>
            </a:r>
            <a:r>
              <a:rPr kumimoji="0" lang="zh-CN" altLang="en-US" sz="2000" b="1">
                <a:latin typeface="Kai" charset="0"/>
                <a:ea typeface="Kai" charset="0"/>
                <a:cs typeface="Kai" charset="0"/>
              </a:rPr>
              <a:t>类</a:t>
            </a:r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: java.*, javax.*</a:t>
            </a:r>
          </a:p>
          <a:p>
            <a:pPr lvl="1"/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App</a:t>
            </a:r>
            <a:r>
              <a:rPr kumimoji="0" lang="zh-CN" altLang="en-US" sz="2000" b="1">
                <a:latin typeface="Kai" charset="0"/>
                <a:ea typeface="Kai" charset="0"/>
                <a:cs typeface="Kai" charset="0"/>
              </a:rPr>
              <a:t>的生命周期</a:t>
            </a:r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: android.*</a:t>
            </a:r>
          </a:p>
          <a:p>
            <a:pPr lvl="1"/>
            <a:r>
              <a:rPr kumimoji="0" lang="zh-CN" altLang="en-US" sz="2000" b="1">
                <a:latin typeface="Kai" charset="0"/>
                <a:ea typeface="Kai" charset="0"/>
                <a:cs typeface="Kai" charset="0"/>
              </a:rPr>
              <a:t>网络服务：</a:t>
            </a:r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org.*</a:t>
            </a:r>
          </a:p>
          <a:p>
            <a:pPr lvl="1"/>
            <a:r>
              <a:rPr kumimoji="0" lang="zh-CN" altLang="en-US" sz="2000" b="1">
                <a:latin typeface="Kai" charset="0"/>
                <a:ea typeface="Kai" charset="0"/>
                <a:cs typeface="Kai" charset="0"/>
              </a:rPr>
              <a:t>单元测试</a:t>
            </a:r>
            <a:r>
              <a:rPr kumimoji="0" lang="en-US" altLang="zh-CN" sz="2000" b="1">
                <a:latin typeface="Kai" charset="0"/>
                <a:ea typeface="Kai" charset="0"/>
                <a:cs typeface="Kai" charset="0"/>
              </a:rPr>
              <a:t>:  junit.*</a:t>
            </a:r>
          </a:p>
          <a:p>
            <a:r>
              <a:rPr kumimoji="0" lang="en-US" altLang="zh-CN" sz="2800" b="1">
                <a:latin typeface="Kai" charset="0"/>
                <a:ea typeface="Kai" charset="0"/>
                <a:cs typeface="Kai" charset="0"/>
              </a:rPr>
              <a:t>Dalvik VM</a:t>
            </a:r>
          </a:p>
          <a:p>
            <a:pPr lvl="1"/>
            <a:r>
              <a:rPr lang="zh-CN" altLang="en-US" sz="2000" b="1">
                <a:latin typeface="Kai" charset="0"/>
                <a:ea typeface="Kai" charset="0"/>
                <a:cs typeface="Kai" charset="0"/>
              </a:rPr>
              <a:t>应用程序运行在</a:t>
            </a:r>
            <a:r>
              <a:rPr lang="en-US" altLang="zh-CN" sz="2000" b="1">
                <a:latin typeface="Kai" charset="0"/>
                <a:ea typeface="Kai" charset="0"/>
                <a:cs typeface="Kai" charset="0"/>
              </a:rPr>
              <a:t>Dalvik VM</a:t>
            </a:r>
            <a:r>
              <a:rPr lang="zh-CN" altLang="en-US" sz="2000" b="1">
                <a:latin typeface="Kai" charset="0"/>
                <a:ea typeface="Kai" charset="0"/>
                <a:cs typeface="Kai" charset="0"/>
              </a:rPr>
              <a:t>上</a:t>
            </a:r>
            <a:endParaRPr lang="en-US" altLang="zh-CN" sz="2000" b="1">
              <a:latin typeface="Kai" charset="0"/>
              <a:ea typeface="Kai" charset="0"/>
              <a:cs typeface="Kai" charset="0"/>
            </a:endParaRPr>
          </a:p>
          <a:p>
            <a:pPr lvl="1"/>
            <a:endParaRPr lang="en-US" altLang="zh-CN" sz="2000" b="1">
              <a:latin typeface="Kai" charset="0"/>
              <a:ea typeface="Kai" charset="0"/>
              <a:cs typeface="Kai" charset="0"/>
            </a:endParaRPr>
          </a:p>
          <a:p>
            <a:pPr lvl="1">
              <a:buFont typeface="Wingdings" charset="0"/>
              <a:buNone/>
            </a:pPr>
            <a:r>
              <a:rPr lang="en-US" altLang="zh-CN" sz="2000" b="1">
                <a:latin typeface="Kai" charset="0"/>
                <a:ea typeface="Kai" charset="0"/>
                <a:cs typeface="Kai" charset="0"/>
              </a:rPr>
              <a:t>App: Java </a:t>
            </a:r>
            <a:r>
              <a:rPr lang="en-US" altLang="zh-CN" sz="2000" b="1">
                <a:latin typeface="Kai" charset="0"/>
                <a:ea typeface="Kai" charset="0"/>
                <a:cs typeface="Kai" charset="0"/>
                <a:sym typeface="Wingdings" charset="0"/>
              </a:rPr>
              <a:t> Bytecode </a:t>
            </a:r>
          </a:p>
          <a:p>
            <a:pPr lvl="1">
              <a:buFont typeface="Wingdings" charset="0"/>
              <a:buNone/>
            </a:pPr>
            <a:r>
              <a:rPr lang="en-US" altLang="zh-CN" sz="2000" b="1">
                <a:latin typeface="Kai" charset="0"/>
                <a:ea typeface="Kai" charset="0"/>
                <a:cs typeface="Kai" charset="0"/>
                <a:sym typeface="Wingdings" charset="0"/>
              </a:rPr>
              <a:t> Dex Bytecode  Dalvik </a:t>
            </a:r>
            <a:endParaRPr lang="en-US" altLang="zh-CN" sz="2000" b="1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3795" name="图片 3" descr="Screen Shot 2012-10-23 at 12.53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3" t="50427" r="5838" b="23280"/>
          <a:stretch>
            <a:fillRect/>
          </a:stretch>
        </p:blipFill>
        <p:spPr bwMode="auto">
          <a:xfrm>
            <a:off x="4876800" y="2971800"/>
            <a:ext cx="14922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Dalvik 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4818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专为内存受限环境设计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</a:rPr>
              <a:t>CPU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慢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内存少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电池容量有限</a:t>
            </a:r>
          </a:p>
        </p:txBody>
      </p:sp>
      <p:pic>
        <p:nvPicPr>
          <p:cNvPr id="34819" name="内容占位符 3" descr="Screen Shot 2012-10-23 at 12.54.27 PM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1" r="19041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Application Framework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Package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记录设备安装的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App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Window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管理每个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App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的窗口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View system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提供通用的用户界面元素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Resource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管理字符串、布局等非编译资源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5843" name="图片 3" descr="Screen Shot 2012-10-23 at 12.56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7" b="52493"/>
          <a:stretch>
            <a:fillRect/>
          </a:stretch>
        </p:blipFill>
        <p:spPr bwMode="auto">
          <a:xfrm>
            <a:off x="4495800" y="2971800"/>
            <a:ext cx="449103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Application Framework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Activity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管理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App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的生命周期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Content Provider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程序间数据共享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Location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提供位置、运动信息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Notification Manager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重要事件发生时将消息放到通知栏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6867" name="图片 3" descr="Screen Shot 2012-10-23 at 12.56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7" b="52493"/>
          <a:stretch>
            <a:fillRect/>
          </a:stretch>
        </p:blipFill>
        <p:spPr bwMode="auto">
          <a:xfrm>
            <a:off x="4495800" y="2971800"/>
            <a:ext cx="449103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应用程序</a:t>
            </a:r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可替换</a:t>
            </a:r>
          </a:p>
        </p:txBody>
      </p:sp>
      <p:pic>
        <p:nvPicPr>
          <p:cNvPr id="37891" name="图片 2" descr="Screen Shot 2012-10-23 at 12.47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997"/>
          <a:stretch>
            <a:fillRect/>
          </a:stretch>
        </p:blipFill>
        <p:spPr bwMode="auto">
          <a:xfrm>
            <a:off x="1447800" y="3429000"/>
            <a:ext cx="62865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开发环境</a:t>
            </a:r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JDK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Android Developer Tools (ADT) Bundle 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Android Studio</a:t>
            </a: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JDK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安装</a:t>
            </a:r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  <a:hlinkClick r:id="rId2"/>
              </a:rPr>
              <a:t>http://www.oracle.com/technetwork/java/javase/downloads/index.html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选择</a:t>
            </a:r>
            <a:r>
              <a:rPr kumimoji="0" lang="en-US" altLang="zh-CN" b="1">
                <a:latin typeface="Kai" charset="0"/>
                <a:ea typeface="Kai" charset="0"/>
                <a:cs typeface="Kai" charset="0"/>
              </a:rPr>
              <a:t>Java Platform (JDK) 6</a:t>
            </a:r>
          </a:p>
          <a:p>
            <a:r>
              <a:rPr kumimoji="0" lang="zh-CN" altLang="en-US" b="1">
                <a:latin typeface="Kai" charset="0"/>
                <a:ea typeface="Kai" charset="0"/>
                <a:cs typeface="Kai" charset="0"/>
              </a:rPr>
              <a:t>选择你的操作系统平台，下载安装</a:t>
            </a:r>
            <a:endParaRPr kumimoji="0" lang="en-US" altLang="zh-CN" b="1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安装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Android Developer Tools (ADT) Bundle 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zh-CN" u="sng" dirty="0">
                <a:latin typeface="Kai" charset="0"/>
                <a:ea typeface="Kai" charset="0"/>
                <a:cs typeface="Kai" charset="0"/>
                <a:hlinkClick r:id="rId2"/>
              </a:rPr>
              <a:t>http://developer.android.com/sdk/index.html</a:t>
            </a:r>
            <a:r>
              <a:rPr kumimoji="0" lang="en-US" altLang="zh-CN" dirty="0">
                <a:latin typeface="Kai" charset="0"/>
                <a:ea typeface="Kai" charset="0"/>
                <a:cs typeface="Kai" charset="0"/>
              </a:rPr>
              <a:t> </a:t>
            </a:r>
            <a:endParaRPr kumimoji="0"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>
              <a:defRPr/>
            </a:pPr>
            <a:r>
              <a:rPr kumimoji="0" lang="en-US" altLang="zh-CN" dirty="0" smtClean="0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0" lang="zh-CN" altLang="en-US" dirty="0" smtClean="0">
                <a:latin typeface="Kai" charset="0"/>
                <a:ea typeface="Kai" charset="0"/>
                <a:cs typeface="Kai" charset="0"/>
              </a:rPr>
              <a:t>平台</a:t>
            </a:r>
            <a:r>
              <a:rPr kumimoji="0" lang="en-US" altLang="zh-CN" dirty="0" smtClean="0">
                <a:latin typeface="Kai" charset="0"/>
                <a:ea typeface="Kai" charset="0"/>
                <a:cs typeface="Kai" charset="0"/>
              </a:rPr>
              <a:t> + Eclipse + ADT</a:t>
            </a:r>
            <a:r>
              <a:rPr kumimoji="0" lang="zh-CN" altLang="en-US" dirty="0" smtClean="0">
                <a:latin typeface="Kai" charset="0"/>
                <a:ea typeface="Kai" charset="0"/>
                <a:cs typeface="Kai" charset="0"/>
              </a:rPr>
              <a:t>插件</a:t>
            </a:r>
            <a:r>
              <a:rPr kumimoji="0" lang="en-US" altLang="zh-CN" dirty="0" smtClean="0">
                <a:latin typeface="Kai" charset="0"/>
                <a:ea typeface="Kai" charset="0"/>
                <a:cs typeface="Kai" charset="0"/>
              </a:rPr>
              <a:t> + </a:t>
            </a:r>
            <a:r>
              <a:rPr kumimoji="0" lang="zh-CN" altLang="en-US" dirty="0" smtClean="0">
                <a:latin typeface="Kai" charset="0"/>
                <a:ea typeface="Kai" charset="0"/>
                <a:cs typeface="Kai" charset="0"/>
              </a:rPr>
              <a:t>模拟器</a:t>
            </a:r>
            <a:r>
              <a:rPr kumimoji="0" lang="en-US" altLang="zh-CN" dirty="0" smtClean="0">
                <a:latin typeface="Kai" charset="0"/>
                <a:ea typeface="Kai" charset="0"/>
                <a:cs typeface="Kai" charset="0"/>
              </a:rPr>
              <a:t> + </a:t>
            </a:r>
            <a:r>
              <a:rPr kumimoji="0" lang="zh-CN" altLang="en-US" dirty="0" smtClean="0">
                <a:latin typeface="Kai" charset="0"/>
                <a:ea typeface="Kai" charset="0"/>
                <a:cs typeface="Kai" charset="0"/>
              </a:rPr>
              <a:t>额外的开发工具</a:t>
            </a:r>
            <a:endParaRPr kumimoji="0" lang="en-US" altLang="zh-CN" dirty="0">
              <a:latin typeface="Kai" charset="0"/>
              <a:ea typeface="Kai" charset="0"/>
              <a:cs typeface="Kai" charset="0"/>
            </a:endParaRPr>
          </a:p>
          <a:p>
            <a:pPr marL="0" indent="0">
              <a:buFont typeface="Wingdings" charset="0"/>
              <a:buNone/>
              <a:defRPr/>
            </a:pP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Hello World!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41986" name="内容占位符 3" descr="Screen Shot 2012-10-23 at 1.10.02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42" r="-15942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新建工程</a:t>
            </a:r>
          </a:p>
        </p:txBody>
      </p:sp>
      <p:pic>
        <p:nvPicPr>
          <p:cNvPr id="43010" name="内容占位符 5" descr="Screen Shot 2012-10-23 at 1.12.47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9" r="-699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新建工程</a:t>
            </a:r>
          </a:p>
        </p:txBody>
      </p:sp>
      <p:pic>
        <p:nvPicPr>
          <p:cNvPr id="44034" name="内容占位符 3" descr="Screen Shot 2012-10-23 at 1.13.30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326" r="-38326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工程设置</a:t>
            </a:r>
          </a:p>
        </p:txBody>
      </p:sp>
      <p:pic>
        <p:nvPicPr>
          <p:cNvPr id="45058" name="内容占位符 3" descr="Screen Shot 2012-10-23 at 1.16.16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45" r="-36545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设置图标</a:t>
            </a:r>
          </a:p>
        </p:txBody>
      </p:sp>
      <p:pic>
        <p:nvPicPr>
          <p:cNvPr id="46082" name="内容占位符 3" descr="Screen Shot 2012-10-23 at 1.17.07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23" r="-36523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创建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Activity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47106" name="内容占位符 3" descr="Screen Shot 2012-10-23 at 1.18.08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385" r="-36385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创建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Activity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48130" name="内容占位符 3" descr="Screen Shot 2012-10-23 at 1.20.02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974" r="-36974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运行</a:t>
            </a:r>
          </a:p>
        </p:txBody>
      </p:sp>
      <p:sp>
        <p:nvSpPr>
          <p:cNvPr id="491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Run -&gt; Run as -&gt; Android Application</a:t>
            </a:r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49155" name="图片 3" descr="Screen Shot 2012-10-23 at 1.25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86000"/>
            <a:ext cx="47879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代码结构</a:t>
            </a:r>
          </a:p>
        </p:txBody>
      </p:sp>
      <p:pic>
        <p:nvPicPr>
          <p:cNvPr id="50178" name="内容占位符 3" descr="Screen Shot 2012-10-23 at 1.26.55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890" r="-25890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代码结构</a:t>
            </a:r>
          </a:p>
        </p:txBody>
      </p:sp>
      <p:sp>
        <p:nvSpPr>
          <p:cNvPr id="5120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src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保存项目中所有的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Java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源文件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lib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保存第三方的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Java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库文件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assets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项目中所用到的静态资源文件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res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项目中的动态资源文件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</a:rPr>
              <a:t>drawable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图像资源文件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</a:rPr>
              <a:t>layout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用户界面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XML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布局文件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>
                <a:latin typeface="Kai" charset="0"/>
                <a:ea typeface="Kai" charset="0"/>
                <a:cs typeface="Kai" charset="0"/>
              </a:rPr>
              <a:t>values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项目中用到的各种常量和字符串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AndroidManifest.xml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应用程序的清单文件。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代码结构</a:t>
            </a:r>
          </a:p>
        </p:txBody>
      </p:sp>
      <p:sp>
        <p:nvSpPr>
          <p:cNvPr id="5222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gen –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编译器自动产生的文件。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代码管理</a:t>
            </a:r>
          </a:p>
        </p:txBody>
      </p:sp>
      <p:sp>
        <p:nvSpPr>
          <p:cNvPr id="5325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你如何管理代码、文档？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版本管理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 smtClean="0"/>
              <a:t>Git</a:t>
            </a: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>
                <a:hlinkClick r:id="rId2"/>
              </a:rPr>
              <a:t>http://rogerdudler.github.io/git-guide/</a:t>
            </a:r>
            <a:r>
              <a:rPr lang="en-US" altLang="zh-CN" dirty="0" smtClean="0">
                <a:hlinkClick r:id="rId2"/>
              </a:rPr>
              <a:t>index.zh.html</a:t>
            </a:r>
            <a:endParaRPr lang="en-US" altLang="zh-CN" dirty="0" smtClean="0"/>
          </a:p>
          <a:p>
            <a:pPr marL="0" indent="0">
              <a:buFont typeface="Wingdings" charset="0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dirty="0"/>
              <a:t>http://</a:t>
            </a:r>
            <a:r>
              <a:rPr lang="en-US" altLang="zh-CN" dirty="0" err="1"/>
              <a:t>msysgit.github.io</a:t>
            </a:r>
            <a:endParaRPr lang="en-US" altLang="zh-CN" dirty="0"/>
          </a:p>
          <a:p>
            <a:pPr marL="0" indent="0">
              <a:buFont typeface="Wingdings" charset="0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社会化编程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 – Be social!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6451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GitHub</a:t>
            </a: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  <a:hlinkClick r:id="rId2"/>
              </a:rPr>
              <a:t>https://github.com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  <a:hlinkClick r:id="rId3"/>
              </a:rPr>
              <a:t>http://windows.github.com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  <a:hlinkClick r:id="rId4"/>
              </a:rPr>
              <a:t>http://www.worldhello.net/gotgithub/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课后作业</a:t>
            </a:r>
          </a:p>
        </p:txBody>
      </p:sp>
      <p:sp>
        <p:nvSpPr>
          <p:cNvPr id="6553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搭建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开发环境。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自学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git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，安装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git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软件并用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git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管理自己的代码。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申请一个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github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帐号，并将自己的代码上传。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274E574FFE46B545FA9A130D2BF6" ma:contentTypeVersion="0" ma:contentTypeDescription="Create a new document." ma:contentTypeScope="" ma:versionID="ff26ddb43514696c01a15c59eca17d8e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7B84024A-F781-40E7-AB15-2E9BD1FBDD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552A50D1-B831-4CE2-95E6-B0A8591A0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93F1DA-CE66-4523-8C11-EFF174F937B2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6717</TotalTime>
  <Words>663</Words>
  <Application>Microsoft Macintosh PowerPoint</Application>
  <PresentationFormat>全屏显示(4:3)</PresentationFormat>
  <Paragraphs>177</Paragraphs>
  <Slides>46</Slides>
  <Notes>1</Notes>
  <HiddenSlides>0</HiddenSlides>
  <MMClips>0</MMClips>
  <ScaleCrop>false</ScaleCrop>
  <HeadingPairs>
    <vt:vector size="6" baseType="variant">
      <vt:variant>
        <vt:lpstr>使用的字体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3" baseType="lpstr">
      <vt:lpstr>Arial</vt:lpstr>
      <vt:lpstr>宋体</vt:lpstr>
      <vt:lpstr>Kai</vt:lpstr>
      <vt:lpstr>Wingdings</vt:lpstr>
      <vt:lpstr>Calibri</vt:lpstr>
      <vt:lpstr>Times New Roman</vt:lpstr>
      <vt:lpstr>Network</vt:lpstr>
      <vt:lpstr> Android 平台简介</vt:lpstr>
      <vt:lpstr>PowerPoint 演示文稿</vt:lpstr>
      <vt:lpstr>课程主页</vt:lpstr>
      <vt:lpstr>考核方式</vt:lpstr>
      <vt:lpstr>如何选题？</vt:lpstr>
      <vt:lpstr>参考书</vt:lpstr>
      <vt:lpstr>参考书</vt:lpstr>
      <vt:lpstr>参考书</vt:lpstr>
      <vt:lpstr>资料</vt:lpstr>
      <vt:lpstr>课程结构</vt:lpstr>
      <vt:lpstr>为什么要学手机开发？</vt:lpstr>
      <vt:lpstr>手机？电脑？</vt:lpstr>
      <vt:lpstr>为什么要学Android开发？</vt:lpstr>
      <vt:lpstr>Open Handset Alliance   – 开放手机联盟</vt:lpstr>
      <vt:lpstr>Android的历史及可能的未来</vt:lpstr>
      <vt:lpstr>Android的未来</vt:lpstr>
      <vt:lpstr>Android的版本</vt:lpstr>
      <vt:lpstr>版本分布</vt:lpstr>
      <vt:lpstr>Android栈</vt:lpstr>
      <vt:lpstr>PowerPoint 演示文稿</vt:lpstr>
      <vt:lpstr>Linux Kernel</vt:lpstr>
      <vt:lpstr>Linux Kernel – Android 相关</vt:lpstr>
      <vt:lpstr>Native库</vt:lpstr>
      <vt:lpstr>Android Runtime</vt:lpstr>
      <vt:lpstr>Dalvik </vt:lpstr>
      <vt:lpstr>Application Framework</vt:lpstr>
      <vt:lpstr>Application Framework</vt:lpstr>
      <vt:lpstr>应用程序</vt:lpstr>
      <vt:lpstr>Android开发环境</vt:lpstr>
      <vt:lpstr>JDK安装</vt:lpstr>
      <vt:lpstr>安装Android Developer Tools (ADT) Bundle </vt:lpstr>
      <vt:lpstr>Hello World!</vt:lpstr>
      <vt:lpstr>新建工程</vt:lpstr>
      <vt:lpstr>新建工程</vt:lpstr>
      <vt:lpstr>工程设置</vt:lpstr>
      <vt:lpstr>设置图标</vt:lpstr>
      <vt:lpstr>创建Activity</vt:lpstr>
      <vt:lpstr>创建Activity</vt:lpstr>
      <vt:lpstr>运行</vt:lpstr>
      <vt:lpstr>代码结构</vt:lpstr>
      <vt:lpstr>代码结构</vt:lpstr>
      <vt:lpstr>代码结构</vt:lpstr>
      <vt:lpstr>代码管理</vt:lpstr>
      <vt:lpstr>版本管理</vt:lpstr>
      <vt:lpstr>社会化编程 – Be social!</vt:lpstr>
      <vt:lpstr>课后作业</vt:lpstr>
    </vt:vector>
  </TitlesOfParts>
  <Company>Iowa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Android Overview</dc:title>
  <dc:creator>Josh Dehlinger</dc:creator>
  <cp:lastModifiedBy>韩 建伟</cp:lastModifiedBy>
  <cp:revision>417</cp:revision>
  <dcterms:created xsi:type="dcterms:W3CDTF">2008-08-30T17:25:19Z</dcterms:created>
  <dcterms:modified xsi:type="dcterms:W3CDTF">2014-03-05T11:20:29Z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</Properties>
</file>