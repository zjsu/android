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sldIdLst>
    <p:sldId id="256" r:id="rId2"/>
    <p:sldId id="302" r:id="rId3"/>
    <p:sldId id="275" r:id="rId4"/>
    <p:sldId id="303" r:id="rId5"/>
    <p:sldId id="310" r:id="rId6"/>
    <p:sldId id="304" r:id="rId7"/>
    <p:sldId id="305" r:id="rId8"/>
    <p:sldId id="307" r:id="rId9"/>
    <p:sldId id="306" r:id="rId10"/>
    <p:sldId id="308" r:id="rId11"/>
    <p:sldId id="309" r:id="rId12"/>
    <p:sldId id="311" r:id="rId13"/>
    <p:sldId id="276" r:id="rId14"/>
    <p:sldId id="277" r:id="rId15"/>
    <p:sldId id="312" r:id="rId16"/>
    <p:sldId id="282" r:id="rId17"/>
    <p:sldId id="279" r:id="rId18"/>
    <p:sldId id="283" r:id="rId19"/>
    <p:sldId id="280" r:id="rId20"/>
    <p:sldId id="281" r:id="rId21"/>
    <p:sldId id="286" r:id="rId22"/>
    <p:sldId id="287" r:id="rId23"/>
    <p:sldId id="288" r:id="rId24"/>
    <p:sldId id="313" r:id="rId25"/>
    <p:sldId id="314" r:id="rId2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-102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printerSettings" Target="printerSettings/printerSettings1.bin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243B0F-C390-C048-BB74-B4D59D1D14DA}" type="doc">
      <dgm:prSet loTypeId="urn:microsoft.com/office/officeart/2005/8/layout/process1" loCatId="" qsTypeId="urn:microsoft.com/office/officeart/2005/8/quickstyle/simple4" qsCatId="simple" csTypeId="urn:microsoft.com/office/officeart/2005/8/colors/accent2_2" csCatId="accent2" phldr="1"/>
      <dgm:spPr/>
    </dgm:pt>
    <dgm:pt modelId="{5A164C65-5FEB-A84F-B0FE-58D985FF1468}">
      <dgm:prSet phldrT="[文本]"/>
      <dgm:spPr/>
      <dgm:t>
        <a:bodyPr/>
        <a:lstStyle/>
        <a:p>
          <a:r>
            <a:rPr lang="en-US" altLang="zh-CN" dirty="0" smtClean="0"/>
            <a:t>XML</a:t>
          </a:r>
          <a:endParaRPr lang="zh-CN" altLang="en-US" dirty="0"/>
        </a:p>
      </dgm:t>
    </dgm:pt>
    <dgm:pt modelId="{C795EE13-045A-144B-A3C8-A4F3F061FD97}" type="parTrans" cxnId="{B9442374-237F-4F4B-8F85-CB1052DA5745}">
      <dgm:prSet/>
      <dgm:spPr/>
      <dgm:t>
        <a:bodyPr/>
        <a:lstStyle/>
        <a:p>
          <a:endParaRPr lang="zh-CN" altLang="en-US"/>
        </a:p>
      </dgm:t>
    </dgm:pt>
    <dgm:pt modelId="{1DD378A8-A193-4C49-B445-57391DB886D6}" type="sibTrans" cxnId="{B9442374-237F-4F4B-8F85-CB1052DA5745}">
      <dgm:prSet/>
      <dgm:spPr/>
      <dgm:t>
        <a:bodyPr/>
        <a:lstStyle/>
        <a:p>
          <a:endParaRPr lang="zh-CN" altLang="en-US"/>
        </a:p>
      </dgm:t>
    </dgm:pt>
    <dgm:pt modelId="{249BA9BB-0DB6-3249-8A15-3F05C5E3B803}">
      <dgm:prSet phldrT="[文本]"/>
      <dgm:spPr/>
      <dgm:t>
        <a:bodyPr/>
        <a:lstStyle/>
        <a:p>
          <a:r>
            <a:rPr lang="en-US" altLang="en-US" dirty="0" err="1" smtClean="0"/>
            <a:t>LayoutInflater</a:t>
          </a:r>
          <a:endParaRPr lang="zh-CN" altLang="en-US" dirty="0"/>
        </a:p>
      </dgm:t>
    </dgm:pt>
    <dgm:pt modelId="{EC0E8E63-7267-8449-8F2E-CA636E00181C}" type="parTrans" cxnId="{FC5A6EC4-6E0C-2447-9806-86EBCA481C0A}">
      <dgm:prSet/>
      <dgm:spPr/>
      <dgm:t>
        <a:bodyPr/>
        <a:lstStyle/>
        <a:p>
          <a:endParaRPr lang="zh-CN" altLang="en-US"/>
        </a:p>
      </dgm:t>
    </dgm:pt>
    <dgm:pt modelId="{1181C4E3-5538-1F46-A421-204F0ADB1D84}" type="sibTrans" cxnId="{FC5A6EC4-6E0C-2447-9806-86EBCA481C0A}">
      <dgm:prSet/>
      <dgm:spPr/>
      <dgm:t>
        <a:bodyPr/>
        <a:lstStyle/>
        <a:p>
          <a:endParaRPr lang="zh-CN" altLang="en-US"/>
        </a:p>
      </dgm:t>
    </dgm:pt>
    <dgm:pt modelId="{9BEC8C72-48B1-7043-980D-5AD3AA2690BB}">
      <dgm:prSet phldrT="[文本]"/>
      <dgm:spPr/>
      <dgm:t>
        <a:bodyPr/>
        <a:lstStyle/>
        <a:p>
          <a:r>
            <a:rPr lang="en-US" altLang="zh-CN" dirty="0" smtClean="0"/>
            <a:t>View</a:t>
          </a:r>
          <a:endParaRPr lang="zh-CN" altLang="en-US" dirty="0"/>
        </a:p>
      </dgm:t>
    </dgm:pt>
    <dgm:pt modelId="{718E5BFE-40D5-E747-BE97-07226B828C72}" type="parTrans" cxnId="{3BBDE3CC-A65B-F248-9589-6F23A5CE34A7}">
      <dgm:prSet/>
      <dgm:spPr/>
      <dgm:t>
        <a:bodyPr/>
        <a:lstStyle/>
        <a:p>
          <a:endParaRPr lang="zh-CN" altLang="en-US"/>
        </a:p>
      </dgm:t>
    </dgm:pt>
    <dgm:pt modelId="{BB3556D3-272D-834B-B676-C15DA611EA10}" type="sibTrans" cxnId="{3BBDE3CC-A65B-F248-9589-6F23A5CE34A7}">
      <dgm:prSet/>
      <dgm:spPr/>
      <dgm:t>
        <a:bodyPr/>
        <a:lstStyle/>
        <a:p>
          <a:endParaRPr lang="zh-CN" altLang="en-US"/>
        </a:p>
      </dgm:t>
    </dgm:pt>
    <dgm:pt modelId="{9F40F68D-6A1A-D647-8C41-B2B3343068A5}" type="pres">
      <dgm:prSet presAssocID="{63243B0F-C390-C048-BB74-B4D59D1D14DA}" presName="Name0" presStyleCnt="0">
        <dgm:presLayoutVars>
          <dgm:dir/>
          <dgm:resizeHandles val="exact"/>
        </dgm:presLayoutVars>
      </dgm:prSet>
      <dgm:spPr/>
    </dgm:pt>
    <dgm:pt modelId="{4CB60E1A-408A-7C46-83E0-905840EEDF51}" type="pres">
      <dgm:prSet presAssocID="{5A164C65-5FEB-A84F-B0FE-58D985FF1468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ABE34BF-BCFB-1A45-BC57-B83423E4392D}" type="pres">
      <dgm:prSet presAssocID="{1DD378A8-A193-4C49-B445-57391DB886D6}" presName="sibTrans" presStyleLbl="sibTrans2D1" presStyleIdx="0" presStyleCnt="2"/>
      <dgm:spPr/>
      <dgm:t>
        <a:bodyPr/>
        <a:lstStyle/>
        <a:p>
          <a:endParaRPr lang="zh-CN" altLang="en-US"/>
        </a:p>
      </dgm:t>
    </dgm:pt>
    <dgm:pt modelId="{78057675-489B-294A-8314-E4F1DD048711}" type="pres">
      <dgm:prSet presAssocID="{1DD378A8-A193-4C49-B445-57391DB886D6}" presName="connectorText" presStyleLbl="sibTrans2D1" presStyleIdx="0" presStyleCnt="2"/>
      <dgm:spPr/>
      <dgm:t>
        <a:bodyPr/>
        <a:lstStyle/>
        <a:p>
          <a:endParaRPr lang="zh-CN" altLang="en-US"/>
        </a:p>
      </dgm:t>
    </dgm:pt>
    <dgm:pt modelId="{F3797777-91ED-0E4A-AD2F-0159320A5C5E}" type="pres">
      <dgm:prSet presAssocID="{249BA9BB-0DB6-3249-8A15-3F05C5E3B803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0B9D9B4-97FF-ED47-B4A3-C82968B1C1C5}" type="pres">
      <dgm:prSet presAssocID="{1181C4E3-5538-1F46-A421-204F0ADB1D84}" presName="sibTrans" presStyleLbl="sibTrans2D1" presStyleIdx="1" presStyleCnt="2"/>
      <dgm:spPr/>
      <dgm:t>
        <a:bodyPr/>
        <a:lstStyle/>
        <a:p>
          <a:endParaRPr lang="zh-CN" altLang="en-US"/>
        </a:p>
      </dgm:t>
    </dgm:pt>
    <dgm:pt modelId="{E5CA14E5-392E-3D4F-91F9-01C3FD5409CD}" type="pres">
      <dgm:prSet presAssocID="{1181C4E3-5538-1F46-A421-204F0ADB1D84}" presName="connectorText" presStyleLbl="sibTrans2D1" presStyleIdx="1" presStyleCnt="2"/>
      <dgm:spPr/>
      <dgm:t>
        <a:bodyPr/>
        <a:lstStyle/>
        <a:p>
          <a:endParaRPr lang="zh-CN" altLang="en-US"/>
        </a:p>
      </dgm:t>
    </dgm:pt>
    <dgm:pt modelId="{4803DCBF-DACB-9647-845B-BD4287963B70}" type="pres">
      <dgm:prSet presAssocID="{9BEC8C72-48B1-7043-980D-5AD3AA2690BB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F367F6B-7D14-7745-BA8C-8107C1726888}" type="presOf" srcId="{1DD378A8-A193-4C49-B445-57391DB886D6}" destId="{0ABE34BF-BCFB-1A45-BC57-B83423E4392D}" srcOrd="0" destOrd="0" presId="urn:microsoft.com/office/officeart/2005/8/layout/process1"/>
    <dgm:cxn modelId="{983C6E0F-1BC6-804B-83FB-876FEF9F7FC0}" type="presOf" srcId="{249BA9BB-0DB6-3249-8A15-3F05C5E3B803}" destId="{F3797777-91ED-0E4A-AD2F-0159320A5C5E}" srcOrd="0" destOrd="0" presId="urn:microsoft.com/office/officeart/2005/8/layout/process1"/>
    <dgm:cxn modelId="{B9442374-237F-4F4B-8F85-CB1052DA5745}" srcId="{63243B0F-C390-C048-BB74-B4D59D1D14DA}" destId="{5A164C65-5FEB-A84F-B0FE-58D985FF1468}" srcOrd="0" destOrd="0" parTransId="{C795EE13-045A-144B-A3C8-A4F3F061FD97}" sibTransId="{1DD378A8-A193-4C49-B445-57391DB886D6}"/>
    <dgm:cxn modelId="{FC5A6EC4-6E0C-2447-9806-86EBCA481C0A}" srcId="{63243B0F-C390-C048-BB74-B4D59D1D14DA}" destId="{249BA9BB-0DB6-3249-8A15-3F05C5E3B803}" srcOrd="1" destOrd="0" parTransId="{EC0E8E63-7267-8449-8F2E-CA636E00181C}" sibTransId="{1181C4E3-5538-1F46-A421-204F0ADB1D84}"/>
    <dgm:cxn modelId="{4FA2C167-E56D-244E-A84A-FDAB00B7E163}" type="presOf" srcId="{1181C4E3-5538-1F46-A421-204F0ADB1D84}" destId="{E5CA14E5-392E-3D4F-91F9-01C3FD5409CD}" srcOrd="1" destOrd="0" presId="urn:microsoft.com/office/officeart/2005/8/layout/process1"/>
    <dgm:cxn modelId="{4D8550BC-4A9A-3141-8318-9340B378703A}" type="presOf" srcId="{5A164C65-5FEB-A84F-B0FE-58D985FF1468}" destId="{4CB60E1A-408A-7C46-83E0-905840EEDF51}" srcOrd="0" destOrd="0" presId="urn:microsoft.com/office/officeart/2005/8/layout/process1"/>
    <dgm:cxn modelId="{339E2C87-7F59-3F4B-8920-241A6CD1B4A9}" type="presOf" srcId="{63243B0F-C390-C048-BB74-B4D59D1D14DA}" destId="{9F40F68D-6A1A-D647-8C41-B2B3343068A5}" srcOrd="0" destOrd="0" presId="urn:microsoft.com/office/officeart/2005/8/layout/process1"/>
    <dgm:cxn modelId="{B5E746A3-973E-974F-8886-A6422E5D8987}" type="presOf" srcId="{1DD378A8-A193-4C49-B445-57391DB886D6}" destId="{78057675-489B-294A-8314-E4F1DD048711}" srcOrd="1" destOrd="0" presId="urn:microsoft.com/office/officeart/2005/8/layout/process1"/>
    <dgm:cxn modelId="{3BBDE3CC-A65B-F248-9589-6F23A5CE34A7}" srcId="{63243B0F-C390-C048-BB74-B4D59D1D14DA}" destId="{9BEC8C72-48B1-7043-980D-5AD3AA2690BB}" srcOrd="2" destOrd="0" parTransId="{718E5BFE-40D5-E747-BE97-07226B828C72}" sibTransId="{BB3556D3-272D-834B-B676-C15DA611EA10}"/>
    <dgm:cxn modelId="{57554AE9-9A14-4845-B427-A5828E00679D}" type="presOf" srcId="{1181C4E3-5538-1F46-A421-204F0ADB1D84}" destId="{80B9D9B4-97FF-ED47-B4A3-C82968B1C1C5}" srcOrd="0" destOrd="0" presId="urn:microsoft.com/office/officeart/2005/8/layout/process1"/>
    <dgm:cxn modelId="{F1C7DC55-73F3-9340-A035-29821073F8A2}" type="presOf" srcId="{9BEC8C72-48B1-7043-980D-5AD3AA2690BB}" destId="{4803DCBF-DACB-9647-845B-BD4287963B70}" srcOrd="0" destOrd="0" presId="urn:microsoft.com/office/officeart/2005/8/layout/process1"/>
    <dgm:cxn modelId="{88B7270C-808D-F945-B3EC-18E8CD78A526}" type="presParOf" srcId="{9F40F68D-6A1A-D647-8C41-B2B3343068A5}" destId="{4CB60E1A-408A-7C46-83E0-905840EEDF51}" srcOrd="0" destOrd="0" presId="urn:microsoft.com/office/officeart/2005/8/layout/process1"/>
    <dgm:cxn modelId="{A45BE7BC-D5E6-3541-8006-46C75E8D6727}" type="presParOf" srcId="{9F40F68D-6A1A-D647-8C41-B2B3343068A5}" destId="{0ABE34BF-BCFB-1A45-BC57-B83423E4392D}" srcOrd="1" destOrd="0" presId="urn:microsoft.com/office/officeart/2005/8/layout/process1"/>
    <dgm:cxn modelId="{290BCA6F-2707-5447-BE23-76DEAF2A67F0}" type="presParOf" srcId="{0ABE34BF-BCFB-1A45-BC57-B83423E4392D}" destId="{78057675-489B-294A-8314-E4F1DD048711}" srcOrd="0" destOrd="0" presId="urn:microsoft.com/office/officeart/2005/8/layout/process1"/>
    <dgm:cxn modelId="{06C42F37-6544-0740-B0A5-B05DB5FC5B29}" type="presParOf" srcId="{9F40F68D-6A1A-D647-8C41-B2B3343068A5}" destId="{F3797777-91ED-0E4A-AD2F-0159320A5C5E}" srcOrd="2" destOrd="0" presId="urn:microsoft.com/office/officeart/2005/8/layout/process1"/>
    <dgm:cxn modelId="{9F91109D-3866-3B4F-B153-37BBACDF1989}" type="presParOf" srcId="{9F40F68D-6A1A-D647-8C41-B2B3343068A5}" destId="{80B9D9B4-97FF-ED47-B4A3-C82968B1C1C5}" srcOrd="3" destOrd="0" presId="urn:microsoft.com/office/officeart/2005/8/layout/process1"/>
    <dgm:cxn modelId="{4839EA9D-D67D-C445-9476-F620D7C98BA8}" type="presParOf" srcId="{80B9D9B4-97FF-ED47-B4A3-C82968B1C1C5}" destId="{E5CA14E5-392E-3D4F-91F9-01C3FD5409CD}" srcOrd="0" destOrd="0" presId="urn:microsoft.com/office/officeart/2005/8/layout/process1"/>
    <dgm:cxn modelId="{2DDABAB9-4E7D-2B47-BDC4-D8423510D600}" type="presParOf" srcId="{9F40F68D-6A1A-D647-8C41-B2B3343068A5}" destId="{4803DCBF-DACB-9647-845B-BD4287963B7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B60E1A-408A-7C46-83E0-905840EEDF51}">
      <dsp:nvSpPr>
        <dsp:cNvPr id="0" name=""/>
        <dsp:cNvSpPr/>
      </dsp:nvSpPr>
      <dsp:spPr>
        <a:xfrm>
          <a:off x="7233" y="1557267"/>
          <a:ext cx="2161877" cy="1297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 smtClean="0"/>
            <a:t>XML</a:t>
          </a:r>
          <a:endParaRPr lang="zh-CN" altLang="en-US" sz="2400" kern="1200" dirty="0"/>
        </a:p>
      </dsp:txBody>
      <dsp:txXfrm>
        <a:off x="45225" y="1595259"/>
        <a:ext cx="2085893" cy="1221142"/>
      </dsp:txXfrm>
    </dsp:sp>
    <dsp:sp modelId="{0ABE34BF-BCFB-1A45-BC57-B83423E4392D}">
      <dsp:nvSpPr>
        <dsp:cNvPr id="0" name=""/>
        <dsp:cNvSpPr/>
      </dsp:nvSpPr>
      <dsp:spPr>
        <a:xfrm>
          <a:off x="2385298" y="1937758"/>
          <a:ext cx="458317" cy="5361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900" kern="1200"/>
        </a:p>
      </dsp:txBody>
      <dsp:txXfrm>
        <a:off x="2385298" y="2044987"/>
        <a:ext cx="320822" cy="321687"/>
      </dsp:txXfrm>
    </dsp:sp>
    <dsp:sp modelId="{F3797777-91ED-0E4A-AD2F-0159320A5C5E}">
      <dsp:nvSpPr>
        <dsp:cNvPr id="0" name=""/>
        <dsp:cNvSpPr/>
      </dsp:nvSpPr>
      <dsp:spPr>
        <a:xfrm>
          <a:off x="3033861" y="1557267"/>
          <a:ext cx="2161877" cy="1297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kern="1200" dirty="0" err="1" smtClean="0"/>
            <a:t>LayoutInflater</a:t>
          </a:r>
          <a:endParaRPr lang="zh-CN" altLang="en-US" sz="2400" kern="1200" dirty="0"/>
        </a:p>
      </dsp:txBody>
      <dsp:txXfrm>
        <a:off x="3071853" y="1595259"/>
        <a:ext cx="2085893" cy="1221142"/>
      </dsp:txXfrm>
    </dsp:sp>
    <dsp:sp modelId="{80B9D9B4-97FF-ED47-B4A3-C82968B1C1C5}">
      <dsp:nvSpPr>
        <dsp:cNvPr id="0" name=""/>
        <dsp:cNvSpPr/>
      </dsp:nvSpPr>
      <dsp:spPr>
        <a:xfrm>
          <a:off x="5411926" y="1937758"/>
          <a:ext cx="458317" cy="5361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900" kern="1200"/>
        </a:p>
      </dsp:txBody>
      <dsp:txXfrm>
        <a:off x="5411926" y="2044987"/>
        <a:ext cx="320822" cy="321687"/>
      </dsp:txXfrm>
    </dsp:sp>
    <dsp:sp modelId="{4803DCBF-DACB-9647-845B-BD4287963B70}">
      <dsp:nvSpPr>
        <dsp:cNvPr id="0" name=""/>
        <dsp:cNvSpPr/>
      </dsp:nvSpPr>
      <dsp:spPr>
        <a:xfrm>
          <a:off x="6060489" y="1557267"/>
          <a:ext cx="2161877" cy="1297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 smtClean="0"/>
            <a:t>View</a:t>
          </a:r>
          <a:endParaRPr lang="zh-CN" altLang="en-US" sz="2400" kern="1200" dirty="0"/>
        </a:p>
      </dsp:txBody>
      <dsp:txXfrm>
        <a:off x="6098481" y="1595259"/>
        <a:ext cx="2085893" cy="1221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8" name="Picture 14" descr="http://www.proxware.com/images/androids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50" y="5257800"/>
            <a:ext cx="38798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32200"/>
            <a:ext cx="32258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en-US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en-US" dirty="0"/>
          </a:p>
        </p:txBody>
      </p:sp>
      <p:sp>
        <p:nvSpPr>
          <p:cNvPr id="40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2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1BACC-A5F3-8B4A-9D5E-050A5739F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6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slweb.org/liberationnews/assets/images/website/android-logo-peekin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238" y="4648200"/>
            <a:ext cx="114776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A78A8-6D6A-6F44-BF32-5276CA6C83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92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F706E-F7EE-C54C-A3F8-E4216B187C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078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C449C8-EDC9-A84C-AD32-549D28485D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8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8731C2-7E7B-F443-8E76-C7EC1B9C1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5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1926C-14A0-F144-8CBD-BCEE4A4073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7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F99BD0-3523-E444-B893-607428B2C6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94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BDFF5-4F47-6D4E-93F8-95B4C2BD88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1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将图片拖动到占位符，或单击添加图标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FB619-39C5-D043-BA85-7F3E9CB925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49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2C4B3F-9C5D-1749-9E0E-868B6C53C2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7E825-3F4A-7045-9E9C-5DB9A1575A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13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82936-60A4-A046-8303-FE6648B529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80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cs typeface="+mn-cs"/>
              </a:defRPr>
            </a:lvl1pPr>
          </a:lstStyle>
          <a:p>
            <a:pPr>
              <a:defRPr/>
            </a:pPr>
            <a:fld id="{8F72C0CC-675E-6A4B-BCF5-6AA035535B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056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65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66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67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68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69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70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71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72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73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74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75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76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77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78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79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80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81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82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83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84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85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86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87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0" r:id="rId1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/>
          <a:ea typeface="Kai"/>
          <a:cs typeface="Kai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charset="0"/>
        <a:buChar char="l"/>
        <a:defRPr kumimoji="1" sz="3000">
          <a:solidFill>
            <a:schemeClr val="tx1"/>
          </a:solidFill>
          <a:latin typeface="Kai"/>
          <a:ea typeface="Kai"/>
          <a:cs typeface="Kai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l"/>
        <a:defRPr kumimoji="1" sz="2600">
          <a:solidFill>
            <a:schemeClr val="tx1"/>
          </a:solidFill>
          <a:latin typeface="Kai"/>
          <a:ea typeface="Kai"/>
          <a:cs typeface="Kai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kumimoji="1" sz="2300">
          <a:solidFill>
            <a:schemeClr val="tx1"/>
          </a:solidFill>
          <a:latin typeface="Kai"/>
          <a:ea typeface="Kai"/>
          <a:cs typeface="Kai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smtClean="0">
                <a:latin typeface="Kai" charset="0"/>
                <a:ea typeface="Kai" charset="0"/>
                <a:cs typeface="Kai" charset="0"/>
              </a:rPr>
              <a:t>界面开发</a:t>
            </a:r>
            <a:r>
              <a:rPr kumimoji="1" lang="en-US" altLang="zh-CN" dirty="0" smtClean="0">
                <a:latin typeface="Kai" charset="0"/>
                <a:ea typeface="Kai" charset="0"/>
                <a:cs typeface="Kai" charset="0"/>
              </a:rPr>
              <a:t> </a:t>
            </a:r>
            <a:endParaRPr kumimoji="1"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5122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charset="0"/>
              <a:buNone/>
            </a:pPr>
            <a:endParaRPr lang="en-US" altLang="zh-CN" dirty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l="-12802" r="-128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52837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的</a:t>
            </a:r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UI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25602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" r="217"/>
          <a:stretch>
            <a:fillRect/>
          </a:stretch>
        </p:blipFill>
        <p:spPr/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UI</a:t>
            </a:r>
            <a:r>
              <a:rPr kumimoji="1" lang="zh-CN" altLang="en-US" dirty="0" smtClean="0"/>
              <a:t>的主要组成部分</a:t>
            </a:r>
            <a:endParaRPr kumimoji="1" lang="en-US" altLang="zh-CN" dirty="0" smtClean="0"/>
          </a:p>
          <a:p>
            <a:r>
              <a:rPr lang="zh-CN" altLang="en-US" dirty="0" smtClean="0"/>
              <a:t>占用屏幕的一块长方形区域</a:t>
            </a:r>
            <a:endParaRPr lang="en-US" altLang="zh-CN" dirty="0" smtClean="0"/>
          </a:p>
          <a:p>
            <a:r>
              <a:rPr kumimoji="1" lang="zh-CN" altLang="en-US" dirty="0" smtClean="0"/>
              <a:t>负责绘制自己、处理事件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824" y="3434858"/>
            <a:ext cx="4994539" cy="394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748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系统提供的</a:t>
            </a:r>
            <a:r>
              <a:rPr kumimoji="1" lang="en-US" altLang="zh-CN" dirty="0" smtClean="0"/>
              <a:t>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Button</a:t>
            </a:r>
          </a:p>
          <a:p>
            <a:r>
              <a:rPr lang="en-US" altLang="zh-CN" dirty="0" err="1" smtClean="0"/>
              <a:t>ToggleButton</a:t>
            </a:r>
            <a:endParaRPr lang="en-US" altLang="zh-CN" dirty="0" smtClean="0"/>
          </a:p>
          <a:p>
            <a:r>
              <a:rPr kumimoji="1" lang="en-US" altLang="zh-CN" dirty="0" err="1" smtClean="0"/>
              <a:t>CheckBox</a:t>
            </a:r>
            <a:endParaRPr kumimoji="1" lang="en-US" altLang="zh-CN" dirty="0" smtClean="0"/>
          </a:p>
          <a:p>
            <a:r>
              <a:rPr lang="en-US" altLang="zh-CN" dirty="0" err="1" smtClean="0"/>
              <a:t>RatingBar</a:t>
            </a:r>
            <a:endParaRPr lang="en-US" altLang="zh-CN" dirty="0" smtClean="0"/>
          </a:p>
          <a:p>
            <a:r>
              <a:rPr kumimoji="1" lang="en-US" altLang="zh-CN" dirty="0" err="1" smtClean="0"/>
              <a:t>TextView</a:t>
            </a:r>
            <a:endParaRPr kumimoji="1" lang="en-US" altLang="zh-CN" dirty="0" smtClean="0"/>
          </a:p>
          <a:p>
            <a:r>
              <a:rPr lang="en-US" altLang="zh-CN" dirty="0" err="1" smtClean="0"/>
              <a:t>ImageView</a:t>
            </a:r>
            <a:endParaRPr lang="en-US" altLang="zh-CN" dirty="0" smtClean="0"/>
          </a:p>
          <a:p>
            <a:r>
              <a:rPr kumimoji="1" lang="zh-CN" altLang="zh-CN" dirty="0"/>
              <a:t>……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9982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XML</a:t>
            </a:r>
            <a:r>
              <a:rPr kumimoji="1" lang="zh-CN" altLang="en-US" dirty="0" smtClean="0"/>
              <a:t>表示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setContentView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R.layout.main</a:t>
            </a:r>
            <a:r>
              <a:rPr kumimoji="1" lang="en-US" altLang="zh-CN" dirty="0" smtClean="0"/>
              <a:t>)</a:t>
            </a:r>
          </a:p>
          <a:p>
            <a:endParaRPr kumimoji="1" lang="zh-CN" altLang="en-US" dirty="0"/>
          </a:p>
        </p:txBody>
      </p:sp>
      <p:pic>
        <p:nvPicPr>
          <p:cNvPr id="4" name="图片 3" descr="Screen Shot 2014-04-02 at 11.00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99" y="2642038"/>
            <a:ext cx="5180452" cy="403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51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获取</a:t>
            </a:r>
            <a:r>
              <a:rPr kumimoji="1" lang="en-US" altLang="zh-CN" dirty="0" smtClean="0"/>
              <a:t>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findViewById</a:t>
            </a:r>
            <a:endParaRPr kumimoji="1" lang="en-US" altLang="zh-CN" dirty="0" smtClean="0"/>
          </a:p>
          <a:p>
            <a:r>
              <a:rPr lang="zh-CN" altLang="en-US" dirty="0" smtClean="0"/>
              <a:t>保留</a:t>
            </a:r>
            <a:r>
              <a:rPr lang="en-US" altLang="zh-CN" dirty="0" smtClean="0"/>
              <a:t>view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731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事件处理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用户交互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触摸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键盘</a:t>
            </a:r>
            <a:r>
              <a:rPr kumimoji="1" lang="en-US" altLang="zh-CN" dirty="0" smtClean="0"/>
              <a:t>/</a:t>
            </a:r>
            <a:r>
              <a:rPr kumimoji="1" lang="zh-CN" altLang="en-US" dirty="0" smtClean="0"/>
              <a:t>轨迹球</a:t>
            </a:r>
            <a:r>
              <a:rPr kumimoji="1" lang="en-US" altLang="zh-CN" dirty="0" smtClean="0"/>
              <a:t>/D-PAD</a:t>
            </a:r>
          </a:p>
          <a:p>
            <a:r>
              <a:rPr lang="zh-CN" altLang="en-US" dirty="0" smtClean="0"/>
              <a:t>系统控制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生命周期变化</a:t>
            </a:r>
            <a:endParaRPr lang="en-US" altLang="zh-CN" dirty="0" smtClean="0"/>
          </a:p>
          <a:p>
            <a:r>
              <a:rPr lang="zh-CN" altLang="en-US" dirty="0" smtClean="0"/>
              <a:t>通常用</a:t>
            </a:r>
            <a:r>
              <a:rPr lang="en-US" altLang="zh-CN" dirty="0" smtClean="0"/>
              <a:t>Listener</a:t>
            </a:r>
            <a:r>
              <a:rPr lang="zh-CN" altLang="en-US" dirty="0" smtClean="0"/>
              <a:t>来处理事件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View</a:t>
            </a:r>
            <a:r>
              <a:rPr kumimoji="1" lang="zh-CN" altLang="en-US" dirty="0" smtClean="0"/>
              <a:t>类定义了各种</a:t>
            </a:r>
            <a:r>
              <a:rPr kumimoji="1" lang="en-US" altLang="zh-CN" dirty="0" smtClean="0"/>
              <a:t>Listener</a:t>
            </a:r>
          </a:p>
          <a:p>
            <a:pPr lvl="1"/>
            <a:r>
              <a:rPr lang="en-US" altLang="zh-CN" dirty="0" err="1" smtClean="0"/>
              <a:t>OnClickListener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OnLongClickListener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OnFocusChangeListener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OnKeyListener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1576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常见的</a:t>
            </a:r>
            <a:r>
              <a:rPr kumimoji="1" lang="en-US" altLang="zh-CN" dirty="0" smtClean="0"/>
              <a:t>View</a:t>
            </a:r>
            <a:r>
              <a:rPr kumimoji="1" lang="zh-CN" altLang="en-US" dirty="0" smtClean="0"/>
              <a:t>操作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设置可见性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setVisibility</a:t>
            </a:r>
            <a:endParaRPr lang="en-US" altLang="zh-CN" dirty="0" smtClean="0"/>
          </a:p>
          <a:p>
            <a:r>
              <a:rPr lang="zh-CN" altLang="en-US" dirty="0" smtClean="0"/>
              <a:t>设置选中状态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setChecked</a:t>
            </a:r>
            <a:endParaRPr kumimoji="1" lang="en-US" altLang="zh-CN" dirty="0" smtClean="0"/>
          </a:p>
          <a:p>
            <a:r>
              <a:rPr lang="zh-CN" altLang="en-US" dirty="0" smtClean="0"/>
              <a:t>设置监听器</a:t>
            </a:r>
            <a:endParaRPr lang="en-US" altLang="zh-CN" dirty="0" smtClean="0"/>
          </a:p>
          <a:p>
            <a:r>
              <a:rPr kumimoji="1" lang="zh-CN" altLang="en-US" dirty="0" smtClean="0"/>
              <a:t>设置属性：透明度、背景、旋转等</a:t>
            </a:r>
            <a:endParaRPr kumimoji="1" lang="en-US" altLang="zh-CN" dirty="0" smtClean="0"/>
          </a:p>
          <a:p>
            <a:r>
              <a:rPr lang="zh-CN" altLang="en-US" dirty="0" smtClean="0"/>
              <a:t>管理输入焦点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716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显示</a:t>
            </a:r>
            <a:r>
              <a:rPr kumimoji="1" lang="en-US" altLang="zh-CN" dirty="0" smtClean="0"/>
              <a:t>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组织成一棵树</a:t>
            </a:r>
            <a:endParaRPr kumimoji="1" lang="en-US" altLang="zh-CN" dirty="0" smtClean="0"/>
          </a:p>
          <a:p>
            <a:r>
              <a:rPr lang="zh-CN" altLang="en-US" dirty="0" smtClean="0"/>
              <a:t>显示分为几个步骤：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Measure – </a:t>
            </a:r>
            <a:r>
              <a:rPr kumimoji="1" lang="zh-CN" altLang="en-US" dirty="0" smtClean="0"/>
              <a:t>获取每个</a:t>
            </a:r>
            <a:r>
              <a:rPr kumimoji="1" lang="en-US" altLang="zh-CN" dirty="0" smtClean="0"/>
              <a:t>View</a:t>
            </a:r>
            <a:r>
              <a:rPr kumimoji="1" lang="zh-CN" altLang="en-US" dirty="0" smtClean="0"/>
              <a:t>的大小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Layout – </a:t>
            </a:r>
            <a:r>
              <a:rPr lang="zh-CN" altLang="en-US" dirty="0" smtClean="0"/>
              <a:t>确定每个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的位置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Draw – </a:t>
            </a:r>
            <a:r>
              <a:rPr kumimoji="1" lang="zh-CN" altLang="en-US" dirty="0" smtClean="0"/>
              <a:t>画出每个</a:t>
            </a:r>
            <a:r>
              <a:rPr kumimoji="1" lang="en-US" altLang="zh-CN" dirty="0" smtClean="0"/>
              <a:t>View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1173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ViewGroup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包含其它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的不可见</a:t>
            </a:r>
            <a:r>
              <a:rPr lang="en-US" altLang="zh-CN" dirty="0" smtClean="0"/>
              <a:t>View</a:t>
            </a:r>
          </a:p>
          <a:p>
            <a:r>
              <a:rPr kumimoji="1" lang="zh-CN" altLang="en-US" dirty="0" smtClean="0"/>
              <a:t>用来</a:t>
            </a:r>
            <a:r>
              <a:rPr lang="zh-CN" altLang="en-US" dirty="0" smtClean="0"/>
              <a:t>分类</a:t>
            </a:r>
            <a:r>
              <a:rPr kumimoji="1" lang="zh-CN" altLang="en-US" dirty="0" smtClean="0"/>
              <a:t>、组织</a:t>
            </a:r>
            <a:r>
              <a:rPr lang="zh-CN" altLang="en-US" dirty="0" smtClean="0"/>
              <a:t>一组</a:t>
            </a:r>
            <a:r>
              <a:rPr lang="en-US" altLang="zh-CN" dirty="0" smtClean="0"/>
              <a:t>View</a:t>
            </a:r>
          </a:p>
          <a:p>
            <a:r>
              <a:rPr kumimoji="1" lang="en-US" altLang="zh-CN" dirty="0" smtClean="0"/>
              <a:t>View</a:t>
            </a:r>
            <a:r>
              <a:rPr lang="zh-CN" altLang="en-US" dirty="0" smtClean="0"/>
              <a:t>容器和布局的基类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1142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系统提供的</a:t>
            </a:r>
            <a:r>
              <a:rPr kumimoji="1" lang="en-US" altLang="zh-CN" dirty="0" err="1" smtClean="0"/>
              <a:t>ViewGroup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RadioGroup</a:t>
            </a:r>
            <a:endParaRPr kumimoji="1" lang="en-US" altLang="zh-CN" dirty="0" smtClean="0"/>
          </a:p>
          <a:p>
            <a:r>
              <a:rPr lang="en-US" altLang="zh-CN" dirty="0" err="1" smtClean="0"/>
              <a:t>TimePicker</a:t>
            </a:r>
            <a:endParaRPr lang="en-US" altLang="zh-CN" dirty="0" smtClean="0"/>
          </a:p>
          <a:p>
            <a:r>
              <a:rPr kumimoji="1" lang="en-US" altLang="zh-CN" dirty="0" err="1" smtClean="0"/>
              <a:t>DatePicker</a:t>
            </a:r>
            <a:endParaRPr kumimoji="1" lang="en-US" altLang="zh-CN" dirty="0" smtClean="0"/>
          </a:p>
          <a:p>
            <a:r>
              <a:rPr lang="en-US" altLang="zh-CN" dirty="0" err="1" smtClean="0"/>
              <a:t>WebView</a:t>
            </a:r>
            <a:endParaRPr lang="en-US" altLang="zh-CN" dirty="0" smtClean="0"/>
          </a:p>
          <a:p>
            <a:r>
              <a:rPr kumimoji="1" lang="en-US" altLang="zh-CN" dirty="0" err="1" smtClean="0"/>
              <a:t>MapView</a:t>
            </a:r>
            <a:endParaRPr kumimoji="1" lang="en-US" altLang="zh-CN" dirty="0" smtClean="0"/>
          </a:p>
          <a:p>
            <a:r>
              <a:rPr lang="en-US" altLang="zh-CN" dirty="0" smtClean="0"/>
              <a:t>Gallery</a:t>
            </a:r>
          </a:p>
          <a:p>
            <a:r>
              <a:rPr kumimoji="1" lang="en-US" altLang="zh-CN" dirty="0" smtClean="0"/>
              <a:t>Spinner</a:t>
            </a:r>
          </a:p>
          <a:p>
            <a:r>
              <a:rPr lang="zh-CN" altLang="zh-CN" dirty="0"/>
              <a:t>……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671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Layout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2662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AbsoluteLayout</a:t>
            </a: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FrameLayout</a:t>
            </a: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GridView</a:t>
            </a: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LinearLayout</a:t>
            </a: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ListLayout</a:t>
            </a: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RadioGroup</a:t>
            </a: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TableLayout</a:t>
            </a:r>
          </a:p>
          <a:p>
            <a:endParaRPr lang="zh-CN" altLang="en-US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Layout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27650" name="内容占位符 5" descr="Screen Shot 2012-10-30 at 11.54.15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63" b="-8163"/>
          <a:stretch>
            <a:fillRect/>
          </a:stretch>
        </p:blipFill>
        <p:spPr/>
      </p:pic>
      <p:sp>
        <p:nvSpPr>
          <p:cNvPr id="7" name="矩形 6"/>
          <p:cNvSpPr/>
          <p:nvPr/>
        </p:nvSpPr>
        <p:spPr bwMode="auto">
          <a:xfrm>
            <a:off x="635000" y="2025650"/>
            <a:ext cx="1751013" cy="325438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zh-CN" altLang="en-US" sz="180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术语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dp</a:t>
            </a:r>
            <a:r>
              <a:rPr kumimoji="1" lang="zh-CN" altLang="en-US" dirty="0" smtClean="0"/>
              <a:t>或</a:t>
            </a:r>
            <a:r>
              <a:rPr kumimoji="1" lang="en-US" altLang="zh-CN" dirty="0" smtClean="0"/>
              <a:t>dip</a:t>
            </a:r>
            <a:r>
              <a:rPr kumimoji="1" lang="zh-CN" altLang="en-US" dirty="0" smtClean="0"/>
              <a:t>：设备无关的像素密度</a:t>
            </a:r>
            <a:endParaRPr kumimoji="1" lang="en-US" altLang="zh-CN" dirty="0" smtClean="0"/>
          </a:p>
          <a:p>
            <a:r>
              <a:rPr lang="en-US" altLang="zh-CN" dirty="0" err="1" smtClean="0"/>
              <a:t>px</a:t>
            </a:r>
            <a:r>
              <a:rPr lang="en-US" altLang="zh-CN" dirty="0" smtClean="0"/>
              <a:t>: </a:t>
            </a:r>
            <a:r>
              <a:rPr lang="zh-CN" altLang="en-US" dirty="0" smtClean="0"/>
              <a:t>像素值</a:t>
            </a:r>
            <a:endParaRPr lang="en-US" altLang="zh-CN" dirty="0" smtClean="0"/>
          </a:p>
          <a:p>
            <a:r>
              <a:rPr lang="en-US" altLang="zh-CN" dirty="0" err="1" smtClean="0"/>
              <a:t>match_parent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wrap_content</a:t>
            </a:r>
            <a:endParaRPr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5902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浙江大学计算机学院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AbsoluteLayout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 (deprecated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）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指明子元素确切的屏幕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(X,Y)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坐标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(0,0)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是左上角，下移或右移时，坐标值增加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允许元素重叠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(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但是不推荐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)</a:t>
            </a: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注意：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一般建议不使用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AbsoluteLayout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除非你有很好的理由来使用它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因为它相当严格并且在不同的设备显示中不能很好地工作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浙江大学计算机学院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Linear</a:t>
            </a: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线性布局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LinearLayout</a:t>
            </a: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垂直：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android:orientation="vertical"</a:t>
            </a:r>
          </a:p>
          <a:p>
            <a:pPr lvl="1"/>
            <a:r>
              <a:rPr lang="zh-CN" altLang="en-US">
                <a:latin typeface="Kai" charset="0"/>
                <a:ea typeface="Kai" charset="0"/>
                <a:cs typeface="Kai" charset="0"/>
              </a:rPr>
              <a:t>水平：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android:orientation="horizontal"</a:t>
            </a: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323850" y="3500438"/>
            <a:ext cx="8569325" cy="1765300"/>
          </a:xfrm>
          <a:prstGeom prst="rect">
            <a:avLst/>
          </a:prstGeom>
          <a:solidFill>
            <a:srgbClr val="C0C0C0">
              <a:alpha val="20000"/>
            </a:srgbClr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&lt;</a:t>
            </a:r>
            <a:r>
              <a:rPr lang="en-US" altLang="zh-CN" sz="1800" dirty="0" err="1">
                <a:solidFill>
                  <a:srgbClr val="0066FF"/>
                </a:solidFill>
                <a:latin typeface="Courier New" charset="0"/>
              </a:rPr>
              <a:t>LinearLayout</a:t>
            </a: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 </a:t>
            </a:r>
            <a:r>
              <a:rPr lang="en-US" altLang="zh-CN" sz="1800" dirty="0" err="1">
                <a:solidFill>
                  <a:srgbClr val="0066FF"/>
                </a:solidFill>
                <a:latin typeface="Courier New" charset="0"/>
              </a:rPr>
              <a:t>xmlns:android</a:t>
            </a: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="http://</a:t>
            </a:r>
            <a:r>
              <a:rPr lang="en-US" altLang="zh-CN" sz="1800" dirty="0" err="1">
                <a:solidFill>
                  <a:srgbClr val="0066FF"/>
                </a:solidFill>
                <a:latin typeface="Courier New" charset="0"/>
              </a:rPr>
              <a:t>schemas.android.com</a:t>
            </a: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/</a:t>
            </a:r>
            <a:r>
              <a:rPr lang="en-US" altLang="zh-CN" sz="1800" dirty="0" err="1">
                <a:solidFill>
                  <a:srgbClr val="0066FF"/>
                </a:solidFill>
                <a:latin typeface="Courier New" charset="0"/>
              </a:rPr>
              <a:t>apk</a:t>
            </a: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/res/android"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    </a:t>
            </a:r>
            <a:r>
              <a:rPr lang="en-US" altLang="zh-CN" sz="1800" dirty="0" err="1">
                <a:solidFill>
                  <a:srgbClr val="0066FF"/>
                </a:solidFill>
                <a:latin typeface="Courier New" charset="0"/>
              </a:rPr>
              <a:t>android:orientation</a:t>
            </a: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="vertical"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    </a:t>
            </a:r>
            <a:r>
              <a:rPr lang="en-US" altLang="zh-CN" sz="1800" dirty="0" err="1">
                <a:solidFill>
                  <a:srgbClr val="0066FF"/>
                </a:solidFill>
                <a:latin typeface="Courier New" charset="0"/>
              </a:rPr>
              <a:t>android:layout_width</a:t>
            </a: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="</a:t>
            </a:r>
            <a:r>
              <a:rPr lang="en-US" altLang="zh-CN" sz="1800" dirty="0" err="1">
                <a:solidFill>
                  <a:srgbClr val="0066FF"/>
                </a:solidFill>
                <a:latin typeface="Courier New" charset="0"/>
              </a:rPr>
              <a:t>fill_parent</a:t>
            </a: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"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    </a:t>
            </a:r>
            <a:r>
              <a:rPr lang="en-US" altLang="zh-CN" sz="1800" dirty="0" err="1">
                <a:solidFill>
                  <a:srgbClr val="0066FF"/>
                </a:solidFill>
                <a:latin typeface="Courier New" charset="0"/>
              </a:rPr>
              <a:t>android:layout_height</a:t>
            </a: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="</a:t>
            </a:r>
            <a:r>
              <a:rPr lang="en-US" altLang="zh-CN" sz="1800" dirty="0" err="1">
                <a:solidFill>
                  <a:srgbClr val="0066FF"/>
                </a:solidFill>
                <a:latin typeface="Courier New" charset="0"/>
              </a:rPr>
              <a:t>fill_parent</a:t>
            </a: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"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66FF"/>
                </a:solidFill>
                <a:latin typeface="Courier New" charset="0"/>
              </a:rPr>
              <a:t>    &gt;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浙江大学计算机学院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RelativeLayout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600">
                <a:latin typeface="Kai" charset="0"/>
                <a:ea typeface="Kai" charset="0"/>
                <a:cs typeface="Kai" charset="0"/>
              </a:rPr>
              <a:t>让子元素指定它们相对于其他元素的位置</a:t>
            </a:r>
            <a:r>
              <a:rPr lang="en-US" altLang="zh-CN" sz="2600">
                <a:latin typeface="Kai" charset="0"/>
                <a:ea typeface="Kai" charset="0"/>
                <a:cs typeface="Kai" charset="0"/>
              </a:rPr>
              <a:t>(</a:t>
            </a:r>
            <a:r>
              <a:rPr lang="zh-CN" altLang="en-US" sz="2600">
                <a:latin typeface="Kai" charset="0"/>
                <a:ea typeface="Kai" charset="0"/>
                <a:cs typeface="Kai" charset="0"/>
              </a:rPr>
              <a:t>通过</a:t>
            </a:r>
            <a:r>
              <a:rPr lang="en-US" altLang="zh-CN" sz="2600">
                <a:latin typeface="Kai" charset="0"/>
                <a:ea typeface="Kai" charset="0"/>
                <a:cs typeface="Kai" charset="0"/>
              </a:rPr>
              <a:t>ID </a:t>
            </a:r>
            <a:r>
              <a:rPr lang="zh-CN" altLang="en-US" sz="2600">
                <a:latin typeface="Kai" charset="0"/>
                <a:ea typeface="Kai" charset="0"/>
                <a:cs typeface="Kai" charset="0"/>
              </a:rPr>
              <a:t>来指定</a:t>
            </a:r>
            <a:r>
              <a:rPr lang="en-US" altLang="zh-CN" sz="2600">
                <a:latin typeface="Kai" charset="0"/>
                <a:ea typeface="Kai" charset="0"/>
                <a:cs typeface="Kai" charset="0"/>
              </a:rPr>
              <a:t>)</a:t>
            </a:r>
            <a:r>
              <a:rPr lang="zh-CN" altLang="en-US" sz="2600">
                <a:latin typeface="Kai" charset="0"/>
                <a:ea typeface="Kai" charset="0"/>
                <a:cs typeface="Kai" charset="0"/>
              </a:rPr>
              <a:t>或相对于父布局对象，跟</a:t>
            </a:r>
            <a:r>
              <a:rPr lang="en-US" altLang="zh-CN" sz="2600">
                <a:latin typeface="Kai" charset="0"/>
                <a:ea typeface="Kai" charset="0"/>
                <a:cs typeface="Kai" charset="0"/>
              </a:rPr>
              <a:t>AbsoluteLayout</a:t>
            </a:r>
            <a:r>
              <a:rPr lang="zh-CN" altLang="en-US" sz="2600">
                <a:latin typeface="Kai" charset="0"/>
                <a:ea typeface="Kai" charset="0"/>
                <a:cs typeface="Kai" charset="0"/>
              </a:rPr>
              <a:t>这个绝对坐标布局是个相反。</a:t>
            </a:r>
            <a:endParaRPr lang="en-US" altLang="zh-CN" sz="2600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 sz="2600">
                <a:latin typeface="Kai" charset="0"/>
                <a:ea typeface="Kai" charset="0"/>
                <a:cs typeface="Kai" charset="0"/>
              </a:rPr>
              <a:t>在</a:t>
            </a:r>
            <a:r>
              <a:rPr lang="en-US" altLang="zh-CN" sz="2600">
                <a:latin typeface="Kai" charset="0"/>
                <a:ea typeface="Kai" charset="0"/>
                <a:cs typeface="Kai" charset="0"/>
              </a:rPr>
              <a:t>RelativeLayout</a:t>
            </a:r>
            <a:r>
              <a:rPr lang="zh-CN" altLang="en-US" sz="2600">
                <a:latin typeface="Kai" charset="0"/>
                <a:ea typeface="Kai" charset="0"/>
                <a:cs typeface="Kai" charset="0"/>
              </a:rPr>
              <a:t>布局里的控件包含丰富的排列属性：</a:t>
            </a:r>
            <a:r>
              <a:rPr lang="en-US" altLang="zh-CN" sz="2600">
                <a:latin typeface="Kai" charset="0"/>
                <a:ea typeface="Kai" charset="0"/>
                <a:cs typeface="Kai" charset="0"/>
              </a:rPr>
              <a:t> </a:t>
            </a:r>
          </a:p>
          <a:p>
            <a:pPr lvl="1"/>
            <a:r>
              <a:rPr lang="en-US" altLang="zh-CN" sz="2200">
                <a:latin typeface="Kai" charset="0"/>
                <a:ea typeface="Kai" charset="0"/>
                <a:cs typeface="Kai" charset="0"/>
              </a:rPr>
              <a:t>Layout above</a:t>
            </a:r>
            <a:r>
              <a:rPr lang="zh-CN" altLang="en-US" sz="2200">
                <a:latin typeface="Kai" charset="0"/>
                <a:ea typeface="Kai" charset="0"/>
                <a:cs typeface="Kai" charset="0"/>
              </a:rPr>
              <a:t>：控件在指定控件的上方</a:t>
            </a:r>
            <a:endParaRPr lang="en-US" altLang="zh-CN" sz="220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en-US" altLang="zh-CN" sz="2200">
                <a:latin typeface="Kai" charset="0"/>
                <a:ea typeface="Kai" charset="0"/>
                <a:cs typeface="Kai" charset="0"/>
              </a:rPr>
              <a:t>Layout below</a:t>
            </a:r>
            <a:r>
              <a:rPr lang="zh-CN" altLang="en-US" sz="2200">
                <a:latin typeface="Kai" charset="0"/>
                <a:ea typeface="Kai" charset="0"/>
                <a:cs typeface="Kai" charset="0"/>
              </a:rPr>
              <a:t>：控件在指定控件的下方</a:t>
            </a:r>
            <a:endParaRPr lang="en-US" altLang="zh-CN" sz="220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en-US" altLang="zh-CN" sz="2200">
                <a:latin typeface="Kai" charset="0"/>
                <a:ea typeface="Kai" charset="0"/>
                <a:cs typeface="Kai" charset="0"/>
              </a:rPr>
              <a:t>Layout to left of</a:t>
            </a:r>
            <a:r>
              <a:rPr lang="zh-CN" altLang="en-US" sz="2200">
                <a:latin typeface="Kai" charset="0"/>
                <a:ea typeface="Kai" charset="0"/>
                <a:cs typeface="Kai" charset="0"/>
              </a:rPr>
              <a:t>。。。。</a:t>
            </a:r>
            <a:endParaRPr lang="en-US" altLang="zh-CN" sz="2200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 sz="2600">
                <a:latin typeface="Kai" charset="0"/>
                <a:ea typeface="Kai" charset="0"/>
                <a:cs typeface="Kai" charset="0"/>
              </a:rPr>
              <a:t>使用</a:t>
            </a:r>
            <a:r>
              <a:rPr lang="en-US" altLang="zh-CN" sz="2600">
                <a:latin typeface="Kai" charset="0"/>
                <a:ea typeface="Kai" charset="0"/>
                <a:cs typeface="Kai" charset="0"/>
              </a:rPr>
              <a:t> RelativeLayout</a:t>
            </a:r>
            <a:r>
              <a:rPr lang="zh-CN" altLang="en-US" sz="2600">
                <a:latin typeface="Kai" charset="0"/>
                <a:ea typeface="Kai" charset="0"/>
                <a:cs typeface="Kai" charset="0"/>
              </a:rPr>
              <a:t>布局的时候，尽少程序运行时做控件布局的更改，因为</a:t>
            </a:r>
            <a:r>
              <a:rPr lang="en-US" altLang="zh-CN" sz="2600">
                <a:latin typeface="Kai" charset="0"/>
                <a:ea typeface="Kai" charset="0"/>
                <a:cs typeface="Kai" charset="0"/>
              </a:rPr>
              <a:t> RelativeLayout</a:t>
            </a:r>
            <a:r>
              <a:rPr lang="zh-CN" altLang="en-US" sz="2600">
                <a:latin typeface="Kai" charset="0"/>
                <a:ea typeface="Kai" charset="0"/>
                <a:cs typeface="Kai" charset="0"/>
              </a:rPr>
              <a:t>布局里面的属性之间，很容易冲突。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浙江大学计算机学院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FrameLayout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在屏幕上故意保留的空白空间，可以填充一个单独的对象。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所有子元素都钉到屏幕的左上角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不能为子元素指定位置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浙江大学计算机学院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Kai" charset="0"/>
                <a:ea typeface="Kai" charset="0"/>
                <a:cs typeface="Kai" charset="0"/>
              </a:rPr>
              <a:t>TableLayout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子元素放入到行与列中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不显示行、列或是单元格边界线</a:t>
            </a:r>
            <a:endParaRPr lang="en-US" altLang="zh-CN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单元格不能横跨行，如</a:t>
            </a:r>
            <a:r>
              <a:rPr lang="en-US" altLang="zh-CN">
                <a:latin typeface="Kai" charset="0"/>
                <a:ea typeface="Kai" charset="0"/>
                <a:cs typeface="Kai" charset="0"/>
              </a:rPr>
              <a:t>HTML </a:t>
            </a:r>
            <a:r>
              <a:rPr lang="zh-CN" altLang="en-US">
                <a:latin typeface="Kai" charset="0"/>
                <a:ea typeface="Kai" charset="0"/>
                <a:cs typeface="Kai" charset="0"/>
              </a:rPr>
              <a:t>中一样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Kai" charset="0"/>
                <a:ea typeface="Kai" charset="0"/>
                <a:cs typeface="Kai" charset="0"/>
              </a:rPr>
              <a:t>动态</a:t>
            </a:r>
            <a:r>
              <a:rPr kumimoji="1" lang="zh-CN" altLang="en-US" dirty="0" smtClean="0">
                <a:latin typeface="Kai" charset="0"/>
                <a:ea typeface="Kai" charset="0"/>
                <a:cs typeface="Kai" charset="0"/>
              </a:rPr>
              <a:t>布局</a:t>
            </a:r>
            <a:r>
              <a:rPr kumimoji="1" lang="en-US" altLang="zh-CN" dirty="0" smtClean="0">
                <a:latin typeface="Kai" charset="0"/>
                <a:ea typeface="Kai" charset="0"/>
                <a:cs typeface="Kai" charset="0"/>
              </a:rPr>
              <a:t>(JAVA)</a:t>
            </a:r>
            <a:endParaRPr kumimoji="1" lang="zh-CN" altLang="en-US" dirty="0">
              <a:latin typeface="Kai" charset="0"/>
              <a:ea typeface="Kai" charset="0"/>
              <a:cs typeface="Kai" charset="0"/>
            </a:endParaRPr>
          </a:p>
        </p:txBody>
      </p:sp>
      <p:pic>
        <p:nvPicPr>
          <p:cNvPr id="34818" name="内容占位符 3" descr="Screen Shot 2012-10-30 at 12.33.34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241" b="-30241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XML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和</a:t>
            </a:r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View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代码的关系？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1719263"/>
          <a:ext cx="8229600" cy="4411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从</a:t>
            </a:r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XML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生成</a:t>
            </a:r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View</a:t>
            </a:r>
            <a:endParaRPr kumimoji="1" lang="zh-CN" altLang="en-US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3686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charset="0"/>
              <a:buNone/>
            </a:pPr>
            <a:r>
              <a:rPr lang="en-US" altLang="zh-CN" sz="2000">
                <a:latin typeface="Kai" charset="0"/>
                <a:ea typeface="Kai" charset="0"/>
                <a:cs typeface="Kai" charset="0"/>
              </a:rPr>
              <a:t>View v = getLayoutInflater().inflate(R.layout.</a:t>
            </a:r>
            <a:r>
              <a:rPr lang="en-US" altLang="zh-CN" sz="2000" i="1">
                <a:latin typeface="Kai" charset="0"/>
                <a:ea typeface="Kai" charset="0"/>
                <a:cs typeface="Kai" charset="0"/>
              </a:rPr>
              <a:t>activity_hello, </a:t>
            </a:r>
            <a:r>
              <a:rPr lang="en-US" altLang="zh-CN" sz="2000" b="1" i="1">
                <a:latin typeface="Kai" charset="0"/>
                <a:ea typeface="Kai" charset="0"/>
                <a:cs typeface="Kai" charset="0"/>
              </a:rPr>
              <a:t>null);</a:t>
            </a:r>
          </a:p>
          <a:p>
            <a:pPr marL="0" indent="0">
              <a:buFont typeface="Wingdings" charset="0"/>
              <a:buNone/>
            </a:pPr>
            <a:endParaRPr lang="en-US" altLang="zh-CN" sz="2000" b="1" i="1">
              <a:latin typeface="Kai" charset="0"/>
              <a:ea typeface="Kai" charset="0"/>
              <a:cs typeface="Kai" charset="0"/>
            </a:endParaRPr>
          </a:p>
          <a:p>
            <a:pPr marL="0" indent="0">
              <a:buFont typeface="Wingdings" charset="0"/>
              <a:buNone/>
            </a:pPr>
            <a:endParaRPr lang="zh-CN" altLang="en-US" sz="200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Menu</a:t>
            </a:r>
            <a:r>
              <a:rPr kumimoji="1" lang="zh-CN" altLang="en-US" dirty="0" smtClean="0"/>
              <a:t>（菜单）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Options</a:t>
            </a:r>
          </a:p>
          <a:p>
            <a:pPr lvl="1"/>
            <a:r>
              <a:rPr lang="zh-CN" altLang="en-US" dirty="0" smtClean="0"/>
              <a:t>用户按下</a:t>
            </a:r>
            <a:r>
              <a:rPr lang="en-US" altLang="zh-CN" dirty="0" smtClean="0"/>
              <a:t>Menu</a:t>
            </a:r>
            <a:r>
              <a:rPr lang="zh-CN" altLang="en-US" dirty="0" smtClean="0"/>
              <a:t>按钮时显示的</a:t>
            </a:r>
            <a:endParaRPr kumimoji="1" lang="en-US" altLang="zh-CN" dirty="0" smtClean="0"/>
          </a:p>
          <a:p>
            <a:r>
              <a:rPr lang="en-US" altLang="zh-CN" dirty="0" smtClean="0"/>
              <a:t>Context</a:t>
            </a:r>
          </a:p>
          <a:p>
            <a:pPr lvl="1"/>
            <a:r>
              <a:rPr lang="zh-CN" altLang="en-US" dirty="0" smtClean="0"/>
              <a:t>和特定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相关的</a:t>
            </a:r>
            <a:endParaRPr lang="en-US" altLang="zh-CN" dirty="0" smtClean="0"/>
          </a:p>
          <a:p>
            <a:r>
              <a:rPr kumimoji="1" lang="en-US" altLang="zh-CN" dirty="0" smtClean="0"/>
              <a:t>Submenu</a:t>
            </a:r>
          </a:p>
          <a:p>
            <a:pPr lvl="1"/>
            <a:r>
              <a:rPr lang="zh-CN" altLang="en-US" dirty="0" smtClean="0"/>
              <a:t>用户按下</a:t>
            </a:r>
            <a:r>
              <a:rPr lang="en-US" altLang="zh-CN" dirty="0" smtClean="0"/>
              <a:t>Menu</a:t>
            </a:r>
            <a:r>
              <a:rPr lang="zh-CN" altLang="en-US" dirty="0" smtClean="0"/>
              <a:t>时所触发的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0017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创建</a:t>
            </a:r>
            <a:r>
              <a:rPr kumimoji="1" lang="en-US" altLang="zh-CN" dirty="0" smtClean="0"/>
              <a:t>Menu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res/menu/</a:t>
            </a:r>
            <a:r>
              <a:rPr kumimoji="1" lang="en-US" altLang="zh-CN" dirty="0" err="1" smtClean="0"/>
              <a:t>filename.xml</a:t>
            </a:r>
            <a:endParaRPr kumimoji="1"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err="1" smtClean="0"/>
              <a:t>onCreate</a:t>
            </a:r>
            <a:r>
              <a:rPr lang="en-US" altLang="zh-CN" dirty="0" smtClean="0"/>
              <a:t>……Menu</a:t>
            </a:r>
            <a:r>
              <a:rPr lang="zh-CN" altLang="en-US" dirty="0" smtClean="0"/>
              <a:t>中展开</a:t>
            </a:r>
            <a:r>
              <a:rPr lang="en-US" altLang="zh-CN" dirty="0" smtClean="0"/>
              <a:t>Menu (</a:t>
            </a:r>
            <a:r>
              <a:rPr lang="en-US" altLang="zh-CN" dirty="0" err="1" smtClean="0"/>
              <a:t>Inflater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on……</a:t>
            </a:r>
            <a:r>
              <a:rPr lang="en-US" altLang="zh-CN" dirty="0" err="1" smtClean="0"/>
              <a:t>ItemSelected</a:t>
            </a:r>
            <a:r>
              <a:rPr lang="zh-CN" altLang="en-US" dirty="0" smtClean="0"/>
              <a:t>中处理选择</a:t>
            </a:r>
            <a:r>
              <a:rPr lang="en-US" altLang="zh-CN" dirty="0" smtClean="0"/>
              <a:t>Menu</a:t>
            </a:r>
            <a:r>
              <a:rPr lang="zh-CN" altLang="en-US" smtClean="0"/>
              <a:t>事件</a:t>
            </a:r>
            <a:endParaRPr lang="en-US" altLang="zh-CN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1192483"/>
      </p:ext>
    </p:extLst>
  </p:cSld>
  <p:clrMapOvr>
    <a:masterClrMapping/>
  </p:clrMapOvr>
</p:sld>
</file>

<file path=ppt/theme/theme1.xml><?xml version="1.0" encoding="utf-8"?>
<a:theme xmlns:a="http://schemas.openxmlformats.org/drawingml/2006/main" name="Android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Android.thmx</Template>
  <TotalTime>417</TotalTime>
  <Words>466</Words>
  <Application>Microsoft Macintosh PowerPoint</Application>
  <PresentationFormat>全屏显示(4:3)</PresentationFormat>
  <Paragraphs>122</Paragraphs>
  <Slides>25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6" baseType="lpstr">
      <vt:lpstr>Android</vt:lpstr>
      <vt:lpstr>界面开发 </vt:lpstr>
      <vt:lpstr>PowerPoint 演示文稿</vt:lpstr>
      <vt:lpstr>Android的UI</vt:lpstr>
      <vt:lpstr>View</vt:lpstr>
      <vt:lpstr>系统提供的View</vt:lpstr>
      <vt:lpstr>XML表示</vt:lpstr>
      <vt:lpstr>获取view</vt:lpstr>
      <vt:lpstr>事件处理</vt:lpstr>
      <vt:lpstr>常见的View操作</vt:lpstr>
      <vt:lpstr>显示View</vt:lpstr>
      <vt:lpstr>ViewGroup</vt:lpstr>
      <vt:lpstr>系统提供的ViewGroup</vt:lpstr>
      <vt:lpstr>Layout</vt:lpstr>
      <vt:lpstr>Layout</vt:lpstr>
      <vt:lpstr>术语</vt:lpstr>
      <vt:lpstr>AbsoluteLayout (deprecated）</vt:lpstr>
      <vt:lpstr>Linear</vt:lpstr>
      <vt:lpstr>RelativeLayout</vt:lpstr>
      <vt:lpstr>FrameLayout</vt:lpstr>
      <vt:lpstr>TableLayout</vt:lpstr>
      <vt:lpstr>动态布局(JAVA)</vt:lpstr>
      <vt:lpstr>XML和View代码的关系？</vt:lpstr>
      <vt:lpstr>从XML生成View</vt:lpstr>
      <vt:lpstr>Menu（菜单）</vt:lpstr>
      <vt:lpstr>创建Menu</vt:lpstr>
    </vt:vector>
  </TitlesOfParts>
  <Company>zjgsu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</dc:title>
  <dc:creator>建伟 韩</dc:creator>
  <cp:lastModifiedBy>韩 建伟</cp:lastModifiedBy>
  <cp:revision>46</cp:revision>
  <dcterms:created xsi:type="dcterms:W3CDTF">2012-10-30T02:32:23Z</dcterms:created>
  <dcterms:modified xsi:type="dcterms:W3CDTF">2014-05-07T10:59:57Z</dcterms:modified>
</cp:coreProperties>
</file>