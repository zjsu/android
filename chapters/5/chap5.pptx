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60" r:id="rId11"/>
    <p:sldId id="285" r:id="rId12"/>
    <p:sldId id="286" r:id="rId13"/>
    <p:sldId id="287" r:id="rId14"/>
    <p:sldId id="288" r:id="rId15"/>
    <p:sldId id="291" r:id="rId16"/>
    <p:sldId id="290" r:id="rId17"/>
    <p:sldId id="289" r:id="rId18"/>
    <p:sldId id="293" r:id="rId19"/>
    <p:sldId id="267" r:id="rId20"/>
    <p:sldId id="269" r:id="rId21"/>
    <p:sldId id="276" r:id="rId22"/>
    <p:sldId id="268" r:id="rId23"/>
    <p:sldId id="294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5" r:id="rId32"/>
    <p:sldId id="306" r:id="rId33"/>
    <p:sldId id="307" r:id="rId34"/>
    <p:sldId id="309" r:id="rId35"/>
    <p:sldId id="304" r:id="rId36"/>
    <p:sldId id="308" r:id="rId37"/>
  </p:sldIdLst>
  <p:sldSz cx="9144000" cy="6858000" type="screen4x3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-1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Picture 14" descr="http://www.proxware.com/images/android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FF57B3-3822-8C43-AAA8-72CD8FCBD7FD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6218C9-C336-2F46-A3A1-4D126029AF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1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58EF4D-7A81-B64F-A9AA-153D37FCBDAD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D4DEDB-3095-4444-A482-4B9617226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0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328EA-D04C-6E4C-82AC-47D5A6CE9252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44F76-D356-0545-AF8E-0132649E30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0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9AFAF-E246-B14A-ABF9-69410E00C5B7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9F0C1-92A8-C54C-9153-330BD96D7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6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6BA40-CE65-B94C-86BC-64906BB68D25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4A17-D5BC-FC47-8862-A06B1A1D35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A1258-9EC7-8C4A-89A1-B269471E57E8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F1B3C-8DDD-AC47-8B26-269542E958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1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A845-2D3C-B54A-90B5-25111C3B9629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2D85D-7BC6-B047-BFE7-480021E7DD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0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4D925-6519-D64E-B2F4-521ADA2FBC35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549E3-D466-8D41-ADAB-3FC5790138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9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EB09F-FE40-3D41-9D4A-07EFD8860CA6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22EA8-E2A3-D440-AF6E-83A3BD358D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9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DB3C1-0C4C-9F49-B54B-175A8B468E7C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0F4FD-4D0B-E14F-8B77-763DD43EE4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7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A66F-048B-6C49-A852-8894CD39A094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A42F0-D4E2-D546-96A3-094CD4D4CE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BEDBF-C274-344D-9F18-F33538B9688B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4946F-0168-CE47-8ED2-1C3E1660D3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7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6CE8B48-EDCB-6145-A770-8D54E37071EA}" type="datetimeFigureOut">
              <a:rPr lang="zh-CN" altLang="en-US"/>
              <a:pPr>
                <a:defRPr/>
              </a:pPr>
              <a:t>4/16/14</a:t>
            </a:fld>
            <a:endParaRPr lang="zh-CN" alt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D5BB6B8-4661-8A45-BD9F-6F70CB0D75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946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 dirty="0" smtClean="0">
                <a:latin typeface="Kai" charset="0"/>
                <a:ea typeface="Kai" charset="0"/>
                <a:cs typeface="Kai" charset="0"/>
              </a:rPr>
              <a:t>数据存储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2530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Kai" charset="0"/>
                <a:ea typeface="Kai" charset="0"/>
                <a:cs typeface="Kai" charset="0"/>
              </a:rPr>
              <a:t>Android</a:t>
            </a:r>
            <a:r>
              <a:rPr kumimoji="1" lang="zh-CN" altLang="en-US">
                <a:latin typeface="Kai" charset="0"/>
                <a:ea typeface="Kai" charset="0"/>
                <a:cs typeface="Kai" charset="0"/>
              </a:rPr>
              <a:t>数据存储方式</a:t>
            </a:r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SharePreference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2"/>
            <a:r>
              <a:rPr lang="zh-CN" altLang="en-US" dirty="0">
                <a:latin typeface="Kai" charset="0"/>
                <a:ea typeface="Kai" charset="0"/>
                <a:cs typeface="Kai" charset="0"/>
              </a:rPr>
              <a:t>轻量级键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-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值方式存储，以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XML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文件方式保存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。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存储小数据。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>
                <a:latin typeface="Kai" charset="0"/>
                <a:ea typeface="Kai" charset="0"/>
                <a:cs typeface="Kai" charset="0"/>
              </a:rPr>
              <a:t>文件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2"/>
            <a:r>
              <a:rPr lang="zh-CN" altLang="en-US" dirty="0">
                <a:latin typeface="Kai" charset="0"/>
                <a:ea typeface="Kai" charset="0"/>
                <a:cs typeface="Kai" charset="0"/>
              </a:rPr>
              <a:t>采用</a:t>
            </a:r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java.io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.*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库所提供有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I/O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接口，读写文件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。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2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内部存储（小、中）和外部存储（大文件）。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dirty="0">
                <a:latin typeface="Kai" charset="0"/>
                <a:ea typeface="Kai" charset="0"/>
                <a:cs typeface="Kai" charset="0"/>
              </a:rPr>
              <a:t>SQLite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数据库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2"/>
            <a:r>
              <a:rPr lang="en-US" altLang="zh-CN" dirty="0">
                <a:latin typeface="Kai" charset="0"/>
                <a:ea typeface="Kai" charset="0"/>
                <a:cs typeface="Kai" charset="0"/>
              </a:rPr>
              <a:t>SQLite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是轻量级嵌入式内置数据库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。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存储结构化的私有数据。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ContentProvider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2"/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ContentProvider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可为数据封装，为多个应用共享。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SharedPreferences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持久化的</a:t>
            </a:r>
            <a:r>
              <a:rPr lang="en-US" altLang="zh-CN" dirty="0" smtClean="0"/>
              <a:t>Map</a:t>
            </a:r>
          </a:p>
          <a:p>
            <a:r>
              <a:rPr kumimoji="1" lang="zh-CN" altLang="en-US" dirty="0" smtClean="0"/>
              <a:t>以「键</a:t>
            </a:r>
            <a:r>
              <a:rPr kumimoji="1" lang="en-US" altLang="zh-CN" dirty="0" smtClean="0"/>
              <a:t>-</a:t>
            </a:r>
            <a:r>
              <a:rPr kumimoji="1" lang="zh-CN" altLang="en-US" dirty="0" smtClean="0"/>
              <a:t>值对」的方式保存简单数据类型</a:t>
            </a:r>
            <a:endParaRPr kumimoji="1" lang="en-US" altLang="zh-CN" dirty="0" smtClean="0"/>
          </a:p>
          <a:p>
            <a:r>
              <a:rPr lang="zh-CN" altLang="en-US" dirty="0" smtClean="0"/>
              <a:t>跨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自动持久化数据</a:t>
            </a:r>
            <a:endParaRPr lang="en-US" altLang="zh-CN" dirty="0" smtClean="0"/>
          </a:p>
          <a:p>
            <a:r>
              <a:rPr kumimoji="1" lang="zh-CN" altLang="en-US" dirty="0" smtClean="0"/>
              <a:t>通常用来保存需要长期存储的应用程序数据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用户名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常用的</a:t>
            </a:r>
            <a:r>
              <a:rPr lang="en-US" altLang="zh-CN" dirty="0" err="1" smtClean="0"/>
              <a:t>w</a:t>
            </a:r>
            <a:r>
              <a:rPr kumimoji="1" lang="en-US" altLang="zh-CN" dirty="0" err="1" smtClean="0"/>
              <a:t>ifi</a:t>
            </a:r>
            <a:r>
              <a:rPr kumimoji="1" lang="zh-CN" altLang="en-US" dirty="0" smtClean="0"/>
              <a:t>网络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用户自定义数据</a:t>
            </a:r>
            <a:endParaRPr kumimoji="1" lang="en-US" altLang="zh-CN" dirty="0" smtClean="0"/>
          </a:p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目录：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/data/data/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＜包＞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/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shared_prefs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/***.xml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33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的</a:t>
            </a:r>
            <a:r>
              <a:rPr kumimoji="1" lang="en-US" altLang="zh-CN" dirty="0" err="1" smtClean="0"/>
              <a:t>SharedPreferences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要获取与特定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相关联的</a:t>
            </a:r>
            <a:r>
              <a:rPr lang="en-US" altLang="zh-CN" dirty="0" err="1" smtClean="0"/>
              <a:t>SharedPreferences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r>
              <a:rPr kumimoji="1" lang="en-US" altLang="zh-CN" dirty="0" err="1" smtClean="0"/>
              <a:t>Activity.getPreferences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int</a:t>
            </a:r>
            <a:r>
              <a:rPr kumimoji="1" lang="en-US" altLang="zh-CN" dirty="0" smtClean="0"/>
              <a:t> mode)</a:t>
            </a:r>
          </a:p>
          <a:p>
            <a:pPr lvl="1"/>
            <a:r>
              <a:rPr lang="en-US" altLang="zh-CN" dirty="0" smtClean="0"/>
              <a:t>MODE_PRIVATE: </a:t>
            </a:r>
            <a:r>
              <a:rPr lang="zh-CN" altLang="en-US" dirty="0" smtClean="0"/>
              <a:t>缺省，创建的文件只有当前程序能访问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MODE_WORLD_READABLE</a:t>
            </a:r>
          </a:p>
          <a:p>
            <a:pPr lvl="1"/>
            <a:r>
              <a:rPr lang="en-US" altLang="zh-CN" dirty="0" smtClean="0"/>
              <a:t>MODE_WORLD_WRITEABLE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245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命名的</a:t>
            </a:r>
            <a:r>
              <a:rPr kumimoji="1" lang="en-US" altLang="zh-CN" dirty="0" err="1" smtClean="0"/>
              <a:t>SharedPreferences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Context.getSharedPreferences</a:t>
            </a:r>
            <a:r>
              <a:rPr kumimoji="1" lang="en-US" altLang="zh-CN" dirty="0" smtClean="0"/>
              <a:t>(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</a:t>
            </a:r>
            <a:r>
              <a:rPr lang="en-US" altLang="zh-CN" dirty="0"/>
              <a:t>	</a:t>
            </a:r>
            <a:r>
              <a:rPr kumimoji="1" lang="en-US" altLang="zh-CN" dirty="0" smtClean="0"/>
              <a:t>String name, </a:t>
            </a:r>
            <a:r>
              <a:rPr kumimoji="1" lang="en-US" altLang="zh-CN" dirty="0" err="1" smtClean="0"/>
              <a:t>int</a:t>
            </a:r>
            <a:r>
              <a:rPr kumimoji="1" lang="en-US" altLang="zh-CN" dirty="0" smtClean="0"/>
              <a:t> mode)</a:t>
            </a:r>
          </a:p>
          <a:p>
            <a:pPr lvl="1"/>
            <a:r>
              <a:rPr lang="en-US" altLang="zh-CN" dirty="0" smtClean="0"/>
              <a:t>name: </a:t>
            </a:r>
            <a:r>
              <a:rPr lang="en-US" altLang="zh-CN" dirty="0" err="1" smtClean="0"/>
              <a:t>SharedPreferences</a:t>
            </a:r>
            <a:r>
              <a:rPr lang="zh-CN" altLang="en-US" dirty="0" smtClean="0"/>
              <a:t>文件名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mode</a:t>
            </a:r>
            <a:r>
              <a:rPr lang="en-US" altLang="zh-CN" dirty="0" smtClean="0"/>
              <a:t>: </a:t>
            </a:r>
            <a:r>
              <a:rPr lang="zh-CN" altLang="en-US" dirty="0" smtClean="0"/>
              <a:t>模式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49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向</a:t>
            </a:r>
            <a:r>
              <a:rPr kumimoji="1" lang="en-US" altLang="zh-CN" dirty="0" err="1" smtClean="0"/>
              <a:t>SharedPreferences</a:t>
            </a:r>
            <a:r>
              <a:rPr kumimoji="1" lang="zh-CN" altLang="en-US" dirty="0" smtClean="0"/>
              <a:t>写数据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调用</a:t>
            </a:r>
            <a:r>
              <a:rPr kumimoji="1" lang="en-US" altLang="zh-CN" dirty="0" err="1" smtClean="0"/>
              <a:t>SharedPreferences.edit</a:t>
            </a:r>
            <a:r>
              <a:rPr kumimoji="1" lang="en-US" altLang="zh-CN" dirty="0" smtClean="0"/>
              <a:t>()</a:t>
            </a:r>
          </a:p>
          <a:p>
            <a:r>
              <a:rPr lang="zh-CN" altLang="en-US" dirty="0" smtClean="0"/>
              <a:t>返回一个</a:t>
            </a:r>
            <a:r>
              <a:rPr lang="en-US" altLang="zh-CN" dirty="0" err="1" smtClean="0"/>
              <a:t>SharedPreferences.Editor</a:t>
            </a:r>
            <a:r>
              <a:rPr lang="zh-CN" altLang="en-US" dirty="0" smtClean="0"/>
              <a:t>实例</a:t>
            </a:r>
            <a:endParaRPr lang="en-US" altLang="zh-CN" dirty="0" smtClean="0"/>
          </a:p>
          <a:p>
            <a:pPr lvl="1"/>
            <a:r>
              <a:rPr lang="en-US" altLang="zh-CN" dirty="0" err="1"/>
              <a:t>p</a:t>
            </a:r>
            <a:r>
              <a:rPr kumimoji="1" lang="en-US" altLang="zh-CN" dirty="0" err="1" smtClean="0"/>
              <a:t>utInt</a:t>
            </a:r>
            <a:r>
              <a:rPr kumimoji="1" lang="en-US" altLang="zh-CN" dirty="0" smtClean="0"/>
              <a:t>(String key, </a:t>
            </a:r>
            <a:r>
              <a:rPr kumimoji="1" lang="en-US" altLang="zh-CN" dirty="0" err="1" smtClean="0"/>
              <a:t>int</a:t>
            </a:r>
            <a:r>
              <a:rPr kumimoji="1" lang="en-US" altLang="zh-CN" dirty="0" smtClean="0"/>
              <a:t> value)</a:t>
            </a:r>
          </a:p>
          <a:p>
            <a:pPr lvl="1"/>
            <a:r>
              <a:rPr lang="en-US" altLang="zh-CN" dirty="0" err="1" smtClean="0"/>
              <a:t>putString</a:t>
            </a:r>
            <a:r>
              <a:rPr lang="en-US" altLang="zh-CN" dirty="0" smtClean="0"/>
              <a:t>(String key,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value)</a:t>
            </a:r>
          </a:p>
          <a:p>
            <a:pPr lvl="1"/>
            <a:r>
              <a:rPr kumimoji="1" lang="en-US" altLang="zh-CN" dirty="0" smtClean="0"/>
              <a:t>remove(String key)</a:t>
            </a:r>
          </a:p>
          <a:p>
            <a:r>
              <a:rPr lang="zh-CN" altLang="en-US" dirty="0" smtClean="0"/>
              <a:t>提交修改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SharedPreferences.Editor.commit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3487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读取</a:t>
            </a:r>
            <a:r>
              <a:rPr kumimoji="1" lang="en-US" altLang="zh-CN" dirty="0" err="1" smtClean="0"/>
              <a:t>SharedPreferences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使用</a:t>
            </a:r>
            <a:r>
              <a:rPr lang="en-US" altLang="zh-CN" dirty="0" err="1" smtClean="0"/>
              <a:t>SharedPreferences</a:t>
            </a:r>
            <a:r>
              <a:rPr lang="zh-CN" altLang="en-US" dirty="0" smtClean="0"/>
              <a:t>的方法读取数据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getAll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 err="1" smtClean="0"/>
              <a:t>getBoolean</a:t>
            </a:r>
            <a:r>
              <a:rPr lang="en-US" altLang="zh-CN" dirty="0" smtClean="0"/>
              <a:t>(String key, 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defValue</a:t>
            </a:r>
            <a:r>
              <a:rPr lang="en-US" altLang="zh-CN" dirty="0" smtClean="0"/>
              <a:t>)</a:t>
            </a:r>
          </a:p>
          <a:p>
            <a:pPr lvl="1"/>
            <a:r>
              <a:rPr kumimoji="1" lang="en-US" altLang="zh-CN" dirty="0" err="1" smtClean="0"/>
              <a:t>getString</a:t>
            </a:r>
            <a:r>
              <a:rPr kumimoji="1" lang="en-US" altLang="zh-CN" dirty="0" smtClean="0"/>
              <a:t>(String key, String </a:t>
            </a:r>
            <a:r>
              <a:rPr kumimoji="1" lang="en-US" altLang="zh-CN" dirty="0" err="1" smtClean="0"/>
              <a:t>defValue</a:t>
            </a:r>
            <a:r>
              <a:rPr kumimoji="1" lang="en-US" altLang="zh-CN" dirty="0" smtClean="0"/>
              <a:t>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2454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清除</a:t>
            </a:r>
            <a:r>
              <a:rPr kumimoji="1" lang="en-US" altLang="zh-CN" dirty="0" err="1" smtClean="0"/>
              <a:t>SharedPreferences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Editor.clear</a:t>
            </a:r>
            <a:r>
              <a:rPr lang="en-US" altLang="zh-CN" dirty="0" smtClean="0"/>
              <a:t>().commit()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931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85349" y="2373381"/>
            <a:ext cx="7543800" cy="1295400"/>
          </a:xfrm>
        </p:spPr>
        <p:txBody>
          <a:bodyPr/>
          <a:lstStyle/>
          <a:p>
            <a:pPr algn="ctr"/>
            <a:r>
              <a:rPr kumimoji="1" lang="zh-CN" altLang="en-US" dirty="0" smtClean="0"/>
              <a:t>示例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17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文件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该类表示由路径名表示的文件系统中的一个对象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内部存储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外部存储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内部存储通常用来存放小的程序私有数据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外部存储通常用来存放大的非私有数据集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采用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java.io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.*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库所提供有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I/O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接口，读写文件。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文件的</a:t>
            </a:r>
            <a:r>
              <a:rPr kumimoji="1" lang="en-US" altLang="zh-CN" dirty="0" smtClean="0"/>
              <a:t>API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FileOutputStream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OpenFileOutput</a:t>
            </a:r>
            <a:r>
              <a:rPr lang="en-US" altLang="zh-CN" dirty="0" smtClean="0"/>
              <a:t>(String name,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mode)</a:t>
            </a:r>
          </a:p>
          <a:p>
            <a:pPr lvl="1"/>
            <a:r>
              <a:rPr kumimoji="1" lang="zh-CN" altLang="en-US" dirty="0" smtClean="0"/>
              <a:t>打开私有文件进行写入。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如果文件不存在先创建。</a:t>
            </a:r>
            <a:endParaRPr kumimoji="1" lang="en-US" altLang="zh-CN" dirty="0" smtClean="0"/>
          </a:p>
          <a:p>
            <a:r>
              <a:rPr lang="en-US" altLang="zh-CN" dirty="0" err="1" smtClean="0"/>
              <a:t>FileInputStream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OpenFileInput</a:t>
            </a:r>
            <a:r>
              <a:rPr kumimoji="1" lang="en-US" altLang="zh-CN" dirty="0" smtClean="0"/>
              <a:t>(String name)</a:t>
            </a:r>
          </a:p>
          <a:p>
            <a:pPr lvl="1"/>
            <a:r>
              <a:rPr kumimoji="1" lang="zh-CN" altLang="en-US" dirty="0" smtClean="0"/>
              <a:t>打开私有文件进行读取</a:t>
            </a:r>
            <a:endParaRPr kumimoji="1" lang="en-US" altLang="zh-CN" dirty="0" smtClean="0"/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当文件不存在时抛出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FileNotFoundException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 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异常</a:t>
            </a:r>
            <a:endParaRPr kumimoji="1" lang="en-US" altLang="zh-CN" dirty="0" smtClean="0"/>
          </a:p>
          <a:p>
            <a:r>
              <a:rPr lang="zh-CN" altLang="en-US" dirty="0" smtClean="0"/>
              <a:t>参见文档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6305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使用外部内存文件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可移动设备会在没有警告的情况下引起文件出现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消失</a:t>
            </a:r>
            <a:endParaRPr kumimoji="1" lang="en-US" altLang="zh-CN" dirty="0" smtClean="0"/>
          </a:p>
          <a:p>
            <a:r>
              <a:rPr lang="zh-CN" altLang="en-US" dirty="0" smtClean="0"/>
              <a:t>检查设备状态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String </a:t>
            </a:r>
            <a:r>
              <a:rPr kumimoji="1" lang="en-US" altLang="zh-CN" dirty="0" err="1" smtClean="0"/>
              <a:t>Environment.getExternalStorageState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 smtClean="0"/>
              <a:t>MEDIA_MOUNTED: </a:t>
            </a:r>
            <a:r>
              <a:rPr lang="zh-CN" altLang="en-US" dirty="0" smtClean="0"/>
              <a:t>已装载，可读写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MEDIA_MOUNTED_READ_ONLY: </a:t>
            </a:r>
            <a:r>
              <a:rPr kumimoji="1" lang="zh-CN" altLang="en-US" dirty="0" smtClean="0"/>
              <a:t>已装载，只读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MEDIA_REMOVED: </a:t>
            </a:r>
            <a:r>
              <a:rPr lang="zh-CN" altLang="en-US" dirty="0" smtClean="0"/>
              <a:t>没有装载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830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使用外部存储文件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添加权限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&lt;use-permission </a:t>
            </a:r>
            <a:r>
              <a:rPr kumimoji="1" lang="en-US" altLang="zh-CN" dirty="0" err="1" smtClean="0"/>
              <a:t>android:name</a:t>
            </a:r>
            <a:r>
              <a:rPr kumimoji="1" lang="en-US" altLang="zh-CN" dirty="0" smtClean="0"/>
              <a:t>=“</a:t>
            </a:r>
            <a:r>
              <a:rPr kumimoji="1" lang="en-US" altLang="zh-CN" dirty="0" err="1" smtClean="0"/>
              <a:t>android.permission.WRITE_EXTERNAL_STORAGE</a:t>
            </a:r>
            <a:r>
              <a:rPr kumimoji="1" lang="en-US" altLang="zh-CN" dirty="0" smtClean="0"/>
              <a:t>”/&gt;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582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Cache</a:t>
            </a:r>
            <a:r>
              <a:rPr kumimoji="1" lang="zh-CN" altLang="en-US" dirty="0" smtClean="0"/>
              <a:t>文件（临时文件）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当可用空间不够时可能会被删除</a:t>
            </a:r>
            <a:endParaRPr kumimoji="1" lang="en-US" altLang="zh-CN" dirty="0" smtClean="0"/>
          </a:p>
          <a:p>
            <a:r>
              <a:rPr lang="zh-CN" altLang="en-US" dirty="0" smtClean="0"/>
              <a:t>当应用程序卸载时会被删除</a:t>
            </a:r>
            <a:endParaRPr lang="en-US" altLang="zh-CN" dirty="0" smtClean="0"/>
          </a:p>
          <a:p>
            <a:r>
              <a:rPr kumimoji="1" lang="en-US" altLang="zh-CN" dirty="0" smtClean="0"/>
              <a:t>File </a:t>
            </a:r>
            <a:r>
              <a:rPr kumimoji="1" lang="en-US" altLang="zh-CN" dirty="0" err="1" smtClean="0"/>
              <a:t>Context.getCacheDir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获取一个该程序临时目录的绝对路径，可用于存放临时文件</a:t>
            </a:r>
            <a:endParaRPr lang="en-US" altLang="zh-CN" dirty="0" smtClean="0"/>
          </a:p>
          <a:p>
            <a:r>
              <a:rPr kumimoji="1" lang="en-US" altLang="zh-CN" dirty="0" err="1" smtClean="0"/>
              <a:t>Context.getExternalCacheDir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返回外部存储中存放临时文件的一个目录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252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读取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资源中的静态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文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件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Kai" charset="0"/>
                <a:ea typeface="Kai" charset="0"/>
                <a:cs typeface="Kai" charset="0"/>
              </a:rPr>
              <a:t>要打开打包在应用程序中的静态文件，使用</a:t>
            </a:r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Resources.openRawResource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(</a:t>
            </a:r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R.raw.mydatafile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)</a:t>
            </a:r>
          </a:p>
          <a:p>
            <a:r>
              <a:rPr lang="zh-CN" altLang="en-US" dirty="0">
                <a:latin typeface="Kai" charset="0"/>
                <a:ea typeface="Kai" charset="0"/>
                <a:cs typeface="Kai" charset="0"/>
              </a:rPr>
              <a:t>该文件必须放在文件夹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res/raw/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中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InputStream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 in = 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this.getResources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().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openRawResource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(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R.raw.my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);</a:t>
            </a:r>
          </a:p>
          <a:p>
            <a:pPr marL="344487" lvl="1" indent="0">
              <a:buNone/>
            </a:pP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   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in.close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();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733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85349" y="2373381"/>
            <a:ext cx="7543800" cy="1295400"/>
          </a:xfrm>
        </p:spPr>
        <p:txBody>
          <a:bodyPr/>
          <a:lstStyle/>
          <a:p>
            <a:pPr algn="ctr"/>
            <a:r>
              <a:rPr kumimoji="1" lang="zh-CN" altLang="en-US" dirty="0" smtClean="0"/>
              <a:t>示例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001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SQLite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提供内存数据库</a:t>
            </a:r>
            <a:endParaRPr lang="en-US" altLang="zh-CN" dirty="0" smtClean="0"/>
          </a:p>
          <a:p>
            <a:r>
              <a:rPr kumimoji="1" lang="zh-CN" altLang="en-US" dirty="0" smtClean="0"/>
              <a:t>专门设计，占用内存很小（</a:t>
            </a:r>
            <a:r>
              <a:rPr kumimoji="1" lang="en-US" altLang="zh-CN" dirty="0" smtClean="0"/>
              <a:t>300kB)</a:t>
            </a:r>
          </a:p>
          <a:p>
            <a:r>
              <a:rPr lang="zh-CN" altLang="en-US" dirty="0" smtClean="0"/>
              <a:t>实现了大部分</a:t>
            </a:r>
            <a:r>
              <a:rPr lang="en-US" altLang="zh-CN" dirty="0" smtClean="0"/>
              <a:t>SQL92</a:t>
            </a:r>
          </a:p>
          <a:p>
            <a:r>
              <a:rPr lang="zh-CN" altLang="en-US" dirty="0" smtClean="0"/>
              <a:t>支持</a:t>
            </a:r>
            <a:r>
              <a:rPr lang="en-US" altLang="zh-CN" dirty="0" smtClean="0"/>
              <a:t>ACID</a:t>
            </a:r>
            <a:r>
              <a:rPr lang="zh-CN" altLang="en-US" dirty="0" smtClean="0"/>
              <a:t>事务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Atomic, Consistent, Isolated &amp; Durable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400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SQLite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在某些情况下</a:t>
            </a:r>
            <a:r>
              <a:rPr lang="zh-CN" altLang="en-US" dirty="0"/>
              <a:t>，文件不是有效的</a:t>
            </a:r>
          </a:p>
          <a:p>
            <a:pPr lvl="1">
              <a:lnSpc>
                <a:spcPct val="80000"/>
              </a:lnSpc>
            </a:pPr>
            <a:r>
              <a:rPr lang="zh-CN" altLang="en-US" dirty="0"/>
              <a:t>如果多线程数据访问是相关</a:t>
            </a:r>
            <a:r>
              <a:rPr lang="zh-CN" altLang="en-US" dirty="0"/>
              <a:t>的</a:t>
            </a:r>
          </a:p>
          <a:p>
            <a:pPr lvl="1">
              <a:lnSpc>
                <a:spcPct val="80000"/>
              </a:lnSpc>
            </a:pPr>
            <a:r>
              <a:rPr lang="zh-CN" altLang="en-US" dirty="0"/>
              <a:t>如果应用程序处理可能变化</a:t>
            </a:r>
            <a:r>
              <a:rPr lang="zh-CN" altLang="en-US" dirty="0"/>
              <a:t>的复杂数据结构</a:t>
            </a:r>
          </a:p>
          <a:p>
            <a:pPr lvl="1">
              <a:lnSpc>
                <a:spcPct val="80000"/>
              </a:lnSpc>
            </a:pPr>
            <a:r>
              <a:rPr lang="zh-CN" altLang="en-US" dirty="0"/>
              <a:t>等</a:t>
            </a:r>
            <a:r>
              <a:rPr lang="zh-CN" altLang="en-US" dirty="0"/>
              <a:t>等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内置</a:t>
            </a:r>
            <a:r>
              <a:rPr lang="en-US" altLang="zh-CN" dirty="0"/>
              <a:t>SQLite</a:t>
            </a:r>
            <a:r>
              <a:rPr lang="en-US" altLang="zh-CN" dirty="0"/>
              <a:t> </a:t>
            </a:r>
            <a:r>
              <a:rPr lang="zh-CN" altLang="en-US" dirty="0"/>
              <a:t>数据库支持</a:t>
            </a:r>
          </a:p>
          <a:p>
            <a:pPr lvl="1">
              <a:lnSpc>
                <a:spcPct val="80000"/>
              </a:lnSpc>
            </a:pPr>
            <a:r>
              <a:rPr lang="zh-CN" altLang="en-US" dirty="0"/>
              <a:t>数据库对于创建它们</a:t>
            </a:r>
            <a:r>
              <a:rPr lang="zh-CN" altLang="en-US" dirty="0" smtClean="0"/>
              <a:t>的包是</a:t>
            </a:r>
            <a:r>
              <a:rPr lang="zh-CN" altLang="en-US" dirty="0"/>
              <a:t>私有的</a:t>
            </a:r>
          </a:p>
          <a:p>
            <a:pPr lvl="1">
              <a:lnSpc>
                <a:spcPct val="80000"/>
              </a:lnSpc>
            </a:pPr>
            <a:r>
              <a:rPr lang="zh-CN" altLang="en-US" dirty="0"/>
              <a:t>数据库不应该</a:t>
            </a:r>
            <a:r>
              <a:rPr lang="zh-CN" altLang="en-US" dirty="0"/>
              <a:t>用来存贮文件</a:t>
            </a:r>
          </a:p>
          <a:p>
            <a:pPr>
              <a:lnSpc>
                <a:spcPct val="80000"/>
              </a:lnSpc>
            </a:pPr>
            <a:endParaRPr lang="en-US" altLang="zh-CN" sz="2000" dirty="0">
              <a:latin typeface="Kai" charset="0"/>
              <a:ea typeface="Kai" charset="0"/>
              <a:cs typeface="Ka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227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数据库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SQLiteDatabase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: 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封装了一些操作数据库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的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API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（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CRUD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）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添加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(Create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)</a:t>
            </a: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查询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(Retrieve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)</a:t>
            </a: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更新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(Update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)</a:t>
            </a: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删除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(Delete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)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Kai" charset="0"/>
                <a:ea typeface="Kai" charset="0"/>
                <a:cs typeface="Kai" charset="0"/>
              </a:rPr>
              <a:t>创建数据库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SQLiteDatabase.create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创建内存数据库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Context.openOrCreateDatabase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打开一个私有的数据库，如果数据库不存在则创建一个新的数据库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推荐方法：继承自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SQLiteOpenHelper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Kai" charset="0"/>
                <a:ea typeface="Kai" charset="0"/>
                <a:cs typeface="Kai" charset="0"/>
              </a:rPr>
              <a:t>SQLiteOpenHelper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Kai" charset="0"/>
                <a:ea typeface="Kai" charset="0"/>
                <a:cs typeface="Kai" charset="0"/>
              </a:rPr>
              <a:t>管理数据库的创建和升级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dirty="0">
                <a:latin typeface="Kai" charset="0"/>
                <a:ea typeface="Kai" charset="0"/>
                <a:cs typeface="Kai" charset="0"/>
              </a:rPr>
              <a:t>用户创建一个该类的子类，重写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:</a:t>
            </a:r>
          </a:p>
          <a:p>
            <a:pPr lvl="1"/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onCreate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onUpgrade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onOpen</a:t>
            </a:r>
            <a:r>
              <a:rPr lang="zh-CN" dirty="0">
                <a:latin typeface="Kai" charset="0"/>
                <a:ea typeface="Kai" charset="0"/>
                <a:cs typeface="Kai" charset="0"/>
              </a:rPr>
              <a:t>（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可选）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db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 = </a:t>
            </a:r>
            <a:r>
              <a:rPr lang="en-US" altLang="zh-CN" dirty="0" err="1">
                <a:latin typeface="Kai" charset="0"/>
                <a:ea typeface="Kai" charset="0"/>
                <a:cs typeface="Kai" charset="0"/>
              </a:rPr>
              <a:t>dbhelper.getWritableDatabase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();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使用数据库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(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SQLiteDatabase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)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用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SQLiteOpenHelper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方法打开、返回底层数据库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对底层数据库执行相应的操作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使用数据库</a:t>
            </a:r>
            <a:r>
              <a:rPr lang="en-US" altLang="zh-CN" dirty="0" smtClean="0">
                <a:latin typeface="Kai" charset="0"/>
                <a:ea typeface="Kai" charset="0"/>
                <a:cs typeface="Kai" charset="0"/>
              </a:rPr>
              <a:t>(</a:t>
            </a:r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SQLiteDatabase</a:t>
            </a:r>
            <a:r>
              <a:rPr lang="en-US" altLang="zh-CN" smtClean="0">
                <a:latin typeface="Kai" charset="0"/>
                <a:ea typeface="Kai" charset="0"/>
                <a:cs typeface="Kai" charset="0"/>
              </a:rPr>
              <a:t>)</a:t>
            </a: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execSQL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可以执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行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insert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、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delete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、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update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和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CREATE TABLE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之类有更改行为的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SQL</a:t>
            </a:r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语句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marL="639762" lvl="2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altLang="zh-CN" sz="1700" dirty="0" smtClean="0">
              <a:latin typeface="Consolas"/>
              <a:cs typeface="Consolas"/>
            </a:endParaRPr>
          </a:p>
          <a:p>
            <a:pPr marL="639762" lvl="2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zh-CN" sz="1700" dirty="0" err="1" smtClean="0">
                <a:latin typeface="Consolas"/>
                <a:cs typeface="Consolas"/>
              </a:rPr>
              <a:t>SQLiteDatabase</a:t>
            </a:r>
            <a:r>
              <a:rPr kumimoji="0" lang="en-US" altLang="zh-CN" sz="1700" dirty="0" smtClean="0">
                <a:latin typeface="Consolas"/>
                <a:cs typeface="Consolas"/>
              </a:rPr>
              <a:t> </a:t>
            </a:r>
            <a:r>
              <a:rPr kumimoji="0" lang="en-US" altLang="zh-CN" sz="1700" dirty="0" err="1">
                <a:latin typeface="Consolas"/>
                <a:cs typeface="Consolas"/>
              </a:rPr>
              <a:t>db</a:t>
            </a:r>
            <a:r>
              <a:rPr kumimoji="0" lang="en-US" altLang="zh-CN" sz="1700" dirty="0">
                <a:latin typeface="Consolas"/>
                <a:cs typeface="Consolas"/>
              </a:rPr>
              <a:t> = ....;</a:t>
            </a:r>
          </a:p>
          <a:p>
            <a:pPr marL="639762" lvl="2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zh-CN" sz="1700" dirty="0" err="1">
                <a:latin typeface="Consolas"/>
                <a:cs typeface="Consolas"/>
              </a:rPr>
              <a:t>db.execSQL</a:t>
            </a:r>
            <a:r>
              <a:rPr kumimoji="0" lang="en-US" altLang="zh-CN" sz="1700" dirty="0" smtClean="0">
                <a:latin typeface="Consolas"/>
                <a:cs typeface="Consolas"/>
              </a:rPr>
              <a:t>(“insert </a:t>
            </a:r>
            <a:r>
              <a:rPr kumimoji="0" lang="en-US" altLang="zh-CN" sz="1700" dirty="0">
                <a:latin typeface="Consolas"/>
                <a:cs typeface="Consolas"/>
              </a:rPr>
              <a:t>into person(name, age) values</a:t>
            </a:r>
            <a:r>
              <a:rPr kumimoji="0" lang="en-US" altLang="zh-CN" sz="1700" dirty="0" smtClean="0">
                <a:latin typeface="Consolas"/>
                <a:cs typeface="Consolas"/>
              </a:rPr>
              <a:t>(‘Tom'</a:t>
            </a:r>
            <a:r>
              <a:rPr kumimoji="0" lang="en-US" altLang="zh-CN" sz="1700" dirty="0">
                <a:latin typeface="Consolas"/>
                <a:cs typeface="Consolas"/>
              </a:rPr>
              <a:t>, </a:t>
            </a:r>
            <a:r>
              <a:rPr kumimoji="0" lang="en-US" altLang="zh-CN" sz="1700" dirty="0" smtClean="0">
                <a:latin typeface="Consolas"/>
                <a:cs typeface="Consolas"/>
              </a:rPr>
              <a:t>20)</a:t>
            </a:r>
            <a:r>
              <a:rPr kumimoji="0" lang="en-US" altLang="zh-CN" sz="1700" dirty="0">
                <a:latin typeface="Consolas"/>
                <a:cs typeface="Consolas"/>
              </a:rPr>
              <a:t>");</a:t>
            </a:r>
          </a:p>
          <a:p>
            <a:pPr marL="639762" lvl="2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zh-CN" sz="1700" dirty="0" err="1">
                <a:latin typeface="Consolas"/>
                <a:cs typeface="Consolas"/>
              </a:rPr>
              <a:t>db.close</a:t>
            </a:r>
            <a:r>
              <a:rPr kumimoji="0" lang="en-US" altLang="zh-CN" sz="1700" dirty="0">
                <a:latin typeface="Consolas"/>
                <a:cs typeface="Consolas"/>
              </a:rPr>
              <a:t>()</a:t>
            </a:r>
            <a:r>
              <a:rPr kumimoji="0" lang="en-US" altLang="zh-CN" sz="1700" dirty="0" smtClean="0">
                <a:latin typeface="Consolas"/>
                <a:cs typeface="Consolas"/>
              </a:rPr>
              <a:t>;</a:t>
            </a:r>
            <a:endParaRPr lang="en-US" altLang="zh-CN" sz="1700" dirty="0" smtClean="0">
              <a:latin typeface="Consolas"/>
              <a:ea typeface="Kai" charset="0"/>
              <a:cs typeface="Consolas"/>
            </a:endParaRPr>
          </a:p>
          <a:p>
            <a:r>
              <a:rPr lang="en-US" altLang="zh-CN" dirty="0" err="1" smtClean="0">
                <a:latin typeface="Kai" charset="0"/>
                <a:ea typeface="Kai" charset="0"/>
                <a:cs typeface="Kai" charset="0"/>
              </a:rPr>
              <a:t>rawQuery</a:t>
            </a:r>
            <a:endParaRPr lang="en-US" altLang="zh-CN" dirty="0" smtClean="0">
              <a:latin typeface="Kai" charset="0"/>
              <a:ea typeface="Kai" charset="0"/>
              <a:cs typeface="Kai" charset="0"/>
            </a:endParaRPr>
          </a:p>
          <a:p>
            <a:pPr lvl="1"/>
            <a:r>
              <a:rPr lang="zh-CN" altLang="en-US" dirty="0" smtClean="0">
                <a:latin typeface="Kai" charset="0"/>
                <a:ea typeface="Kai" charset="0"/>
                <a:cs typeface="Kai" charset="0"/>
              </a:rPr>
              <a:t>可以执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行</a:t>
            </a:r>
            <a:r>
              <a:rPr lang="en-US" altLang="zh-CN" dirty="0">
                <a:latin typeface="Kai" charset="0"/>
                <a:ea typeface="Kai" charset="0"/>
                <a:cs typeface="Kai" charset="0"/>
              </a:rPr>
              <a:t>select</a:t>
            </a:r>
            <a:r>
              <a:rPr lang="zh-CN" altLang="en-US" dirty="0">
                <a:latin typeface="Kai" charset="0"/>
                <a:ea typeface="Kai" charset="0"/>
                <a:cs typeface="Kai" charset="0"/>
              </a:rPr>
              <a:t>语句。</a:t>
            </a:r>
            <a:endParaRPr lang="en-US" altLang="zh-CN" dirty="0">
              <a:latin typeface="Kai" charset="0"/>
              <a:ea typeface="Kai" charset="0"/>
              <a:cs typeface="Kai" charset="0"/>
            </a:endParaRPr>
          </a:p>
          <a:p>
            <a:pPr lvl="1"/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90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85349" y="2373381"/>
            <a:ext cx="7543800" cy="1295400"/>
          </a:xfrm>
        </p:spPr>
        <p:txBody>
          <a:bodyPr/>
          <a:lstStyle/>
          <a:p>
            <a:pPr algn="ctr"/>
            <a:r>
              <a:rPr kumimoji="1" lang="zh-CN" altLang="en-US" dirty="0" smtClean="0"/>
              <a:t>示例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0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ContentProvider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表示结构化的数据集</a:t>
            </a:r>
            <a:endParaRPr lang="en-US" altLang="zh-CN" dirty="0" smtClean="0"/>
          </a:p>
          <a:p>
            <a:r>
              <a:rPr kumimoji="1" lang="zh-CN" altLang="en-US" dirty="0" smtClean="0"/>
              <a:t>对数据集进行包装</a:t>
            </a:r>
            <a:endParaRPr kumimoji="1" lang="en-US" altLang="zh-CN" dirty="0" smtClean="0"/>
          </a:p>
          <a:p>
            <a:r>
              <a:rPr lang="zh-CN" altLang="en-US" dirty="0" smtClean="0"/>
              <a:t>对数据访问添加权限</a:t>
            </a:r>
            <a:endParaRPr lang="en-US" altLang="zh-CN" dirty="0" smtClean="0"/>
          </a:p>
          <a:p>
            <a:r>
              <a:rPr kumimoji="1" lang="zh-CN" altLang="en-US" dirty="0" smtClean="0"/>
              <a:t>用于程序间的数据共享</a:t>
            </a:r>
            <a:endParaRPr kumimoji="1" lang="en-US" altLang="zh-CN" dirty="0" smtClean="0"/>
          </a:p>
          <a:p>
            <a:r>
              <a:rPr lang="zh-CN" altLang="en-US" dirty="0" smtClean="0"/>
              <a:t>客户端通过</a:t>
            </a:r>
            <a:r>
              <a:rPr lang="en-US" altLang="zh-CN" dirty="0" err="1" smtClean="0"/>
              <a:t>ContentResolver</a:t>
            </a:r>
            <a:r>
              <a:rPr lang="zh-CN" altLang="en-US" dirty="0" smtClean="0"/>
              <a:t>访问</a:t>
            </a:r>
            <a:r>
              <a:rPr lang="en-US" altLang="zh-CN" dirty="0" err="1" smtClean="0"/>
              <a:t>ContentProvider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42111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ContentResolver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通过数据库形式的接口对数据进行读取、写入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查询、插入、更新、删除</a:t>
            </a:r>
            <a:r>
              <a:rPr kumimoji="1" lang="en-US" altLang="zh-CN" dirty="0" smtClean="0"/>
              <a:t>……</a:t>
            </a:r>
          </a:p>
          <a:p>
            <a:r>
              <a:rPr lang="zh-CN" altLang="en-US" dirty="0" smtClean="0"/>
              <a:t>提供额外的服务，比如变更通知</a:t>
            </a:r>
            <a:endParaRPr lang="en-US" altLang="zh-CN" dirty="0" smtClean="0"/>
          </a:p>
          <a:p>
            <a:r>
              <a:rPr lang="zh-CN" altLang="en-US" dirty="0" smtClean="0"/>
              <a:t>数据模型：数据库表</a:t>
            </a:r>
            <a:endParaRPr lang="en-US" altLang="zh-CN" dirty="0" smtClean="0"/>
          </a:p>
          <a:p>
            <a:r>
              <a:rPr kumimoji="1" lang="en-US" altLang="zh-CN" dirty="0" err="1" smtClean="0"/>
              <a:t>Context.getContentResolver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30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ContentProvider</a:t>
            </a:r>
            <a:r>
              <a:rPr kumimoji="1" lang="en-US" altLang="zh-CN" dirty="0" smtClean="0"/>
              <a:t> &amp; </a:t>
            </a:r>
            <a:r>
              <a:rPr kumimoji="1" lang="en-US" altLang="zh-CN" dirty="0" err="1" smtClean="0"/>
              <a:t>ContentResolver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通过这些类，可以是运行在一个进程中的代码访问另一个进程管理的数据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7360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内置的</a:t>
            </a:r>
            <a:r>
              <a:rPr kumimoji="1" lang="en-US" altLang="zh-CN" dirty="0" err="1" smtClean="0"/>
              <a:t>ContentProvider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浏览器</a:t>
            </a:r>
            <a:r>
              <a:rPr kumimoji="1" lang="en-US" altLang="zh-CN" dirty="0" smtClean="0"/>
              <a:t> —— </a:t>
            </a:r>
            <a:r>
              <a:rPr kumimoji="1" lang="zh-CN" altLang="en-US" dirty="0" smtClean="0"/>
              <a:t>书签</a:t>
            </a:r>
            <a:r>
              <a:rPr lang="zh-CN" altLang="en-US" dirty="0" smtClean="0"/>
              <a:t>、历史等</a:t>
            </a:r>
            <a:endParaRPr lang="en-US" altLang="zh-CN" dirty="0" smtClean="0"/>
          </a:p>
          <a:p>
            <a:r>
              <a:rPr lang="zh-CN" altLang="en-US" dirty="0" smtClean="0"/>
              <a:t>通话记录</a:t>
            </a:r>
            <a:r>
              <a:rPr lang="en-US" altLang="zh-CN" dirty="0" smtClean="0"/>
              <a:t> —— </a:t>
            </a:r>
            <a:r>
              <a:rPr lang="zh-CN" altLang="en-US" dirty="0" smtClean="0"/>
              <a:t>电话的使用情况</a:t>
            </a:r>
            <a:endParaRPr lang="en-US" altLang="zh-CN" dirty="0" smtClean="0"/>
          </a:p>
          <a:p>
            <a:r>
              <a:rPr lang="zh-CN" altLang="en-US" dirty="0" smtClean="0"/>
              <a:t>通讯录</a:t>
            </a:r>
            <a:r>
              <a:rPr lang="en-US" altLang="zh-CN" dirty="0" smtClean="0"/>
              <a:t> —— </a:t>
            </a:r>
            <a:r>
              <a:rPr lang="zh-CN" altLang="en-US" dirty="0" smtClean="0"/>
              <a:t>联系人数据</a:t>
            </a:r>
            <a:endParaRPr lang="en-US" altLang="zh-CN" dirty="0" smtClean="0"/>
          </a:p>
          <a:p>
            <a:r>
              <a:rPr kumimoji="1" lang="zh-CN" altLang="en-US" dirty="0" smtClean="0"/>
              <a:t>媒体</a:t>
            </a:r>
            <a:r>
              <a:rPr kumimoji="1" lang="en-US" altLang="zh-CN" dirty="0" smtClean="0"/>
              <a:t> —— </a:t>
            </a:r>
            <a:r>
              <a:rPr kumimoji="1" lang="zh-CN" altLang="en-US" dirty="0" smtClean="0"/>
              <a:t>媒体数据库</a:t>
            </a:r>
            <a:endParaRPr kumimoji="1" lang="en-US" altLang="zh-CN" dirty="0" smtClean="0"/>
          </a:p>
          <a:p>
            <a:r>
              <a:rPr lang="zh-CN" altLang="en-US" dirty="0" smtClean="0"/>
              <a:t>用户词典</a:t>
            </a:r>
            <a:r>
              <a:rPr lang="en-US" altLang="zh-CN" dirty="0" smtClean="0"/>
              <a:t> —— </a:t>
            </a:r>
            <a:r>
              <a:rPr lang="zh-CN" altLang="en-US" dirty="0" smtClean="0"/>
              <a:t>用于预测拼写的数据库</a:t>
            </a:r>
            <a:endParaRPr lang="en-US" altLang="zh-CN" dirty="0" smtClean="0"/>
          </a:p>
          <a:p>
            <a:r>
              <a:rPr kumimoji="1" lang="zh-CN" altLang="en-US" dirty="0" smtClean="0"/>
              <a:t>更多</a:t>
            </a:r>
            <a:r>
              <a:rPr lang="zh-CN" altLang="zh-CN" dirty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5036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URI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Content Provider</a:t>
            </a:r>
            <a:r>
              <a:rPr kumimoji="1" lang="zh-CN" altLang="en-US" dirty="0" smtClean="0"/>
              <a:t>通过</a:t>
            </a:r>
            <a:r>
              <a:rPr kumimoji="1" lang="en-US" altLang="zh-CN" dirty="0" smtClean="0"/>
              <a:t>URI</a:t>
            </a:r>
            <a:r>
              <a:rPr kumimoji="1" lang="zh-CN" altLang="en-US" dirty="0" smtClean="0"/>
              <a:t>进行访问</a:t>
            </a:r>
            <a:endParaRPr kumimoji="1" lang="en-US" altLang="zh-CN" dirty="0" smtClean="0"/>
          </a:p>
          <a:p>
            <a:r>
              <a:rPr lang="en-US" altLang="zh-CN" dirty="0" smtClean="0"/>
              <a:t>URI</a:t>
            </a:r>
            <a:r>
              <a:rPr lang="zh-CN" altLang="en-US" dirty="0" smtClean="0"/>
              <a:t>的格式确定了指定的数据集是由哪个</a:t>
            </a:r>
            <a:r>
              <a:rPr lang="en-US" altLang="zh-CN" dirty="0" err="1" smtClean="0"/>
              <a:t>ContentProvider</a:t>
            </a:r>
            <a:r>
              <a:rPr lang="zh-CN" altLang="en-US" dirty="0" smtClean="0"/>
              <a:t>管理的</a:t>
            </a:r>
            <a:endParaRPr lang="en-US" altLang="zh-CN" dirty="0" smtClean="0"/>
          </a:p>
          <a:p>
            <a:r>
              <a:rPr lang="en-US" altLang="zh-CN" dirty="0" smtClean="0"/>
              <a:t>content://authority/path/id</a:t>
            </a:r>
          </a:p>
          <a:p>
            <a:pPr lvl="1"/>
            <a:r>
              <a:rPr lang="en-US" altLang="zh-CN" dirty="0" smtClean="0"/>
              <a:t>content: scheme</a:t>
            </a:r>
          </a:p>
          <a:p>
            <a:pPr lvl="1"/>
            <a:r>
              <a:rPr lang="en-US" altLang="zh-CN" dirty="0" smtClean="0"/>
              <a:t>authority: Content Provider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ID</a:t>
            </a:r>
          </a:p>
          <a:p>
            <a:pPr lvl="1"/>
            <a:r>
              <a:rPr lang="en-US" altLang="zh-CN" dirty="0" smtClean="0"/>
              <a:t>path: 0</a:t>
            </a:r>
            <a:r>
              <a:rPr lang="zh-CN" altLang="en-US" dirty="0" smtClean="0"/>
              <a:t>或多个部分，用来方式数据是如何访问的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id: </a:t>
            </a:r>
            <a:r>
              <a:rPr lang="zh-CN" altLang="en-US" dirty="0" smtClean="0"/>
              <a:t>请求的指定记录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62030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查询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ContentResolver.query</a:t>
            </a:r>
            <a:r>
              <a:rPr kumimoji="1" lang="en-US" altLang="zh-CN" dirty="0" smtClean="0"/>
              <a:t>()</a:t>
            </a:r>
          </a:p>
          <a:p>
            <a:r>
              <a:rPr lang="zh-CN" altLang="en-US" dirty="0" smtClean="0"/>
              <a:t>返回一个</a:t>
            </a:r>
            <a:r>
              <a:rPr lang="en-US" altLang="zh-CN" dirty="0" smtClean="0"/>
              <a:t>Cursor</a:t>
            </a:r>
            <a:r>
              <a:rPr lang="zh-CN" altLang="en-US" dirty="0" smtClean="0"/>
              <a:t>，可以对结果集进行遍历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2623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删除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ContentResolver.delete</a:t>
            </a:r>
            <a:r>
              <a:rPr kumimoji="1" lang="en-US" altLang="zh-CN" dirty="0" smtClean="0"/>
              <a:t>()</a:t>
            </a:r>
          </a:p>
          <a:p>
            <a:r>
              <a:rPr lang="zh-CN" altLang="en-US" dirty="0" smtClean="0"/>
              <a:t>返回删除的行数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8484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插入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ContentResolver.insert</a:t>
            </a:r>
            <a:r>
              <a:rPr kumimoji="1" lang="en-US" altLang="zh-CN" dirty="0" smtClean="0"/>
              <a:t>()</a:t>
            </a:r>
          </a:p>
          <a:p>
            <a:r>
              <a:rPr lang="zh-CN" altLang="en-US" dirty="0" smtClean="0"/>
              <a:t>返回插入行的</a:t>
            </a:r>
            <a:r>
              <a:rPr lang="en-US" altLang="zh-CN" dirty="0" smtClean="0"/>
              <a:t>URI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7520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更新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ContentResolver.update</a:t>
            </a:r>
            <a:r>
              <a:rPr kumimoji="1" lang="en-US" altLang="zh-CN" dirty="0" smtClean="0"/>
              <a:t>()</a:t>
            </a:r>
          </a:p>
          <a:p>
            <a:r>
              <a:rPr lang="zh-CN" altLang="en-US" dirty="0" smtClean="0"/>
              <a:t>返回更新的行数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0391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ContentProviderOperation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3881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85349" y="2373381"/>
            <a:ext cx="7543800" cy="1295400"/>
          </a:xfrm>
        </p:spPr>
        <p:txBody>
          <a:bodyPr/>
          <a:lstStyle/>
          <a:p>
            <a:pPr algn="ctr"/>
            <a:r>
              <a:rPr kumimoji="1" lang="zh-CN" altLang="en-US" dirty="0" smtClean="0"/>
              <a:t>示例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2149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创建自己的</a:t>
            </a:r>
            <a:r>
              <a:rPr kumimoji="1" lang="en-US" altLang="zh-CN" dirty="0" err="1" smtClean="0"/>
              <a:t>ContentProvider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实现数据的存储系统</a:t>
            </a:r>
            <a:endParaRPr kumimoji="1" lang="en-US" altLang="zh-CN" dirty="0" smtClean="0"/>
          </a:p>
          <a:p>
            <a:r>
              <a:rPr lang="zh-CN" altLang="en-US" dirty="0" smtClean="0"/>
              <a:t>定义一个</a:t>
            </a:r>
            <a:r>
              <a:rPr lang="en-US" altLang="zh-CN" dirty="0" smtClean="0"/>
              <a:t>Contract</a:t>
            </a:r>
            <a:r>
              <a:rPr lang="zh-CN" altLang="en-US" dirty="0" smtClean="0"/>
              <a:t>类来支持所创建</a:t>
            </a:r>
            <a:r>
              <a:rPr lang="en-US" altLang="zh-CN" dirty="0" err="1" smtClean="0"/>
              <a:t>ContentProvider</a:t>
            </a:r>
            <a:r>
              <a:rPr lang="zh-CN" altLang="en-US" dirty="0" smtClean="0"/>
              <a:t>的用户</a:t>
            </a:r>
            <a:endParaRPr lang="en-US" altLang="zh-CN" dirty="0" smtClean="0"/>
          </a:p>
          <a:p>
            <a:r>
              <a:rPr kumimoji="1" lang="zh-CN" altLang="en-US" dirty="0" smtClean="0"/>
              <a:t>实现一个</a:t>
            </a:r>
            <a:r>
              <a:rPr kumimoji="1" lang="en-US" altLang="zh-CN" dirty="0" err="1" smtClean="0"/>
              <a:t>ContentProvider</a:t>
            </a:r>
            <a:r>
              <a:rPr kumimoji="1" lang="zh-CN" altLang="en-US" dirty="0" smtClean="0"/>
              <a:t>的子类</a:t>
            </a:r>
            <a:endParaRPr kumimoji="1"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AndroidManifest.xml</a:t>
            </a:r>
            <a:r>
              <a:rPr lang="zh-CN" altLang="en-US" dirty="0" smtClean="0"/>
              <a:t>中声明、配置</a:t>
            </a:r>
            <a:r>
              <a:rPr lang="en-US" altLang="zh-CN" dirty="0" smtClean="0"/>
              <a:t>Content Provider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585964"/>
      </p:ext>
    </p:extLst>
  </p:cSld>
  <p:clrMapOvr>
    <a:masterClrMapping/>
  </p:clrMapOvr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359</TotalTime>
  <Words>765</Words>
  <Application>Microsoft Macintosh PowerPoint</Application>
  <PresentationFormat>全屏显示(4:3)</PresentationFormat>
  <Paragraphs>181</Paragraphs>
  <Slides>36</Slides>
  <Notes>0</Notes>
  <HiddenSlides>0</HiddenSlides>
  <MMClips>0</MMClips>
  <ScaleCrop>false</ScaleCrop>
  <HeadingPairs>
    <vt:vector size="6" baseType="variant">
      <vt:variant>
        <vt:lpstr>使用的字体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Arial</vt:lpstr>
      <vt:lpstr>宋体</vt:lpstr>
      <vt:lpstr>Kai</vt:lpstr>
      <vt:lpstr>Wingdings</vt:lpstr>
      <vt:lpstr>Calibri</vt:lpstr>
      <vt:lpstr>Courier New</vt:lpstr>
      <vt:lpstr>Android</vt:lpstr>
      <vt:lpstr>Android数据存储</vt:lpstr>
      <vt:lpstr>Android数据存储方式</vt:lpstr>
      <vt:lpstr>SharedPreferences</vt:lpstr>
      <vt:lpstr>Activity的SharedPreferences</vt:lpstr>
      <vt:lpstr>命名的SharedPreferences</vt:lpstr>
      <vt:lpstr>向SharedPreferences写数据</vt:lpstr>
      <vt:lpstr>读取SharedPreferences</vt:lpstr>
      <vt:lpstr>清除SharedPreferences</vt:lpstr>
      <vt:lpstr>示例</vt:lpstr>
      <vt:lpstr>文件</vt:lpstr>
      <vt:lpstr>文件的API</vt:lpstr>
      <vt:lpstr>使用外部内存文件</vt:lpstr>
      <vt:lpstr>使用外部存储文件</vt:lpstr>
      <vt:lpstr>Cache文件（临时文件）</vt:lpstr>
      <vt:lpstr>读取资源中的静态文件</vt:lpstr>
      <vt:lpstr>示例</vt:lpstr>
      <vt:lpstr>SQLite</vt:lpstr>
      <vt:lpstr>SQLite</vt:lpstr>
      <vt:lpstr>数据库</vt:lpstr>
      <vt:lpstr>创建数据库</vt:lpstr>
      <vt:lpstr>SQLiteOpenHelper</vt:lpstr>
      <vt:lpstr>使用数据库(SQLiteDatabase)</vt:lpstr>
      <vt:lpstr>使用数据库(SQLiteDatabase)</vt:lpstr>
      <vt:lpstr>示例</vt:lpstr>
      <vt:lpstr>ContentProvider</vt:lpstr>
      <vt:lpstr>ContentResolver</vt:lpstr>
      <vt:lpstr>ContentProvider &amp; ContentResolver</vt:lpstr>
      <vt:lpstr>Android内置的ContentProvider</vt:lpstr>
      <vt:lpstr>URI</vt:lpstr>
      <vt:lpstr>查询</vt:lpstr>
      <vt:lpstr>删除</vt:lpstr>
      <vt:lpstr>插入</vt:lpstr>
      <vt:lpstr>更新</vt:lpstr>
      <vt:lpstr>ContentProviderOperation</vt:lpstr>
      <vt:lpstr>示例</vt:lpstr>
      <vt:lpstr>创建自己的ContentProvider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数据存取</dc:title>
  <dc:creator>建伟 韩</dc:creator>
  <cp:lastModifiedBy>韩 建伟</cp:lastModifiedBy>
  <cp:revision>90</cp:revision>
  <dcterms:created xsi:type="dcterms:W3CDTF">2012-11-06T04:31:34Z</dcterms:created>
  <dcterms:modified xsi:type="dcterms:W3CDTF">2014-04-16T16:11:14Z</dcterms:modified>
</cp:coreProperties>
</file>