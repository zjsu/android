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77" r:id="rId4"/>
    <p:sldId id="278" r:id="rId5"/>
    <p:sldId id="279" r:id="rId6"/>
    <p:sldId id="280" r:id="rId7"/>
    <p:sldId id="281" r:id="rId8"/>
    <p:sldId id="282" r:id="rId9"/>
    <p:sldId id="283" r:id="rId10"/>
    <p:sldId id="260" r:id="rId11"/>
    <p:sldId id="285" r:id="rId12"/>
    <p:sldId id="286" r:id="rId13"/>
    <p:sldId id="287" r:id="rId14"/>
    <p:sldId id="288" r:id="rId15"/>
    <p:sldId id="291" r:id="rId16"/>
    <p:sldId id="290" r:id="rId17"/>
    <p:sldId id="289" r:id="rId18"/>
    <p:sldId id="293" r:id="rId19"/>
    <p:sldId id="267" r:id="rId20"/>
    <p:sldId id="269" r:id="rId21"/>
    <p:sldId id="276" r:id="rId22"/>
    <p:sldId id="268" r:id="rId23"/>
    <p:sldId id="294" r:id="rId24"/>
    <p:sldId id="296" r:id="rId25"/>
    <p:sldId id="297" r:id="rId26"/>
    <p:sldId id="298" r:id="rId27"/>
    <p:sldId id="299" r:id="rId28"/>
    <p:sldId id="300" r:id="rId29"/>
    <p:sldId id="301" r:id="rId30"/>
    <p:sldId id="302" r:id="rId31"/>
    <p:sldId id="305" r:id="rId32"/>
    <p:sldId id="306" r:id="rId33"/>
    <p:sldId id="307" r:id="rId34"/>
    <p:sldId id="309" r:id="rId35"/>
    <p:sldId id="304" r:id="rId36"/>
    <p:sldId id="308" r:id="rId37"/>
  </p:sldIdLst>
  <p:sldSz cx="9144000" cy="6858000" type="screen4x3"/>
  <p:notesSz cx="6858000" cy="9144000"/>
  <p:defaultTextStyle>
    <a:defPPr>
      <a:defRPr lang="zh-CN"/>
    </a:defPPr>
    <a:lvl1pPr algn="l" defTabSz="457200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宋体" charset="0"/>
        <a:cs typeface="宋体" charset="0"/>
      </a:defRPr>
    </a:lvl1pPr>
    <a:lvl2pPr marL="457200" algn="l" defTabSz="457200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宋体" charset="0"/>
        <a:cs typeface="宋体" charset="0"/>
      </a:defRPr>
    </a:lvl2pPr>
    <a:lvl3pPr marL="914400" algn="l" defTabSz="457200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宋体" charset="0"/>
        <a:cs typeface="宋体" charset="0"/>
      </a:defRPr>
    </a:lvl3pPr>
    <a:lvl4pPr marL="1371600" algn="l" defTabSz="457200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宋体" charset="0"/>
        <a:cs typeface="宋体" charset="0"/>
      </a:defRPr>
    </a:lvl4pPr>
    <a:lvl5pPr marL="1828800" algn="l" defTabSz="457200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宋体" charset="0"/>
        <a:cs typeface="宋体" charset="0"/>
      </a:defRPr>
    </a:lvl5pPr>
    <a:lvl6pPr marL="2286000" algn="l" defTabSz="457200" rtl="0" eaLnBrk="1" latinLnBrk="0" hangingPunct="1">
      <a:defRPr kumimoji="1" kern="1200">
        <a:solidFill>
          <a:schemeClr val="tx1"/>
        </a:solidFill>
        <a:latin typeface="Arial" charset="0"/>
        <a:ea typeface="宋体" charset="0"/>
        <a:cs typeface="宋体" charset="0"/>
      </a:defRPr>
    </a:lvl6pPr>
    <a:lvl7pPr marL="2743200" algn="l" defTabSz="457200" rtl="0" eaLnBrk="1" latinLnBrk="0" hangingPunct="1">
      <a:defRPr kumimoji="1" kern="1200">
        <a:solidFill>
          <a:schemeClr val="tx1"/>
        </a:solidFill>
        <a:latin typeface="Arial" charset="0"/>
        <a:ea typeface="宋体" charset="0"/>
        <a:cs typeface="宋体" charset="0"/>
      </a:defRPr>
    </a:lvl7pPr>
    <a:lvl8pPr marL="3200400" algn="l" defTabSz="457200" rtl="0" eaLnBrk="1" latinLnBrk="0" hangingPunct="1">
      <a:defRPr kumimoji="1" kern="1200">
        <a:solidFill>
          <a:schemeClr val="tx1"/>
        </a:solidFill>
        <a:latin typeface="Arial" charset="0"/>
        <a:ea typeface="宋体" charset="0"/>
        <a:cs typeface="宋体" charset="0"/>
      </a:defRPr>
    </a:lvl8pPr>
    <a:lvl9pPr marL="3657600" algn="l" defTabSz="457200" rtl="0" eaLnBrk="1" latinLnBrk="0" hangingPunct="1">
      <a:defRPr kumimoji="1" kern="1200">
        <a:solidFill>
          <a:schemeClr val="tx1"/>
        </a:solidFill>
        <a:latin typeface="Arial" charset="0"/>
        <a:ea typeface="宋体" charset="0"/>
        <a:cs typeface="宋体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5" d="100"/>
          <a:sy n="55" d="100"/>
        </p:scale>
        <p:origin x="-1024" y="-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slide" Target="slides/slide36.xml"/><Relationship Id="rId38" Type="http://schemas.openxmlformats.org/officeDocument/2006/relationships/printerSettings" Target="printerSettings/printerSettings1.bin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2"/>
          <p:cNvSpPr>
            <a:spLocks noChangeShapeType="1"/>
          </p:cNvSpPr>
          <p:nvPr/>
        </p:nvSpPr>
        <p:spPr bwMode="auto">
          <a:xfrm>
            <a:off x="7315200" y="1066800"/>
            <a:ext cx="0" cy="449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grpSp>
        <p:nvGrpSpPr>
          <p:cNvPr id="5" name="Group 8"/>
          <p:cNvGrpSpPr>
            <a:grpSpLocks/>
          </p:cNvGrpSpPr>
          <p:nvPr/>
        </p:nvGrpSpPr>
        <p:grpSpPr bwMode="auto">
          <a:xfrm>
            <a:off x="7493000" y="2992438"/>
            <a:ext cx="1338263" cy="2189162"/>
            <a:chOff x="4704" y="1885"/>
            <a:chExt cx="843" cy="1379"/>
          </a:xfrm>
        </p:grpSpPr>
        <p:sp>
          <p:nvSpPr>
            <p:cNvPr id="6" name="Oval 9"/>
            <p:cNvSpPr>
              <a:spLocks noChangeArrowheads="1"/>
            </p:cNvSpPr>
            <p:nvPr/>
          </p:nvSpPr>
          <p:spPr bwMode="auto">
            <a:xfrm>
              <a:off x="4704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7" name="Oval 10"/>
            <p:cNvSpPr>
              <a:spLocks noChangeArrowheads="1"/>
            </p:cNvSpPr>
            <p:nvPr/>
          </p:nvSpPr>
          <p:spPr bwMode="auto">
            <a:xfrm>
              <a:off x="4883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8" name="Oval 11"/>
            <p:cNvSpPr>
              <a:spLocks noChangeArrowheads="1"/>
            </p:cNvSpPr>
            <p:nvPr/>
          </p:nvSpPr>
          <p:spPr bwMode="auto">
            <a:xfrm>
              <a:off x="5062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9" name="Oval 12"/>
            <p:cNvSpPr>
              <a:spLocks noChangeArrowheads="1"/>
            </p:cNvSpPr>
            <p:nvPr/>
          </p:nvSpPr>
          <p:spPr bwMode="auto">
            <a:xfrm>
              <a:off x="4704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0" name="Oval 13"/>
            <p:cNvSpPr>
              <a:spLocks noChangeArrowheads="1"/>
            </p:cNvSpPr>
            <p:nvPr/>
          </p:nvSpPr>
          <p:spPr bwMode="auto">
            <a:xfrm>
              <a:off x="4883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1" name="Oval 14"/>
            <p:cNvSpPr>
              <a:spLocks noChangeArrowheads="1"/>
            </p:cNvSpPr>
            <p:nvPr/>
          </p:nvSpPr>
          <p:spPr bwMode="auto">
            <a:xfrm>
              <a:off x="5062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2" name="Oval 15"/>
            <p:cNvSpPr>
              <a:spLocks noChangeArrowheads="1"/>
            </p:cNvSpPr>
            <p:nvPr/>
          </p:nvSpPr>
          <p:spPr bwMode="auto">
            <a:xfrm>
              <a:off x="5241" y="2064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3" name="Oval 16"/>
            <p:cNvSpPr>
              <a:spLocks noChangeArrowheads="1"/>
            </p:cNvSpPr>
            <p:nvPr/>
          </p:nvSpPr>
          <p:spPr bwMode="auto">
            <a:xfrm>
              <a:off x="4704" y="2243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4" name="Oval 17"/>
            <p:cNvSpPr>
              <a:spLocks noChangeArrowheads="1"/>
            </p:cNvSpPr>
            <p:nvPr/>
          </p:nvSpPr>
          <p:spPr bwMode="auto">
            <a:xfrm>
              <a:off x="4883" y="2243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5" name="Oval 18"/>
            <p:cNvSpPr>
              <a:spLocks noChangeArrowheads="1"/>
            </p:cNvSpPr>
            <p:nvPr/>
          </p:nvSpPr>
          <p:spPr bwMode="auto">
            <a:xfrm>
              <a:off x="5062" y="2243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6" name="Oval 19"/>
            <p:cNvSpPr>
              <a:spLocks noChangeArrowheads="1"/>
            </p:cNvSpPr>
            <p:nvPr/>
          </p:nvSpPr>
          <p:spPr bwMode="auto">
            <a:xfrm>
              <a:off x="5241" y="2243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7" name="Oval 20"/>
            <p:cNvSpPr>
              <a:spLocks noChangeArrowheads="1"/>
            </p:cNvSpPr>
            <p:nvPr/>
          </p:nvSpPr>
          <p:spPr bwMode="auto">
            <a:xfrm>
              <a:off x="5420" y="2243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8" name="Oval 21"/>
            <p:cNvSpPr>
              <a:spLocks noChangeArrowheads="1"/>
            </p:cNvSpPr>
            <p:nvPr/>
          </p:nvSpPr>
          <p:spPr bwMode="auto">
            <a:xfrm>
              <a:off x="4704" y="2421"/>
              <a:ext cx="127" cy="128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" name="Oval 22"/>
            <p:cNvSpPr>
              <a:spLocks noChangeArrowheads="1"/>
            </p:cNvSpPr>
            <p:nvPr/>
          </p:nvSpPr>
          <p:spPr bwMode="auto">
            <a:xfrm>
              <a:off x="4883" y="2421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20" name="Oval 23"/>
            <p:cNvSpPr>
              <a:spLocks noChangeArrowheads="1"/>
            </p:cNvSpPr>
            <p:nvPr/>
          </p:nvSpPr>
          <p:spPr bwMode="auto">
            <a:xfrm>
              <a:off x="5062" y="2421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21" name="Oval 24"/>
            <p:cNvSpPr>
              <a:spLocks noChangeArrowheads="1"/>
            </p:cNvSpPr>
            <p:nvPr/>
          </p:nvSpPr>
          <p:spPr bwMode="auto">
            <a:xfrm>
              <a:off x="5241" y="2421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22" name="Oval 25"/>
            <p:cNvSpPr>
              <a:spLocks noChangeArrowheads="1"/>
            </p:cNvSpPr>
            <p:nvPr/>
          </p:nvSpPr>
          <p:spPr bwMode="auto">
            <a:xfrm>
              <a:off x="4704" y="2600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23" name="Oval 26"/>
            <p:cNvSpPr>
              <a:spLocks noChangeArrowheads="1"/>
            </p:cNvSpPr>
            <p:nvPr/>
          </p:nvSpPr>
          <p:spPr bwMode="auto">
            <a:xfrm>
              <a:off x="4883" y="2600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24" name="Oval 27"/>
            <p:cNvSpPr>
              <a:spLocks noChangeArrowheads="1"/>
            </p:cNvSpPr>
            <p:nvPr/>
          </p:nvSpPr>
          <p:spPr bwMode="auto">
            <a:xfrm>
              <a:off x="5062" y="2600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25" name="Oval 28"/>
            <p:cNvSpPr>
              <a:spLocks noChangeArrowheads="1"/>
            </p:cNvSpPr>
            <p:nvPr/>
          </p:nvSpPr>
          <p:spPr bwMode="auto">
            <a:xfrm>
              <a:off x="5241" y="2600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26" name="Oval 29"/>
            <p:cNvSpPr>
              <a:spLocks noChangeArrowheads="1"/>
            </p:cNvSpPr>
            <p:nvPr/>
          </p:nvSpPr>
          <p:spPr bwMode="auto">
            <a:xfrm>
              <a:off x="5420" y="2600"/>
              <a:ext cx="127" cy="128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27" name="Oval 30"/>
            <p:cNvSpPr>
              <a:spLocks noChangeArrowheads="1"/>
            </p:cNvSpPr>
            <p:nvPr/>
          </p:nvSpPr>
          <p:spPr bwMode="auto">
            <a:xfrm>
              <a:off x="4704" y="2779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28" name="Oval 31"/>
            <p:cNvSpPr>
              <a:spLocks noChangeArrowheads="1"/>
            </p:cNvSpPr>
            <p:nvPr/>
          </p:nvSpPr>
          <p:spPr bwMode="auto">
            <a:xfrm>
              <a:off x="4883" y="2779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29" name="Oval 32"/>
            <p:cNvSpPr>
              <a:spLocks noChangeArrowheads="1"/>
            </p:cNvSpPr>
            <p:nvPr/>
          </p:nvSpPr>
          <p:spPr bwMode="auto">
            <a:xfrm>
              <a:off x="5062" y="2779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30" name="Oval 33"/>
            <p:cNvSpPr>
              <a:spLocks noChangeArrowheads="1"/>
            </p:cNvSpPr>
            <p:nvPr/>
          </p:nvSpPr>
          <p:spPr bwMode="auto">
            <a:xfrm>
              <a:off x="5241" y="2779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31" name="Oval 34"/>
            <p:cNvSpPr>
              <a:spLocks noChangeArrowheads="1"/>
            </p:cNvSpPr>
            <p:nvPr/>
          </p:nvSpPr>
          <p:spPr bwMode="auto">
            <a:xfrm>
              <a:off x="4704" y="2958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32" name="Oval 35"/>
            <p:cNvSpPr>
              <a:spLocks noChangeArrowheads="1"/>
            </p:cNvSpPr>
            <p:nvPr/>
          </p:nvSpPr>
          <p:spPr bwMode="auto">
            <a:xfrm>
              <a:off x="4883" y="2958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33" name="Oval 36"/>
            <p:cNvSpPr>
              <a:spLocks noChangeArrowheads="1"/>
            </p:cNvSpPr>
            <p:nvPr/>
          </p:nvSpPr>
          <p:spPr bwMode="auto">
            <a:xfrm>
              <a:off x="5062" y="2958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34" name="Oval 37"/>
            <p:cNvSpPr>
              <a:spLocks noChangeArrowheads="1"/>
            </p:cNvSpPr>
            <p:nvPr/>
          </p:nvSpPr>
          <p:spPr bwMode="auto">
            <a:xfrm>
              <a:off x="5241" y="2958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35" name="Oval 38"/>
            <p:cNvSpPr>
              <a:spLocks noChangeArrowheads="1"/>
            </p:cNvSpPr>
            <p:nvPr/>
          </p:nvSpPr>
          <p:spPr bwMode="auto">
            <a:xfrm>
              <a:off x="4883" y="3137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36" name="Oval 39"/>
            <p:cNvSpPr>
              <a:spLocks noChangeArrowheads="1"/>
            </p:cNvSpPr>
            <p:nvPr/>
          </p:nvSpPr>
          <p:spPr bwMode="auto">
            <a:xfrm>
              <a:off x="5241" y="3137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</p:grpSp>
      <p:sp>
        <p:nvSpPr>
          <p:cNvPr id="37" name="Line 40"/>
          <p:cNvSpPr>
            <a:spLocks noChangeShapeType="1"/>
          </p:cNvSpPr>
          <p:nvPr/>
        </p:nvSpPr>
        <p:spPr bwMode="auto">
          <a:xfrm>
            <a:off x="304800" y="2819400"/>
            <a:ext cx="82296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pic>
        <p:nvPicPr>
          <p:cNvPr id="38" name="Picture 14" descr="http://www.proxware.com/images/androids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150" y="5257800"/>
            <a:ext cx="3879850" cy="140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9" name="图片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632200"/>
            <a:ext cx="3225800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315913" y="466725"/>
            <a:ext cx="6781800" cy="2133600"/>
          </a:xfrm>
        </p:spPr>
        <p:txBody>
          <a:bodyPr/>
          <a:lstStyle>
            <a:lvl1pPr algn="r">
              <a:defRPr sz="4800"/>
            </a:lvl1pPr>
          </a:lstStyle>
          <a:p>
            <a:r>
              <a:rPr lang="zh-CN" altLang="en-US" smtClean="0"/>
              <a:t>单击此处编辑母版标题样式</a:t>
            </a:r>
            <a:endParaRPr lang="en-US" altLang="en-US" dirty="0"/>
          </a:p>
        </p:txBody>
      </p:sp>
      <p:sp>
        <p:nvSpPr>
          <p:cNvPr id="3277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849313" y="3049588"/>
            <a:ext cx="6248400" cy="2362200"/>
          </a:xfrm>
        </p:spPr>
        <p:txBody>
          <a:bodyPr/>
          <a:lstStyle>
            <a:lvl1pPr marL="0" indent="0" algn="r">
              <a:buFont typeface="Wingdings" pitchFamily="2" charset="2"/>
              <a:buNone/>
              <a:defRPr sz="3200"/>
            </a:lvl1pPr>
          </a:lstStyle>
          <a:p>
            <a:r>
              <a:rPr lang="zh-CN" altLang="en-US" smtClean="0"/>
              <a:t>单击此处编辑母版副标题样式</a:t>
            </a:r>
            <a:endParaRPr lang="en-US" altLang="en-US" dirty="0"/>
          </a:p>
        </p:txBody>
      </p:sp>
      <p:sp>
        <p:nvSpPr>
          <p:cNvPr id="40" name="Rectangle 5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F57B3-3822-8C43-AAA8-72CD8FCBD7FD}" type="datetimeFigureOut">
              <a:rPr lang="zh-CN" altLang="en-US"/>
              <a:pPr>
                <a:defRPr/>
              </a:pPr>
              <a:t>5/7/14</a:t>
            </a:fld>
            <a:endParaRPr lang="zh-CN" altLang="en-US"/>
          </a:p>
        </p:txBody>
      </p:sp>
      <p:sp>
        <p:nvSpPr>
          <p:cNvPr id="41" name="Rectangle 6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2" name="Rectangle 7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626218C9-C336-2F46-A3A1-4D126029AFF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813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www.pslweb.org/liberationnews/assets/images/website/android-logo-peekin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6238" y="4648200"/>
            <a:ext cx="1147762" cy="220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5E58EF4D-7A81-B64F-A9AA-153D37FCBDAD}" type="datetimeFigureOut">
              <a:rPr lang="zh-CN" altLang="en-US"/>
              <a:pPr>
                <a:defRPr/>
              </a:pPr>
              <a:t>5/7/14</a:t>
            </a:fld>
            <a:endParaRPr lang="zh-CN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D4DEDB-3095-4444-A482-4B9617226B00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9405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A328EA-D04C-6E4C-82AC-47D5A6CE9252}" type="datetimeFigureOut">
              <a:rPr lang="zh-CN" altLang="en-US"/>
              <a:pPr>
                <a:defRPr/>
              </a:pPr>
              <a:t>5/7/14</a:t>
            </a:fld>
            <a:endParaRPr lang="zh-CN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5344F76-D356-0545-AF8E-0132649E30A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2105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19263"/>
            <a:ext cx="4038600" cy="44116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19263"/>
            <a:ext cx="4038600" cy="44116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209AFAF-E246-B14A-ABF9-69410E00C5B7}" type="datetimeFigureOut">
              <a:rPr lang="zh-CN" altLang="en-US"/>
              <a:pPr>
                <a:defRPr/>
              </a:pPr>
              <a:t>5/7/14</a:t>
            </a:fld>
            <a:endParaRPr lang="zh-CN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69F0C1-92A8-C54C-9153-330BD96D7B00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8160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F6BA40-CE65-B94C-86BC-64906BB68D25}" type="datetimeFigureOut">
              <a:rPr lang="zh-CN" altLang="en-US"/>
              <a:pPr>
                <a:defRPr/>
              </a:pPr>
              <a:t>5/7/14</a:t>
            </a:fld>
            <a:endParaRPr lang="zh-CN" alt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0884A17-D5BC-FC47-8862-A06B1A1D355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3960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7BA1258-9EC7-8C4A-89A1-B269471E57E8}" type="datetimeFigureOut">
              <a:rPr lang="zh-CN" altLang="en-US"/>
              <a:pPr>
                <a:defRPr/>
              </a:pPr>
              <a:t>5/7/14</a:t>
            </a:fld>
            <a:endParaRPr lang="zh-CN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DCF1B3C-8DDD-AC47-8B26-269542E958A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1612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BBFA845-2D3C-B54A-90B5-25111C3B9629}" type="datetimeFigureOut">
              <a:rPr lang="zh-CN" altLang="en-US"/>
              <a:pPr>
                <a:defRPr/>
              </a:pPr>
              <a:t>5/7/14</a:t>
            </a:fld>
            <a:endParaRPr lang="zh-CN" altLang="en-US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EB2D85D-7BC6-B047-BFE7-480021E7DDCA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201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994D925-6519-D64E-B2F4-521ADA2FBC35}" type="datetimeFigureOut">
              <a:rPr lang="zh-CN" altLang="en-US"/>
              <a:pPr>
                <a:defRPr/>
              </a:pPr>
              <a:t>5/7/14</a:t>
            </a:fld>
            <a:endParaRPr lang="zh-CN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0549E3-D466-8D41-ADAB-3FC579013866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292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CN" altLang="en-US" noProof="0" smtClean="0"/>
              <a:t>将图片拖动到占位符，或单击添加图标</a:t>
            </a:r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CEB09F-FE40-3D41-9D4A-07EFD8860CA6}" type="datetimeFigureOut">
              <a:rPr lang="zh-CN" altLang="en-US"/>
              <a:pPr>
                <a:defRPr/>
              </a:pPr>
              <a:t>5/7/14</a:t>
            </a:fld>
            <a:endParaRPr lang="zh-CN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622EA8-E2A3-D440-AF6E-83A3BD358D76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3891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F9DB3C1-0C4C-9F49-B54B-175A8B468E7C}" type="datetimeFigureOut">
              <a:rPr lang="zh-CN" altLang="en-US"/>
              <a:pPr>
                <a:defRPr/>
              </a:pPr>
              <a:t>5/7/14</a:t>
            </a:fld>
            <a:endParaRPr lang="zh-CN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F0F4FD-4D0B-E14F-8B77-763DD43EE430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1475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22238"/>
            <a:ext cx="2057400" cy="6008687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22238"/>
            <a:ext cx="6019800" cy="6008687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D06A66F-048B-6C49-A852-8894CD39A094}" type="datetimeFigureOut">
              <a:rPr lang="zh-CN" altLang="en-US"/>
              <a:pPr>
                <a:defRPr/>
              </a:pPr>
              <a:t>5/7/14</a:t>
            </a:fld>
            <a:endParaRPr lang="zh-CN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A5A42F0-D4E2-D546-96A3-094CD4D4CE9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1437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、文本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2238"/>
            <a:ext cx="7543800" cy="1295400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719263"/>
            <a:ext cx="4038600" cy="441166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19263"/>
            <a:ext cx="4038600" cy="441166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10BEDBF-C274-344D-9F18-F33538B9688B}" type="datetimeFigureOut">
              <a:rPr lang="zh-CN" altLang="en-US"/>
              <a:pPr>
                <a:defRPr/>
              </a:pPr>
              <a:t>5/7/14</a:t>
            </a:fld>
            <a:endParaRPr lang="zh-CN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B14946F-0168-CE47-8ED2-1C3E1660D34F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9976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Line 2"/>
          <p:cNvSpPr>
            <a:spLocks noChangeShapeType="1"/>
          </p:cNvSpPr>
          <p:nvPr/>
        </p:nvSpPr>
        <p:spPr bwMode="auto">
          <a:xfrm>
            <a:off x="7962900" y="152400"/>
            <a:ext cx="0" cy="152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122238"/>
            <a:ext cx="7543800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  <a:endParaRPr lang="en-US" altLang="zh-CN"/>
          </a:p>
        </p:txBody>
      </p:sp>
      <p:sp>
        <p:nvSpPr>
          <p:cNvPr id="19460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719263"/>
            <a:ext cx="8229600" cy="4411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altLang="zh-CN"/>
          </a:p>
        </p:txBody>
      </p:sp>
      <p:sp>
        <p:nvSpPr>
          <p:cNvPr id="3174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fontAlgn="auto">
              <a:spcBef>
                <a:spcPts val="0"/>
              </a:spcBef>
              <a:spcAft>
                <a:spcPts val="0"/>
              </a:spcAft>
              <a:defRPr sz="1000" b="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16CE8B48-EDCB-6145-A770-8D54E37071EA}" type="datetimeFigureOut">
              <a:rPr lang="zh-CN" altLang="en-US"/>
              <a:pPr>
                <a:defRPr/>
              </a:pPr>
              <a:t>5/7/14</a:t>
            </a:fld>
            <a:endParaRPr lang="zh-CN" altLang="en-US"/>
          </a:p>
        </p:txBody>
      </p:sp>
      <p:sp>
        <p:nvSpPr>
          <p:cNvPr id="3175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fontAlgn="auto">
              <a:spcBef>
                <a:spcPts val="0"/>
              </a:spcBef>
              <a:spcAft>
                <a:spcPts val="0"/>
              </a:spcAft>
              <a:defRPr sz="1000" b="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75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fontAlgn="auto">
              <a:spcBef>
                <a:spcPts val="0"/>
              </a:spcBef>
              <a:spcAft>
                <a:spcPts val="0"/>
              </a:spcAft>
              <a:defRPr sz="1000" b="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AD5BB6B8-4661-8A45-BD9F-6F70CB0D751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grpSp>
        <p:nvGrpSpPr>
          <p:cNvPr id="19464" name="Group 8"/>
          <p:cNvGrpSpPr>
            <a:grpSpLocks/>
          </p:cNvGrpSpPr>
          <p:nvPr/>
        </p:nvGrpSpPr>
        <p:grpSpPr bwMode="auto">
          <a:xfrm>
            <a:off x="8153400" y="152400"/>
            <a:ext cx="792163" cy="1295400"/>
            <a:chOff x="5136" y="960"/>
            <a:chExt cx="528" cy="864"/>
          </a:xfrm>
        </p:grpSpPr>
        <p:sp>
          <p:nvSpPr>
            <p:cNvPr id="19465" name="Oval 9"/>
            <p:cNvSpPr>
              <a:spLocks noChangeArrowheads="1"/>
            </p:cNvSpPr>
            <p:nvPr/>
          </p:nvSpPr>
          <p:spPr bwMode="auto">
            <a:xfrm>
              <a:off x="5136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66" name="Oval 10"/>
            <p:cNvSpPr>
              <a:spLocks noChangeArrowheads="1"/>
            </p:cNvSpPr>
            <p:nvPr/>
          </p:nvSpPr>
          <p:spPr bwMode="auto">
            <a:xfrm>
              <a:off x="5248" y="960"/>
              <a:ext cx="79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67" name="Oval 11"/>
            <p:cNvSpPr>
              <a:spLocks noChangeArrowheads="1"/>
            </p:cNvSpPr>
            <p:nvPr/>
          </p:nvSpPr>
          <p:spPr bwMode="auto">
            <a:xfrm>
              <a:off x="5360" y="960"/>
              <a:ext cx="76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68" name="Oval 12"/>
            <p:cNvSpPr>
              <a:spLocks noChangeArrowheads="1"/>
            </p:cNvSpPr>
            <p:nvPr/>
          </p:nvSpPr>
          <p:spPr bwMode="auto">
            <a:xfrm>
              <a:off x="5136" y="1072"/>
              <a:ext cx="80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69" name="Oval 13"/>
            <p:cNvSpPr>
              <a:spLocks noChangeArrowheads="1"/>
            </p:cNvSpPr>
            <p:nvPr/>
          </p:nvSpPr>
          <p:spPr bwMode="auto">
            <a:xfrm>
              <a:off x="5248" y="1072"/>
              <a:ext cx="79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70" name="Oval 14"/>
            <p:cNvSpPr>
              <a:spLocks noChangeArrowheads="1"/>
            </p:cNvSpPr>
            <p:nvPr/>
          </p:nvSpPr>
          <p:spPr bwMode="auto">
            <a:xfrm>
              <a:off x="5360" y="1072"/>
              <a:ext cx="76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71" name="Oval 15"/>
            <p:cNvSpPr>
              <a:spLocks noChangeArrowheads="1"/>
            </p:cNvSpPr>
            <p:nvPr/>
          </p:nvSpPr>
          <p:spPr bwMode="auto">
            <a:xfrm>
              <a:off x="5472" y="1072"/>
              <a:ext cx="73" cy="7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72" name="Oval 16"/>
            <p:cNvSpPr>
              <a:spLocks noChangeArrowheads="1"/>
            </p:cNvSpPr>
            <p:nvPr/>
          </p:nvSpPr>
          <p:spPr bwMode="auto">
            <a:xfrm>
              <a:off x="5136" y="1184"/>
              <a:ext cx="80" cy="7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73" name="Oval 17"/>
            <p:cNvSpPr>
              <a:spLocks noChangeArrowheads="1"/>
            </p:cNvSpPr>
            <p:nvPr/>
          </p:nvSpPr>
          <p:spPr bwMode="auto">
            <a:xfrm>
              <a:off x="5248" y="1184"/>
              <a:ext cx="79" cy="7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74" name="Oval 18"/>
            <p:cNvSpPr>
              <a:spLocks noChangeArrowheads="1"/>
            </p:cNvSpPr>
            <p:nvPr/>
          </p:nvSpPr>
          <p:spPr bwMode="auto">
            <a:xfrm>
              <a:off x="5360" y="1184"/>
              <a:ext cx="76" cy="7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75" name="Oval 19"/>
            <p:cNvSpPr>
              <a:spLocks noChangeArrowheads="1"/>
            </p:cNvSpPr>
            <p:nvPr/>
          </p:nvSpPr>
          <p:spPr bwMode="auto">
            <a:xfrm>
              <a:off x="5472" y="1184"/>
              <a:ext cx="73" cy="7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76" name="Oval 20"/>
            <p:cNvSpPr>
              <a:spLocks noChangeArrowheads="1"/>
            </p:cNvSpPr>
            <p:nvPr/>
          </p:nvSpPr>
          <p:spPr bwMode="auto">
            <a:xfrm>
              <a:off x="5584" y="1184"/>
              <a:ext cx="80" cy="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77" name="Oval 21"/>
            <p:cNvSpPr>
              <a:spLocks noChangeArrowheads="1"/>
            </p:cNvSpPr>
            <p:nvPr/>
          </p:nvSpPr>
          <p:spPr bwMode="auto">
            <a:xfrm>
              <a:off x="5136" y="1296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78" name="Oval 22"/>
            <p:cNvSpPr>
              <a:spLocks noChangeArrowheads="1"/>
            </p:cNvSpPr>
            <p:nvPr/>
          </p:nvSpPr>
          <p:spPr bwMode="auto">
            <a:xfrm>
              <a:off x="5248" y="1296"/>
              <a:ext cx="79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79" name="Oval 23"/>
            <p:cNvSpPr>
              <a:spLocks noChangeArrowheads="1"/>
            </p:cNvSpPr>
            <p:nvPr/>
          </p:nvSpPr>
          <p:spPr bwMode="auto">
            <a:xfrm>
              <a:off x="5360" y="1296"/>
              <a:ext cx="76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80" name="Oval 24"/>
            <p:cNvSpPr>
              <a:spLocks noChangeArrowheads="1"/>
            </p:cNvSpPr>
            <p:nvPr/>
          </p:nvSpPr>
          <p:spPr bwMode="auto">
            <a:xfrm>
              <a:off x="5472" y="1296"/>
              <a:ext cx="73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81" name="Oval 25"/>
            <p:cNvSpPr>
              <a:spLocks noChangeArrowheads="1"/>
            </p:cNvSpPr>
            <p:nvPr/>
          </p:nvSpPr>
          <p:spPr bwMode="auto">
            <a:xfrm>
              <a:off x="5136" y="1408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82" name="Oval 26"/>
            <p:cNvSpPr>
              <a:spLocks noChangeArrowheads="1"/>
            </p:cNvSpPr>
            <p:nvPr/>
          </p:nvSpPr>
          <p:spPr bwMode="auto">
            <a:xfrm>
              <a:off x="5248" y="1408"/>
              <a:ext cx="79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83" name="Oval 27"/>
            <p:cNvSpPr>
              <a:spLocks noChangeArrowheads="1"/>
            </p:cNvSpPr>
            <p:nvPr/>
          </p:nvSpPr>
          <p:spPr bwMode="auto">
            <a:xfrm>
              <a:off x="5360" y="1408"/>
              <a:ext cx="76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84" name="Oval 28"/>
            <p:cNvSpPr>
              <a:spLocks noChangeArrowheads="1"/>
            </p:cNvSpPr>
            <p:nvPr/>
          </p:nvSpPr>
          <p:spPr bwMode="auto">
            <a:xfrm>
              <a:off x="5472" y="1408"/>
              <a:ext cx="73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85" name="Oval 29"/>
            <p:cNvSpPr>
              <a:spLocks noChangeArrowheads="1"/>
            </p:cNvSpPr>
            <p:nvPr/>
          </p:nvSpPr>
          <p:spPr bwMode="auto">
            <a:xfrm>
              <a:off x="5584" y="1408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86" name="Oval 30"/>
            <p:cNvSpPr>
              <a:spLocks noChangeArrowheads="1"/>
            </p:cNvSpPr>
            <p:nvPr/>
          </p:nvSpPr>
          <p:spPr bwMode="auto">
            <a:xfrm>
              <a:off x="5136" y="1520"/>
              <a:ext cx="80" cy="7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87" name="Oval 31"/>
            <p:cNvSpPr>
              <a:spLocks noChangeArrowheads="1"/>
            </p:cNvSpPr>
            <p:nvPr/>
          </p:nvSpPr>
          <p:spPr bwMode="auto">
            <a:xfrm>
              <a:off x="5248" y="1520"/>
              <a:ext cx="79" cy="7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88" name="Oval 32"/>
            <p:cNvSpPr>
              <a:spLocks noChangeArrowheads="1"/>
            </p:cNvSpPr>
            <p:nvPr/>
          </p:nvSpPr>
          <p:spPr bwMode="auto">
            <a:xfrm>
              <a:off x="5360" y="1520"/>
              <a:ext cx="76" cy="7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89" name="Oval 33"/>
            <p:cNvSpPr>
              <a:spLocks noChangeArrowheads="1"/>
            </p:cNvSpPr>
            <p:nvPr/>
          </p:nvSpPr>
          <p:spPr bwMode="auto">
            <a:xfrm>
              <a:off x="5472" y="1520"/>
              <a:ext cx="73" cy="79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90" name="Oval 34"/>
            <p:cNvSpPr>
              <a:spLocks noChangeArrowheads="1"/>
            </p:cNvSpPr>
            <p:nvPr/>
          </p:nvSpPr>
          <p:spPr bwMode="auto">
            <a:xfrm>
              <a:off x="5136" y="1632"/>
              <a:ext cx="80" cy="7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91" name="Oval 35"/>
            <p:cNvSpPr>
              <a:spLocks noChangeArrowheads="1"/>
            </p:cNvSpPr>
            <p:nvPr/>
          </p:nvSpPr>
          <p:spPr bwMode="auto">
            <a:xfrm>
              <a:off x="5248" y="1632"/>
              <a:ext cx="79" cy="7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92" name="Oval 36"/>
            <p:cNvSpPr>
              <a:spLocks noChangeArrowheads="1"/>
            </p:cNvSpPr>
            <p:nvPr/>
          </p:nvSpPr>
          <p:spPr bwMode="auto">
            <a:xfrm>
              <a:off x="5360" y="1632"/>
              <a:ext cx="76" cy="75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93" name="Oval 37"/>
            <p:cNvSpPr>
              <a:spLocks noChangeArrowheads="1"/>
            </p:cNvSpPr>
            <p:nvPr/>
          </p:nvSpPr>
          <p:spPr bwMode="auto">
            <a:xfrm>
              <a:off x="5472" y="1632"/>
              <a:ext cx="73" cy="75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94" name="Oval 38"/>
            <p:cNvSpPr>
              <a:spLocks noChangeArrowheads="1"/>
            </p:cNvSpPr>
            <p:nvPr/>
          </p:nvSpPr>
          <p:spPr bwMode="auto">
            <a:xfrm>
              <a:off x="5248" y="1744"/>
              <a:ext cx="79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  <p:sp>
          <p:nvSpPr>
            <p:cNvPr id="19495" name="Oval 39"/>
            <p:cNvSpPr>
              <a:spLocks noChangeArrowheads="1"/>
            </p:cNvSpPr>
            <p:nvPr/>
          </p:nvSpPr>
          <p:spPr bwMode="auto">
            <a:xfrm>
              <a:off x="5472" y="1744"/>
              <a:ext cx="73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kumimoji="0" lang="zh-CN" alt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iming>
    <p:tnLst>
      <p:par>
        <p:cTn xmlns:p14="http://schemas.microsoft.com/office/powerpoint/2010/main" id="1" dur="indefinite" restart="never" nodeType="tmRoot"/>
      </p:par>
    </p:tnLst>
  </p:timing>
  <p:txStyles>
    <p:titleStyle>
      <a:lvl1pPr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/>
          <a:ea typeface="Kai"/>
          <a:cs typeface="Kai"/>
        </a:defRPr>
      </a:lvl1pPr>
      <a:lvl2pPr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 charset="0"/>
          <a:ea typeface="Kai" charset="0"/>
          <a:cs typeface="Kai" charset="0"/>
        </a:defRPr>
      </a:lvl2pPr>
      <a:lvl3pPr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 charset="0"/>
          <a:ea typeface="Kai" charset="0"/>
          <a:cs typeface="Kai" charset="0"/>
        </a:defRPr>
      </a:lvl3pPr>
      <a:lvl4pPr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 charset="0"/>
          <a:ea typeface="Kai" charset="0"/>
          <a:cs typeface="Kai" charset="0"/>
        </a:defRPr>
      </a:lvl4pPr>
      <a:lvl5pPr algn="l" rtl="0" fontAlgn="base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 charset="0"/>
          <a:ea typeface="Kai" charset="0"/>
          <a:cs typeface="Kai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charset="0"/>
        <a:buChar char="l"/>
        <a:defRPr kumimoji="1" sz="3000">
          <a:solidFill>
            <a:schemeClr val="tx1"/>
          </a:solidFill>
          <a:latin typeface="Kai"/>
          <a:ea typeface="Kai"/>
          <a:cs typeface="Kai"/>
        </a:defRPr>
      </a:lvl1pPr>
      <a:lvl2pPr marL="692150" indent="-347663" algn="l" rtl="0" fontAlgn="base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charset="0"/>
        <a:buChar char="l"/>
        <a:defRPr kumimoji="1" sz="2600">
          <a:solidFill>
            <a:schemeClr val="tx1"/>
          </a:solidFill>
          <a:latin typeface="Kai"/>
          <a:ea typeface="Kai"/>
          <a:cs typeface="Kai"/>
        </a:defRPr>
      </a:lvl2pPr>
      <a:lvl3pPr marL="987425" indent="-293688" algn="l" rtl="0" fontAlgn="base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charset="0"/>
        <a:buChar char="l"/>
        <a:defRPr kumimoji="1" sz="2300">
          <a:solidFill>
            <a:schemeClr val="tx1"/>
          </a:solidFill>
          <a:latin typeface="Kai"/>
          <a:ea typeface="Kai"/>
          <a:cs typeface="Kai"/>
        </a:defRPr>
      </a:lvl3pPr>
      <a:lvl4pPr marL="1281113" indent="-292100" algn="l" rtl="0" fontAlgn="base">
        <a:spcBef>
          <a:spcPct val="20000"/>
        </a:spcBef>
        <a:spcAft>
          <a:spcPct val="0"/>
        </a:spcAft>
        <a:buClr>
          <a:schemeClr val="tx2"/>
        </a:buClr>
        <a:buSzPct val="75000"/>
        <a:buFont typeface="Wingdings" charset="0"/>
        <a:buChar char="§"/>
        <a:defRPr kumimoji="1" sz="2000">
          <a:solidFill>
            <a:schemeClr val="tx1"/>
          </a:solidFill>
          <a:latin typeface="Kai"/>
          <a:ea typeface="Kai"/>
          <a:cs typeface="Kai"/>
        </a:defRPr>
      </a:lvl4pPr>
      <a:lvl5pPr marL="1598613" indent="-315913" algn="l" rtl="0" fontAlgn="base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charset="0"/>
        <a:buChar char="§"/>
        <a:defRPr kumimoji="1" sz="2000">
          <a:solidFill>
            <a:schemeClr val="tx1"/>
          </a:solidFill>
          <a:latin typeface="Kai"/>
          <a:ea typeface="Kai"/>
          <a:cs typeface="Kai"/>
        </a:defRPr>
      </a:lvl5pPr>
      <a:lvl6pPr marL="2055813" indent="-315913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513013" indent="-315913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2970213" indent="-315913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427413" indent="-315913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CN" altLang="en-US" smtClean="0">
                <a:latin typeface="Kai" charset="0"/>
                <a:ea typeface="Kai" charset="0"/>
                <a:cs typeface="Kai" charset="0"/>
              </a:rPr>
              <a:t>数据存储</a:t>
            </a:r>
            <a:endParaRPr kumimoji="1" lang="zh-CN" altLang="en-US" dirty="0">
              <a:latin typeface="Kai" charset="0"/>
              <a:ea typeface="Kai" charset="0"/>
              <a:cs typeface="Kai" charset="0"/>
            </a:endParaRPr>
          </a:p>
        </p:txBody>
      </p:sp>
      <p:sp>
        <p:nvSpPr>
          <p:cNvPr id="22530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buFont typeface="Wingdings" charset="0"/>
              <a:buNone/>
            </a:pPr>
            <a:endParaRPr lang="zh-CN" altLang="en-US" dirty="0">
              <a:latin typeface="Kai" charset="0"/>
              <a:ea typeface="Kai" charset="0"/>
              <a:cs typeface="Kai" charset="0"/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>
                <a:latin typeface="Kai" charset="0"/>
                <a:ea typeface="Kai" charset="0"/>
                <a:cs typeface="Kai" charset="0"/>
              </a:rPr>
              <a:t>Android</a:t>
            </a:r>
            <a:r>
              <a:rPr kumimoji="1" lang="zh-CN" altLang="en-US">
                <a:latin typeface="Kai" charset="0"/>
                <a:ea typeface="Kai" charset="0"/>
                <a:cs typeface="Kai" charset="0"/>
              </a:rPr>
              <a:t>数据存储方式</a:t>
            </a:r>
          </a:p>
        </p:txBody>
      </p:sp>
      <p:sp>
        <p:nvSpPr>
          <p:cNvPr id="23554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SharePreferences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  <a:p>
            <a:pPr lvl="2"/>
            <a:r>
              <a:rPr lang="zh-CN" altLang="en-US" dirty="0">
                <a:latin typeface="Kai" charset="0"/>
                <a:ea typeface="Kai" charset="0"/>
                <a:cs typeface="Kai" charset="0"/>
              </a:rPr>
              <a:t>轻量级键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-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值方式存储，以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XML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文件方式保存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。存储小数据。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zh-CN" altLang="en-US" dirty="0">
                <a:latin typeface="Kai" charset="0"/>
                <a:ea typeface="Kai" charset="0"/>
                <a:cs typeface="Kai" charset="0"/>
              </a:rPr>
              <a:t>文件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  <a:p>
            <a:pPr lvl="2"/>
            <a:r>
              <a:rPr lang="zh-CN" altLang="en-US" dirty="0">
                <a:latin typeface="Kai" charset="0"/>
                <a:ea typeface="Kai" charset="0"/>
                <a:cs typeface="Kai" charset="0"/>
              </a:rPr>
              <a:t>采用</a:t>
            </a:r>
            <a:r>
              <a:rPr lang="en-US" altLang="zh-CN" dirty="0" err="1">
                <a:latin typeface="Kai" charset="0"/>
                <a:ea typeface="Kai" charset="0"/>
                <a:cs typeface="Kai" charset="0"/>
              </a:rPr>
              <a:t>java.io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.*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库所提供有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I/O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接口，读写文件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。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pPr lvl="2"/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内部存储（小、中）和外部存储（大文件）。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en-US" altLang="zh-CN" dirty="0">
                <a:latin typeface="Kai" charset="0"/>
                <a:ea typeface="Kai" charset="0"/>
                <a:cs typeface="Kai" charset="0"/>
              </a:rPr>
              <a:t>SQLite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数据库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  <a:p>
            <a:pPr lvl="2"/>
            <a:r>
              <a:rPr lang="en-US" altLang="zh-CN" dirty="0">
                <a:latin typeface="Kai" charset="0"/>
                <a:ea typeface="Kai" charset="0"/>
                <a:cs typeface="Kai" charset="0"/>
              </a:rPr>
              <a:t>SQLite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是轻量级嵌入式内置数据库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。存储结构化的私有数据。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en-US" altLang="zh-CN" dirty="0" err="1">
                <a:latin typeface="Kai" charset="0"/>
                <a:ea typeface="Kai" charset="0"/>
                <a:cs typeface="Kai" charset="0"/>
              </a:rPr>
              <a:t>ContentProvider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  <a:p>
            <a:pPr lvl="2"/>
            <a:r>
              <a:rPr lang="en-US" altLang="zh-CN" dirty="0" err="1">
                <a:latin typeface="Kai" charset="0"/>
                <a:ea typeface="Kai" charset="0"/>
                <a:cs typeface="Kai" charset="0"/>
              </a:rPr>
              <a:t>ContentProvider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可为数据封装，为多个应用共享。</a:t>
            </a: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SharedPreferences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持久化的</a:t>
            </a:r>
            <a:r>
              <a:rPr lang="en-US" altLang="zh-CN" dirty="0" smtClean="0"/>
              <a:t>Map</a:t>
            </a:r>
          </a:p>
          <a:p>
            <a:r>
              <a:rPr kumimoji="1" lang="zh-CN" altLang="en-US" dirty="0" smtClean="0"/>
              <a:t>以「键</a:t>
            </a:r>
            <a:r>
              <a:rPr kumimoji="1" lang="en-US" altLang="zh-CN" dirty="0" smtClean="0"/>
              <a:t>-</a:t>
            </a:r>
            <a:r>
              <a:rPr kumimoji="1" lang="zh-CN" altLang="en-US" dirty="0" smtClean="0"/>
              <a:t>值对」的方式保存简单数据类型</a:t>
            </a:r>
            <a:endParaRPr kumimoji="1" lang="en-US" altLang="zh-CN" dirty="0" smtClean="0"/>
          </a:p>
          <a:p>
            <a:r>
              <a:rPr lang="zh-CN" altLang="en-US" dirty="0" smtClean="0"/>
              <a:t>跨</a:t>
            </a:r>
            <a:r>
              <a:rPr lang="en-US" altLang="zh-CN" dirty="0" smtClean="0"/>
              <a:t>Session</a:t>
            </a:r>
            <a:r>
              <a:rPr lang="zh-CN" altLang="en-US" dirty="0" smtClean="0"/>
              <a:t>自动持久化数据</a:t>
            </a:r>
            <a:endParaRPr lang="en-US" altLang="zh-CN" dirty="0" smtClean="0"/>
          </a:p>
          <a:p>
            <a:r>
              <a:rPr kumimoji="1" lang="zh-CN" altLang="en-US" dirty="0" smtClean="0"/>
              <a:t>通常用来保存需要长期存储的应用程序数据</a:t>
            </a:r>
            <a:endParaRPr kumimoji="1" lang="en-US" altLang="zh-CN" dirty="0" smtClean="0"/>
          </a:p>
          <a:p>
            <a:pPr lvl="1"/>
            <a:r>
              <a:rPr lang="zh-CN" altLang="en-US" dirty="0" smtClean="0"/>
              <a:t>用户名</a:t>
            </a:r>
            <a:endParaRPr lang="en-US" altLang="zh-CN" dirty="0" smtClean="0"/>
          </a:p>
          <a:p>
            <a:pPr lvl="1"/>
            <a:r>
              <a:rPr kumimoji="1" lang="zh-CN" altLang="en-US" dirty="0" smtClean="0"/>
              <a:t>常用的</a:t>
            </a:r>
            <a:r>
              <a:rPr lang="en-US" altLang="zh-CN" dirty="0" err="1" smtClean="0"/>
              <a:t>w</a:t>
            </a:r>
            <a:r>
              <a:rPr kumimoji="1" lang="en-US" altLang="zh-CN" dirty="0" err="1" smtClean="0"/>
              <a:t>ifi</a:t>
            </a:r>
            <a:r>
              <a:rPr kumimoji="1" lang="zh-CN" altLang="en-US" dirty="0" smtClean="0"/>
              <a:t>网络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用户自定义数据</a:t>
            </a:r>
            <a:endParaRPr kumimoji="1" lang="en-US" altLang="zh-CN" dirty="0" smtClean="0"/>
          </a:p>
          <a:p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目录：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/data/data/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＜包＞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/</a:t>
            </a:r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shared_prefs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/***.xml</a:t>
            </a:r>
          </a:p>
          <a:p>
            <a:pPr lvl="1"/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18332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Activity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SharedPreferences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要获取与特定</a:t>
            </a:r>
            <a:r>
              <a:rPr lang="en-US" altLang="zh-CN" dirty="0" smtClean="0"/>
              <a:t>Activity</a:t>
            </a:r>
            <a:r>
              <a:rPr lang="zh-CN" altLang="en-US" dirty="0" smtClean="0"/>
              <a:t>相关联的</a:t>
            </a:r>
            <a:r>
              <a:rPr lang="en-US" altLang="zh-CN" dirty="0" err="1" smtClean="0"/>
              <a:t>SharedPreferences</a:t>
            </a:r>
            <a:r>
              <a:rPr lang="zh-CN" altLang="en-US" dirty="0" smtClean="0"/>
              <a:t>对象</a:t>
            </a:r>
            <a:endParaRPr lang="en-US" altLang="zh-CN" dirty="0" smtClean="0"/>
          </a:p>
          <a:p>
            <a:r>
              <a:rPr kumimoji="1" lang="en-US" altLang="zh-CN" dirty="0" err="1" smtClean="0"/>
              <a:t>Activity.getPreferences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int</a:t>
            </a:r>
            <a:r>
              <a:rPr kumimoji="1" lang="en-US" altLang="zh-CN" dirty="0" smtClean="0"/>
              <a:t> mode)</a:t>
            </a:r>
          </a:p>
          <a:p>
            <a:pPr lvl="1"/>
            <a:r>
              <a:rPr lang="en-US" altLang="zh-CN" dirty="0" smtClean="0"/>
              <a:t>MODE_PRIVATE: </a:t>
            </a:r>
            <a:r>
              <a:rPr lang="zh-CN" altLang="en-US" dirty="0" smtClean="0"/>
              <a:t>缺省，创建的文件只有当前程序能访问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MODE_WORLD_READABLE</a:t>
            </a:r>
          </a:p>
          <a:p>
            <a:pPr lvl="1"/>
            <a:r>
              <a:rPr lang="en-US" altLang="zh-CN" dirty="0" smtClean="0"/>
              <a:t>MODE_WORLD_WRITEABLE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532457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命名的</a:t>
            </a:r>
            <a:r>
              <a:rPr kumimoji="1" lang="en-US" altLang="zh-CN" dirty="0" err="1" smtClean="0"/>
              <a:t>SharedPreferences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Context.getSharedPreferences</a:t>
            </a:r>
            <a:r>
              <a:rPr kumimoji="1" lang="en-US" altLang="zh-CN" dirty="0" smtClean="0"/>
              <a:t>(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en-US" altLang="zh-CN" dirty="0" smtClean="0"/>
              <a:t>		</a:t>
            </a:r>
            <a:r>
              <a:rPr lang="en-US" altLang="zh-CN" dirty="0"/>
              <a:t>	</a:t>
            </a:r>
            <a:r>
              <a:rPr kumimoji="1" lang="en-US" altLang="zh-CN" dirty="0" smtClean="0"/>
              <a:t>String name, </a:t>
            </a:r>
            <a:r>
              <a:rPr kumimoji="1" lang="en-US" altLang="zh-CN" dirty="0" err="1" smtClean="0"/>
              <a:t>int</a:t>
            </a:r>
            <a:r>
              <a:rPr kumimoji="1" lang="en-US" altLang="zh-CN" dirty="0" smtClean="0"/>
              <a:t> mode)</a:t>
            </a:r>
          </a:p>
          <a:p>
            <a:pPr lvl="1"/>
            <a:r>
              <a:rPr lang="en-US" altLang="zh-CN" dirty="0" smtClean="0"/>
              <a:t>name: </a:t>
            </a:r>
            <a:r>
              <a:rPr lang="en-US" altLang="zh-CN" dirty="0" err="1" smtClean="0"/>
              <a:t>SharedPreferences</a:t>
            </a:r>
            <a:r>
              <a:rPr lang="zh-CN" altLang="en-US" dirty="0" smtClean="0"/>
              <a:t>文件名</a:t>
            </a:r>
            <a:endParaRPr lang="en-US" altLang="zh-CN" dirty="0" smtClean="0"/>
          </a:p>
          <a:p>
            <a:pPr lvl="1"/>
            <a:r>
              <a:rPr kumimoji="1" lang="en-US" altLang="zh-CN" dirty="0" smtClean="0"/>
              <a:t>mode</a:t>
            </a:r>
            <a:r>
              <a:rPr lang="en-US" altLang="zh-CN" dirty="0" smtClean="0"/>
              <a:t>: </a:t>
            </a:r>
            <a:r>
              <a:rPr lang="zh-CN" altLang="en-US" dirty="0" smtClean="0"/>
              <a:t>模式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4491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向</a:t>
            </a:r>
            <a:r>
              <a:rPr kumimoji="1" lang="en-US" altLang="zh-CN" dirty="0" err="1" smtClean="0"/>
              <a:t>SharedPreferences</a:t>
            </a:r>
            <a:r>
              <a:rPr kumimoji="1" lang="zh-CN" altLang="en-US" dirty="0" smtClean="0"/>
              <a:t>写数据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调用</a:t>
            </a:r>
            <a:r>
              <a:rPr kumimoji="1" lang="en-US" altLang="zh-CN" dirty="0" err="1" smtClean="0"/>
              <a:t>SharedPreferences.edit</a:t>
            </a:r>
            <a:r>
              <a:rPr kumimoji="1" lang="en-US" altLang="zh-CN" dirty="0" smtClean="0"/>
              <a:t>()</a:t>
            </a:r>
          </a:p>
          <a:p>
            <a:r>
              <a:rPr lang="zh-CN" altLang="en-US" dirty="0" smtClean="0"/>
              <a:t>返回一个</a:t>
            </a:r>
            <a:r>
              <a:rPr lang="en-US" altLang="zh-CN" dirty="0" err="1" smtClean="0"/>
              <a:t>SharedPreferences.Editor</a:t>
            </a:r>
            <a:r>
              <a:rPr lang="zh-CN" altLang="en-US" dirty="0" smtClean="0"/>
              <a:t>实例</a:t>
            </a:r>
            <a:endParaRPr lang="en-US" altLang="zh-CN" dirty="0" smtClean="0"/>
          </a:p>
          <a:p>
            <a:pPr lvl="1"/>
            <a:r>
              <a:rPr lang="en-US" altLang="zh-CN" dirty="0" err="1"/>
              <a:t>p</a:t>
            </a:r>
            <a:r>
              <a:rPr kumimoji="1" lang="en-US" altLang="zh-CN" dirty="0" err="1" smtClean="0"/>
              <a:t>utInt</a:t>
            </a:r>
            <a:r>
              <a:rPr kumimoji="1" lang="en-US" altLang="zh-CN" dirty="0" smtClean="0"/>
              <a:t>(String key, </a:t>
            </a:r>
            <a:r>
              <a:rPr kumimoji="1" lang="en-US" altLang="zh-CN" dirty="0" err="1" smtClean="0"/>
              <a:t>int</a:t>
            </a:r>
            <a:r>
              <a:rPr kumimoji="1" lang="en-US" altLang="zh-CN" dirty="0" smtClean="0"/>
              <a:t> value)</a:t>
            </a:r>
          </a:p>
          <a:p>
            <a:pPr lvl="1"/>
            <a:r>
              <a:rPr lang="en-US" altLang="zh-CN" dirty="0" err="1" smtClean="0"/>
              <a:t>putString</a:t>
            </a:r>
            <a:r>
              <a:rPr lang="en-US" altLang="zh-CN" dirty="0" smtClean="0"/>
              <a:t>(String key, </a:t>
            </a:r>
            <a:r>
              <a:rPr lang="en-US" altLang="zh-CN" dirty="0" err="1" smtClean="0"/>
              <a:t>int</a:t>
            </a:r>
            <a:r>
              <a:rPr lang="en-US" altLang="zh-CN" dirty="0" smtClean="0"/>
              <a:t> value)</a:t>
            </a:r>
          </a:p>
          <a:p>
            <a:pPr lvl="1"/>
            <a:r>
              <a:rPr kumimoji="1" lang="en-US" altLang="zh-CN" dirty="0" smtClean="0"/>
              <a:t>remove(String key)</a:t>
            </a:r>
          </a:p>
          <a:p>
            <a:r>
              <a:rPr lang="zh-CN" altLang="en-US" dirty="0" smtClean="0"/>
              <a:t>提交修改</a:t>
            </a:r>
            <a:endParaRPr lang="en-US" altLang="zh-CN" dirty="0" smtClean="0"/>
          </a:p>
          <a:p>
            <a:pPr lvl="1"/>
            <a:r>
              <a:rPr kumimoji="1" lang="en-US" altLang="zh-CN" dirty="0" err="1" smtClean="0"/>
              <a:t>SharedPreferences.Editor.commit</a:t>
            </a:r>
            <a:r>
              <a:rPr kumimoji="1" lang="en-US" altLang="zh-CN" dirty="0" smtClean="0"/>
              <a:t>()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93487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读取</a:t>
            </a:r>
            <a:r>
              <a:rPr kumimoji="1" lang="en-US" altLang="zh-CN" dirty="0" err="1" smtClean="0"/>
              <a:t>SharedPreferences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使用</a:t>
            </a:r>
            <a:r>
              <a:rPr lang="en-US" altLang="zh-CN" dirty="0" err="1" smtClean="0"/>
              <a:t>SharedPreferences</a:t>
            </a:r>
            <a:r>
              <a:rPr lang="zh-CN" altLang="en-US" dirty="0" smtClean="0"/>
              <a:t>的方法读取数据</a:t>
            </a:r>
            <a:endParaRPr lang="en-US" altLang="zh-CN" dirty="0" smtClean="0"/>
          </a:p>
          <a:p>
            <a:pPr lvl="1"/>
            <a:r>
              <a:rPr kumimoji="1" lang="en-US" altLang="zh-CN" dirty="0" err="1" smtClean="0"/>
              <a:t>getAll</a:t>
            </a:r>
            <a:r>
              <a:rPr kumimoji="1" lang="en-US" altLang="zh-CN" dirty="0" smtClean="0"/>
              <a:t>()</a:t>
            </a:r>
          </a:p>
          <a:p>
            <a:pPr lvl="1"/>
            <a:r>
              <a:rPr lang="en-US" altLang="zh-CN" dirty="0" err="1" smtClean="0"/>
              <a:t>getBoolean</a:t>
            </a:r>
            <a:r>
              <a:rPr lang="en-US" altLang="zh-CN" dirty="0" smtClean="0"/>
              <a:t>(String key, </a:t>
            </a:r>
            <a:r>
              <a:rPr lang="en-US" altLang="zh-CN" dirty="0" err="1" smtClean="0"/>
              <a:t>boolean</a:t>
            </a:r>
            <a:r>
              <a:rPr lang="en-US" altLang="zh-CN" dirty="0" smtClean="0"/>
              <a:t> </a:t>
            </a:r>
            <a:r>
              <a:rPr lang="en-US" altLang="zh-CN" dirty="0" err="1" smtClean="0"/>
              <a:t>defValue</a:t>
            </a:r>
            <a:r>
              <a:rPr lang="en-US" altLang="zh-CN" dirty="0" smtClean="0"/>
              <a:t>)</a:t>
            </a:r>
          </a:p>
          <a:p>
            <a:pPr lvl="1"/>
            <a:r>
              <a:rPr kumimoji="1" lang="en-US" altLang="zh-CN" dirty="0" err="1" smtClean="0"/>
              <a:t>getString</a:t>
            </a:r>
            <a:r>
              <a:rPr kumimoji="1" lang="en-US" altLang="zh-CN" dirty="0" smtClean="0"/>
              <a:t>(String key, String </a:t>
            </a:r>
            <a:r>
              <a:rPr kumimoji="1" lang="en-US" altLang="zh-CN" dirty="0" err="1" smtClean="0"/>
              <a:t>defValue</a:t>
            </a:r>
            <a:r>
              <a:rPr kumimoji="1" lang="en-US" altLang="zh-CN" dirty="0" smtClean="0"/>
              <a:t>)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92454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清除</a:t>
            </a:r>
            <a:r>
              <a:rPr kumimoji="1" lang="en-US" altLang="zh-CN" dirty="0" err="1" smtClean="0"/>
              <a:t>SharedPreferences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/>
              <a:t>Editor.clear</a:t>
            </a:r>
            <a:r>
              <a:rPr lang="en-US" altLang="zh-CN" dirty="0" smtClean="0"/>
              <a:t>().commit()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9315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685349" y="2373381"/>
            <a:ext cx="7543800" cy="1295400"/>
          </a:xfrm>
        </p:spPr>
        <p:txBody>
          <a:bodyPr/>
          <a:lstStyle/>
          <a:p>
            <a:pPr algn="ctr"/>
            <a:r>
              <a:rPr kumimoji="1" lang="zh-CN" altLang="en-US" dirty="0" smtClean="0"/>
              <a:t>示例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82171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文件</a:t>
            </a:r>
            <a:endParaRPr lang="zh-CN" altLang="en-US" dirty="0">
              <a:latin typeface="Kai" charset="0"/>
              <a:ea typeface="Kai" charset="0"/>
              <a:cs typeface="Kai" charset="0"/>
            </a:endParaRPr>
          </a:p>
        </p:txBody>
      </p:sp>
      <p:sp>
        <p:nvSpPr>
          <p:cNvPr id="307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该类表示由路径名表示的文件系统中的一个对象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内部存储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外部存储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内部存储通常用来存放小的程序私有数据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外部存储通常用来存放大的非私有数据集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采用</a:t>
            </a:r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java.io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.*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库所提供有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I/O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接口，读写文件。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endParaRPr lang="zh-CN" altLang="en-US" dirty="0">
              <a:latin typeface="Kai" charset="0"/>
              <a:ea typeface="Kai" charset="0"/>
              <a:cs typeface="Kai" charset="0"/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文件的</a:t>
            </a:r>
            <a:r>
              <a:rPr kumimoji="1" lang="en-US" altLang="zh-CN" dirty="0" smtClean="0"/>
              <a:t>API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FileOutputStream</a:t>
            </a:r>
            <a:endParaRPr kumimoji="1" lang="en-US" altLang="zh-CN" dirty="0" smtClean="0"/>
          </a:p>
          <a:p>
            <a:pPr lvl="1"/>
            <a:r>
              <a:rPr lang="en-US" altLang="zh-CN" dirty="0" err="1" smtClean="0"/>
              <a:t>OpenFileOutput</a:t>
            </a:r>
            <a:r>
              <a:rPr lang="en-US" altLang="zh-CN" dirty="0" smtClean="0"/>
              <a:t>(String name, </a:t>
            </a:r>
            <a:r>
              <a:rPr lang="en-US" altLang="zh-CN" dirty="0" err="1" smtClean="0"/>
              <a:t>int</a:t>
            </a:r>
            <a:r>
              <a:rPr lang="en-US" altLang="zh-CN" dirty="0" smtClean="0"/>
              <a:t> mode)</a:t>
            </a:r>
          </a:p>
          <a:p>
            <a:pPr lvl="1"/>
            <a:r>
              <a:rPr kumimoji="1" lang="zh-CN" altLang="en-US" dirty="0" smtClean="0"/>
              <a:t>打开私有文件进行写入。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如果文件不存在先创建。</a:t>
            </a:r>
            <a:endParaRPr kumimoji="1" lang="en-US" altLang="zh-CN" dirty="0" smtClean="0"/>
          </a:p>
          <a:p>
            <a:r>
              <a:rPr lang="en-US" altLang="zh-CN" dirty="0" err="1" smtClean="0"/>
              <a:t>FileInputStream</a:t>
            </a:r>
            <a:endParaRPr lang="en-US" altLang="zh-CN" dirty="0" smtClean="0"/>
          </a:p>
          <a:p>
            <a:pPr lvl="1"/>
            <a:r>
              <a:rPr kumimoji="1" lang="en-US" altLang="zh-CN" dirty="0" err="1" smtClean="0"/>
              <a:t>OpenFileInput</a:t>
            </a:r>
            <a:r>
              <a:rPr kumimoji="1" lang="en-US" altLang="zh-CN" dirty="0" smtClean="0"/>
              <a:t>(String name)</a:t>
            </a:r>
          </a:p>
          <a:p>
            <a:pPr lvl="1"/>
            <a:r>
              <a:rPr kumimoji="1" lang="zh-CN" altLang="en-US" dirty="0" smtClean="0"/>
              <a:t>打开私有文件进行读取</a:t>
            </a:r>
            <a:endParaRPr kumimoji="1" lang="en-US" altLang="zh-CN" dirty="0" smtClean="0"/>
          </a:p>
          <a:p>
            <a:pPr lvl="1"/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当文件不存在时抛出</a:t>
            </a:r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FileNotFoundException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 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异常</a:t>
            </a:r>
            <a:endParaRPr kumimoji="1" lang="en-US" altLang="zh-CN" dirty="0" smtClean="0"/>
          </a:p>
          <a:p>
            <a:r>
              <a:rPr lang="zh-CN" altLang="en-US" dirty="0" smtClean="0"/>
              <a:t>参见文档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163051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使用外部内存文件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可移动设备会在没有警告的情况下引起文件出现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消失</a:t>
            </a:r>
            <a:endParaRPr kumimoji="1" lang="en-US" altLang="zh-CN" dirty="0" smtClean="0"/>
          </a:p>
          <a:p>
            <a:r>
              <a:rPr lang="zh-CN" altLang="en-US" dirty="0" smtClean="0"/>
              <a:t>检查设备状态</a:t>
            </a:r>
            <a:endParaRPr lang="en-US" altLang="zh-CN" dirty="0" smtClean="0"/>
          </a:p>
          <a:p>
            <a:pPr lvl="1"/>
            <a:r>
              <a:rPr kumimoji="1" lang="en-US" altLang="zh-CN" dirty="0" smtClean="0"/>
              <a:t>String </a:t>
            </a:r>
            <a:r>
              <a:rPr kumimoji="1" lang="en-US" altLang="zh-CN" dirty="0" err="1" smtClean="0"/>
              <a:t>Environment.getExternalStorageState</a:t>
            </a:r>
            <a:r>
              <a:rPr kumimoji="1" lang="en-US" altLang="zh-CN" dirty="0" smtClean="0"/>
              <a:t>()</a:t>
            </a:r>
          </a:p>
          <a:p>
            <a:pPr lvl="1"/>
            <a:r>
              <a:rPr lang="en-US" altLang="zh-CN" dirty="0" smtClean="0"/>
              <a:t>MEDIA_MOUNTED: </a:t>
            </a:r>
            <a:r>
              <a:rPr lang="zh-CN" altLang="en-US" dirty="0" smtClean="0"/>
              <a:t>已装载，可读写</a:t>
            </a:r>
            <a:endParaRPr lang="en-US" altLang="zh-CN" dirty="0" smtClean="0"/>
          </a:p>
          <a:p>
            <a:pPr lvl="1"/>
            <a:r>
              <a:rPr kumimoji="1" lang="en-US" altLang="zh-CN" dirty="0" smtClean="0"/>
              <a:t>MEDIA_MOUNTED_READ_ONLY: </a:t>
            </a:r>
            <a:r>
              <a:rPr kumimoji="1" lang="zh-CN" altLang="en-US" dirty="0" smtClean="0"/>
              <a:t>已装载，只读</a:t>
            </a:r>
            <a:endParaRPr kumimoji="1" lang="en-US" altLang="zh-CN" dirty="0" smtClean="0"/>
          </a:p>
          <a:p>
            <a:pPr lvl="1"/>
            <a:r>
              <a:rPr lang="en-US" altLang="zh-CN" dirty="0" smtClean="0"/>
              <a:t>MEDIA_REMOVED: </a:t>
            </a:r>
            <a:r>
              <a:rPr lang="zh-CN" altLang="en-US" dirty="0" smtClean="0"/>
              <a:t>没有装载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48308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使用外部存储文件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添加权限</a:t>
            </a:r>
            <a:endParaRPr lang="en-US" altLang="zh-CN" dirty="0" smtClean="0"/>
          </a:p>
          <a:p>
            <a:pPr lvl="1"/>
            <a:r>
              <a:rPr kumimoji="1" lang="en-US" altLang="zh-CN" dirty="0" smtClean="0"/>
              <a:t>&lt;use-permission </a:t>
            </a:r>
            <a:r>
              <a:rPr kumimoji="1" lang="en-US" altLang="zh-CN" dirty="0" err="1" smtClean="0"/>
              <a:t>android:name</a:t>
            </a:r>
            <a:r>
              <a:rPr kumimoji="1" lang="en-US" altLang="zh-CN" dirty="0" smtClean="0"/>
              <a:t>=“</a:t>
            </a:r>
            <a:r>
              <a:rPr kumimoji="1" lang="en-US" altLang="zh-CN" dirty="0" err="1" smtClean="0"/>
              <a:t>android.permission.WRITE_EXTERNAL_STORAGE</a:t>
            </a:r>
            <a:r>
              <a:rPr kumimoji="1" lang="en-US" altLang="zh-CN" dirty="0" smtClean="0"/>
              <a:t>”/&gt;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582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Cache</a:t>
            </a:r>
            <a:r>
              <a:rPr kumimoji="1" lang="zh-CN" altLang="en-US" dirty="0" smtClean="0"/>
              <a:t>文件（临时文件）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当可用空间不够时可能会被删除</a:t>
            </a:r>
            <a:endParaRPr kumimoji="1" lang="en-US" altLang="zh-CN" dirty="0" smtClean="0"/>
          </a:p>
          <a:p>
            <a:r>
              <a:rPr lang="zh-CN" altLang="en-US" dirty="0" smtClean="0"/>
              <a:t>当应用程序卸载时会被删除</a:t>
            </a:r>
            <a:endParaRPr lang="en-US" altLang="zh-CN" dirty="0" smtClean="0"/>
          </a:p>
          <a:p>
            <a:r>
              <a:rPr kumimoji="1" lang="en-US" altLang="zh-CN" dirty="0" smtClean="0"/>
              <a:t>File </a:t>
            </a:r>
            <a:r>
              <a:rPr kumimoji="1" lang="en-US" altLang="zh-CN" dirty="0" err="1" smtClean="0"/>
              <a:t>Context.getCacheDir</a:t>
            </a:r>
            <a:r>
              <a:rPr kumimoji="1" lang="en-US" altLang="zh-CN" dirty="0" smtClean="0"/>
              <a:t>()</a:t>
            </a:r>
          </a:p>
          <a:p>
            <a:pPr lvl="1"/>
            <a:r>
              <a:rPr lang="zh-CN" altLang="en-US" dirty="0" smtClean="0"/>
              <a:t>获取一个该程序临时目录的绝对路径，可用于存放临时文件</a:t>
            </a:r>
            <a:endParaRPr lang="en-US" altLang="zh-CN" dirty="0" smtClean="0"/>
          </a:p>
          <a:p>
            <a:r>
              <a:rPr kumimoji="1" lang="en-US" altLang="zh-CN" dirty="0" err="1" smtClean="0"/>
              <a:t>Context.getExternalCacheDir</a:t>
            </a:r>
            <a:r>
              <a:rPr kumimoji="1" lang="en-US" altLang="zh-CN" dirty="0" smtClean="0"/>
              <a:t>()</a:t>
            </a:r>
          </a:p>
          <a:p>
            <a:pPr lvl="1"/>
            <a:r>
              <a:rPr lang="zh-CN" altLang="en-US" dirty="0" smtClean="0"/>
              <a:t>返回外部存储中存放临时文件的一个目录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332525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读取资源中的静态文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件</a:t>
            </a:r>
          </a:p>
        </p:txBody>
      </p:sp>
      <p:sp>
        <p:nvSpPr>
          <p:cNvPr id="614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>
                <a:latin typeface="Kai" charset="0"/>
                <a:ea typeface="Kai" charset="0"/>
                <a:cs typeface="Kai" charset="0"/>
              </a:rPr>
              <a:t>要打开打包在应用程序中的静态文件，使用</a:t>
            </a:r>
            <a:r>
              <a:rPr lang="en-US" altLang="zh-CN" dirty="0" err="1">
                <a:latin typeface="Kai" charset="0"/>
                <a:ea typeface="Kai" charset="0"/>
                <a:cs typeface="Kai" charset="0"/>
              </a:rPr>
              <a:t>Resources.openRawResource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(</a:t>
            </a:r>
            <a:r>
              <a:rPr lang="en-US" altLang="zh-CN" dirty="0" err="1">
                <a:latin typeface="Kai" charset="0"/>
                <a:ea typeface="Kai" charset="0"/>
                <a:cs typeface="Kai" charset="0"/>
              </a:rPr>
              <a:t>R.raw.mydatafile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)</a:t>
            </a:r>
          </a:p>
          <a:p>
            <a:r>
              <a:rPr lang="zh-CN" altLang="en-US" dirty="0">
                <a:latin typeface="Kai" charset="0"/>
                <a:ea typeface="Kai" charset="0"/>
                <a:cs typeface="Kai" charset="0"/>
              </a:rPr>
              <a:t>该文件必须放在文件夹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res/raw/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中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InputStream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 in = </a:t>
            </a:r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this.getResources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().</a:t>
            </a:r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openRawResource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(</a:t>
            </a:r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R.raw.my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);</a:t>
            </a:r>
          </a:p>
          <a:p>
            <a:pPr marL="344487" lvl="1" indent="0">
              <a:buNone/>
            </a:pP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   </a:t>
            </a:r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in.close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();</a:t>
            </a:r>
            <a:endParaRPr lang="zh-CN" altLang="en-US" dirty="0">
              <a:latin typeface="Kai" charset="0"/>
              <a:ea typeface="Kai" charset="0"/>
              <a:cs typeface="Ka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37338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685349" y="2373381"/>
            <a:ext cx="7543800" cy="1295400"/>
          </a:xfrm>
        </p:spPr>
        <p:txBody>
          <a:bodyPr/>
          <a:lstStyle/>
          <a:p>
            <a:pPr algn="ctr"/>
            <a:r>
              <a:rPr kumimoji="1" lang="zh-CN" altLang="en-US" dirty="0" smtClean="0"/>
              <a:t>示例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640010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SQLite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提供内存数据库</a:t>
            </a:r>
            <a:endParaRPr lang="en-US" altLang="zh-CN" dirty="0" smtClean="0"/>
          </a:p>
          <a:p>
            <a:r>
              <a:rPr kumimoji="1" lang="zh-CN" altLang="en-US" dirty="0" smtClean="0"/>
              <a:t>专门设计，占用内存很小（</a:t>
            </a:r>
            <a:r>
              <a:rPr kumimoji="1" lang="en-US" altLang="zh-CN" dirty="0" smtClean="0"/>
              <a:t>300kB)</a:t>
            </a:r>
          </a:p>
          <a:p>
            <a:r>
              <a:rPr lang="zh-CN" altLang="en-US" dirty="0" smtClean="0"/>
              <a:t>实现了大部分</a:t>
            </a:r>
            <a:r>
              <a:rPr lang="en-US" altLang="zh-CN" dirty="0" smtClean="0"/>
              <a:t>SQL92</a:t>
            </a:r>
          </a:p>
          <a:p>
            <a:r>
              <a:rPr lang="zh-CN" altLang="en-US" dirty="0" smtClean="0"/>
              <a:t>支持</a:t>
            </a:r>
            <a:r>
              <a:rPr lang="en-US" altLang="zh-CN" dirty="0" smtClean="0"/>
              <a:t>ACID</a:t>
            </a:r>
            <a:r>
              <a:rPr lang="zh-CN" altLang="en-US" dirty="0" smtClean="0"/>
              <a:t>事务</a:t>
            </a:r>
            <a:endParaRPr lang="en-US" altLang="zh-CN" dirty="0" smtClean="0"/>
          </a:p>
          <a:p>
            <a:pPr lvl="1"/>
            <a:r>
              <a:rPr kumimoji="1" lang="en-US" altLang="zh-CN" dirty="0" smtClean="0"/>
              <a:t>Atomic, Consistent, Isolated &amp; Durable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640046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SQLite</a:t>
            </a:r>
            <a:endParaRPr lang="zh-CN" altLang="en-US" dirty="0">
              <a:latin typeface="Kai" charset="0"/>
              <a:ea typeface="Kai" charset="0"/>
              <a:cs typeface="Kai" charset="0"/>
            </a:endParaRPr>
          </a:p>
        </p:txBody>
      </p:sp>
      <p:sp>
        <p:nvSpPr>
          <p:cNvPr id="921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zh-CN" altLang="en-US" dirty="0"/>
              <a:t>在某些情况下，文件不是有效的</a:t>
            </a:r>
          </a:p>
          <a:p>
            <a:pPr lvl="1">
              <a:lnSpc>
                <a:spcPct val="80000"/>
              </a:lnSpc>
            </a:pPr>
            <a:r>
              <a:rPr lang="zh-CN" altLang="en-US" dirty="0"/>
              <a:t>如果多线程数据访问是相关的</a:t>
            </a:r>
          </a:p>
          <a:p>
            <a:pPr lvl="1">
              <a:lnSpc>
                <a:spcPct val="80000"/>
              </a:lnSpc>
            </a:pPr>
            <a:r>
              <a:rPr lang="zh-CN" altLang="en-US" dirty="0"/>
              <a:t>如果应用程序处理可能变化的复杂数据结构</a:t>
            </a:r>
          </a:p>
          <a:p>
            <a:pPr lvl="1">
              <a:lnSpc>
                <a:spcPct val="80000"/>
              </a:lnSpc>
            </a:pPr>
            <a:r>
              <a:rPr lang="zh-CN" altLang="en-US" dirty="0"/>
              <a:t>等等</a:t>
            </a:r>
          </a:p>
          <a:p>
            <a:pPr>
              <a:lnSpc>
                <a:spcPct val="80000"/>
              </a:lnSpc>
            </a:pPr>
            <a:r>
              <a:rPr lang="zh-CN" altLang="en-US" dirty="0"/>
              <a:t>内置</a:t>
            </a:r>
            <a:r>
              <a:rPr lang="en-US" altLang="zh-CN" dirty="0"/>
              <a:t>SQLite </a:t>
            </a:r>
            <a:r>
              <a:rPr lang="zh-CN" altLang="en-US" dirty="0"/>
              <a:t>数据库支持</a:t>
            </a:r>
          </a:p>
          <a:p>
            <a:pPr lvl="1">
              <a:lnSpc>
                <a:spcPct val="80000"/>
              </a:lnSpc>
            </a:pPr>
            <a:r>
              <a:rPr lang="zh-CN" altLang="en-US" dirty="0"/>
              <a:t>数据库对于创建它们</a:t>
            </a:r>
            <a:r>
              <a:rPr lang="zh-CN" altLang="en-US" dirty="0" smtClean="0"/>
              <a:t>的包是</a:t>
            </a:r>
            <a:r>
              <a:rPr lang="zh-CN" altLang="en-US" dirty="0"/>
              <a:t>私有的</a:t>
            </a:r>
          </a:p>
          <a:p>
            <a:pPr lvl="1">
              <a:lnSpc>
                <a:spcPct val="80000"/>
              </a:lnSpc>
            </a:pPr>
            <a:r>
              <a:rPr lang="zh-CN" altLang="en-US" dirty="0"/>
              <a:t>数据库不应该用来存贮文件</a:t>
            </a:r>
          </a:p>
          <a:p>
            <a:pPr>
              <a:lnSpc>
                <a:spcPct val="80000"/>
              </a:lnSpc>
            </a:pPr>
            <a:endParaRPr lang="en-US" altLang="zh-CN" sz="2000" dirty="0">
              <a:latin typeface="Kai" charset="0"/>
              <a:ea typeface="Kai" charset="0"/>
              <a:cs typeface="Ka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622730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数据库</a:t>
            </a:r>
            <a:endParaRPr lang="zh-CN" altLang="en-US" dirty="0">
              <a:latin typeface="Kai" charset="0"/>
              <a:ea typeface="Kai" charset="0"/>
              <a:cs typeface="Kai" charset="0"/>
            </a:endParaRPr>
          </a:p>
        </p:txBody>
      </p:sp>
      <p:sp>
        <p:nvSpPr>
          <p:cNvPr id="1024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SQLiteDatabase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: 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封装了一些操作数据库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的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API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（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CRUD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）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添加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(Create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)</a:t>
            </a:r>
          </a:p>
          <a:p>
            <a:pPr lvl="1"/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查询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(Retrieve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)</a:t>
            </a:r>
          </a:p>
          <a:p>
            <a:pPr lvl="1"/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更新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(Update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)</a:t>
            </a:r>
          </a:p>
          <a:p>
            <a:pPr lvl="1"/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删除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(Delete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)</a:t>
            </a:r>
            <a:endParaRPr lang="zh-CN" altLang="en-US" dirty="0">
              <a:latin typeface="Kai" charset="0"/>
              <a:ea typeface="Kai" charset="0"/>
              <a:cs typeface="Kai" charset="0"/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Kai" charset="0"/>
                <a:ea typeface="Kai" charset="0"/>
                <a:cs typeface="Kai" charset="0"/>
              </a:rPr>
              <a:t>创建数据库</a:t>
            </a:r>
          </a:p>
        </p:txBody>
      </p:sp>
      <p:sp>
        <p:nvSpPr>
          <p:cNvPr id="1229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SQLiteDatabase.create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创建内存数据库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Context.openOrCreateDatabase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打开一个私有的数据库，如果数据库不存在则创建一个新的数据库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推荐方法：继承自</a:t>
            </a:r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SQLiteOpenHelper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>
                <a:latin typeface="Kai" charset="0"/>
                <a:ea typeface="Kai" charset="0"/>
                <a:cs typeface="Kai" charset="0"/>
              </a:rPr>
              <a:t>SQLiteOpenHelper</a:t>
            </a:r>
            <a:endParaRPr kumimoji="1" lang="zh-CN" altLang="en-US" dirty="0">
              <a:latin typeface="Kai" charset="0"/>
              <a:ea typeface="Kai" charset="0"/>
              <a:cs typeface="Kai" charset="0"/>
            </a:endParaRPr>
          </a:p>
        </p:txBody>
      </p:sp>
      <p:sp>
        <p:nvSpPr>
          <p:cNvPr id="24578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Kai" charset="0"/>
                <a:ea typeface="Kai" charset="0"/>
                <a:cs typeface="Kai" charset="0"/>
              </a:rPr>
              <a:t>管理数据库的创建和升级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  <a:p>
            <a:r>
              <a:rPr lang="zh-CN" altLang="en-US" dirty="0">
                <a:latin typeface="Kai" charset="0"/>
                <a:ea typeface="Kai" charset="0"/>
                <a:cs typeface="Kai" charset="0"/>
              </a:rPr>
              <a:t>用户创建一个该类的子类，重写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:</a:t>
            </a:r>
          </a:p>
          <a:p>
            <a:pPr lvl="1"/>
            <a:r>
              <a:rPr lang="en-US" altLang="zh-CN" dirty="0" err="1">
                <a:latin typeface="Kai" charset="0"/>
                <a:ea typeface="Kai" charset="0"/>
                <a:cs typeface="Kai" charset="0"/>
              </a:rPr>
              <a:t>onCreate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en-US" altLang="zh-CN" dirty="0" err="1">
                <a:latin typeface="Kai" charset="0"/>
                <a:ea typeface="Kai" charset="0"/>
                <a:cs typeface="Kai" charset="0"/>
              </a:rPr>
              <a:t>onUpgrade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en-US" altLang="zh-CN" dirty="0" err="1">
                <a:latin typeface="Kai" charset="0"/>
                <a:ea typeface="Kai" charset="0"/>
                <a:cs typeface="Kai" charset="0"/>
              </a:rPr>
              <a:t>onOpen</a:t>
            </a:r>
            <a:r>
              <a:rPr lang="zh-CN" dirty="0">
                <a:latin typeface="Kai" charset="0"/>
                <a:ea typeface="Kai" charset="0"/>
                <a:cs typeface="Kai" charset="0"/>
              </a:rPr>
              <a:t>（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可选）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  <a:p>
            <a:r>
              <a:rPr lang="en-US" altLang="zh-CN" dirty="0" err="1">
                <a:latin typeface="Kai" charset="0"/>
                <a:ea typeface="Kai" charset="0"/>
                <a:cs typeface="Kai" charset="0"/>
              </a:rPr>
              <a:t>db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 = </a:t>
            </a:r>
            <a:r>
              <a:rPr lang="en-US" altLang="zh-CN" dirty="0" err="1">
                <a:latin typeface="Kai" charset="0"/>
                <a:ea typeface="Kai" charset="0"/>
                <a:cs typeface="Kai" charset="0"/>
              </a:rPr>
              <a:t>dbhelper.getWritableDatabase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();</a:t>
            </a:r>
            <a:endParaRPr lang="zh-CN" altLang="en-US" dirty="0">
              <a:latin typeface="Kai" charset="0"/>
              <a:ea typeface="Kai" charset="0"/>
              <a:cs typeface="Kai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使用数据库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(</a:t>
            </a:r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SQLiteDatabase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)</a:t>
            </a:r>
            <a:endParaRPr lang="zh-CN" altLang="en-US" dirty="0">
              <a:latin typeface="Kai" charset="0"/>
              <a:ea typeface="Kai" charset="0"/>
              <a:cs typeface="Kai" charset="0"/>
            </a:endParaRPr>
          </a:p>
        </p:txBody>
      </p:sp>
      <p:sp>
        <p:nvSpPr>
          <p:cNvPr id="1126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用</a:t>
            </a:r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SQLiteOpenHelper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方法打开、返回底层数据库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对底层数据库执行相应的操作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使用数据库</a:t>
            </a:r>
            <a:r>
              <a:rPr lang="en-US" altLang="zh-CN" dirty="0" smtClean="0">
                <a:latin typeface="Kai" charset="0"/>
                <a:ea typeface="Kai" charset="0"/>
                <a:cs typeface="Kai" charset="0"/>
              </a:rPr>
              <a:t>(</a:t>
            </a:r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SQLiteDatabase</a:t>
            </a:r>
            <a:r>
              <a:rPr lang="en-US" altLang="zh-CN" smtClean="0">
                <a:latin typeface="Kai" charset="0"/>
                <a:ea typeface="Kai" charset="0"/>
                <a:cs typeface="Kai" charset="0"/>
              </a:rPr>
              <a:t>)</a:t>
            </a:r>
            <a:endParaRPr lang="zh-CN" altLang="en-US" dirty="0">
              <a:latin typeface="Kai" charset="0"/>
              <a:ea typeface="Kai" charset="0"/>
              <a:cs typeface="Kai" charset="0"/>
            </a:endParaRPr>
          </a:p>
        </p:txBody>
      </p:sp>
      <p:sp>
        <p:nvSpPr>
          <p:cNvPr id="1126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execSQL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可以执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行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insert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、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delete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、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update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和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CREATE TABLE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之类有更改行为的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SQL</a:t>
            </a:r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语句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pPr marL="639762" lvl="2" indent="0" fontAlgn="auto">
              <a:spcBef>
                <a:spcPts val="0"/>
              </a:spcBef>
              <a:spcAft>
                <a:spcPts val="0"/>
              </a:spcAft>
              <a:buNone/>
              <a:defRPr/>
            </a:pPr>
            <a:endParaRPr kumimoji="0" lang="en-US" altLang="zh-CN" sz="1700" dirty="0" smtClean="0">
              <a:latin typeface="Consolas"/>
              <a:cs typeface="Consolas"/>
            </a:endParaRPr>
          </a:p>
          <a:p>
            <a:pPr marL="639762" lvl="2" indent="0" fontAlgn="auto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kumimoji="0" lang="en-US" altLang="zh-CN" sz="1700" dirty="0" err="1" smtClean="0">
                <a:latin typeface="Consolas"/>
                <a:cs typeface="Consolas"/>
              </a:rPr>
              <a:t>SQLiteDatabase</a:t>
            </a:r>
            <a:r>
              <a:rPr kumimoji="0" lang="en-US" altLang="zh-CN" sz="1700" dirty="0" smtClean="0">
                <a:latin typeface="Consolas"/>
                <a:cs typeface="Consolas"/>
              </a:rPr>
              <a:t> </a:t>
            </a:r>
            <a:r>
              <a:rPr kumimoji="0" lang="en-US" altLang="zh-CN" sz="1700" dirty="0" err="1">
                <a:latin typeface="Consolas"/>
                <a:cs typeface="Consolas"/>
              </a:rPr>
              <a:t>db</a:t>
            </a:r>
            <a:r>
              <a:rPr kumimoji="0" lang="en-US" altLang="zh-CN" sz="1700" dirty="0">
                <a:latin typeface="Consolas"/>
                <a:cs typeface="Consolas"/>
              </a:rPr>
              <a:t> = ....;</a:t>
            </a:r>
          </a:p>
          <a:p>
            <a:pPr marL="639762" lvl="2" indent="0" fontAlgn="auto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kumimoji="0" lang="en-US" altLang="zh-CN" sz="1700" dirty="0" err="1">
                <a:latin typeface="Consolas"/>
                <a:cs typeface="Consolas"/>
              </a:rPr>
              <a:t>db.execSQL</a:t>
            </a:r>
            <a:r>
              <a:rPr kumimoji="0" lang="en-US" altLang="zh-CN" sz="1700" dirty="0" smtClean="0">
                <a:latin typeface="Consolas"/>
                <a:cs typeface="Consolas"/>
              </a:rPr>
              <a:t>(“insert </a:t>
            </a:r>
            <a:r>
              <a:rPr kumimoji="0" lang="en-US" altLang="zh-CN" sz="1700" dirty="0">
                <a:latin typeface="Consolas"/>
                <a:cs typeface="Consolas"/>
              </a:rPr>
              <a:t>into person(name, age) values</a:t>
            </a:r>
            <a:r>
              <a:rPr kumimoji="0" lang="en-US" altLang="zh-CN" sz="1700" dirty="0" smtClean="0">
                <a:latin typeface="Consolas"/>
                <a:cs typeface="Consolas"/>
              </a:rPr>
              <a:t>(‘Tom'</a:t>
            </a:r>
            <a:r>
              <a:rPr kumimoji="0" lang="en-US" altLang="zh-CN" sz="1700" dirty="0">
                <a:latin typeface="Consolas"/>
                <a:cs typeface="Consolas"/>
              </a:rPr>
              <a:t>, </a:t>
            </a:r>
            <a:r>
              <a:rPr kumimoji="0" lang="en-US" altLang="zh-CN" sz="1700" dirty="0" smtClean="0">
                <a:latin typeface="Consolas"/>
                <a:cs typeface="Consolas"/>
              </a:rPr>
              <a:t>20)</a:t>
            </a:r>
            <a:r>
              <a:rPr kumimoji="0" lang="en-US" altLang="zh-CN" sz="1700" dirty="0">
                <a:latin typeface="Consolas"/>
                <a:cs typeface="Consolas"/>
              </a:rPr>
              <a:t>");</a:t>
            </a:r>
          </a:p>
          <a:p>
            <a:pPr marL="639762" lvl="2" indent="0" fontAlgn="auto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kumimoji="0" lang="en-US" altLang="zh-CN" sz="1700" dirty="0" err="1">
                <a:latin typeface="Consolas"/>
                <a:cs typeface="Consolas"/>
              </a:rPr>
              <a:t>db.close</a:t>
            </a:r>
            <a:r>
              <a:rPr kumimoji="0" lang="en-US" altLang="zh-CN" sz="1700" dirty="0">
                <a:latin typeface="Consolas"/>
                <a:cs typeface="Consolas"/>
              </a:rPr>
              <a:t>()</a:t>
            </a:r>
            <a:r>
              <a:rPr kumimoji="0" lang="en-US" altLang="zh-CN" sz="1700" dirty="0" smtClean="0">
                <a:latin typeface="Consolas"/>
                <a:cs typeface="Consolas"/>
              </a:rPr>
              <a:t>;</a:t>
            </a:r>
            <a:endParaRPr lang="en-US" altLang="zh-CN" sz="1700" dirty="0" smtClean="0">
              <a:latin typeface="Consolas"/>
              <a:ea typeface="Kai" charset="0"/>
              <a:cs typeface="Consolas"/>
            </a:endParaRPr>
          </a:p>
          <a:p>
            <a:r>
              <a:rPr lang="en-US" altLang="zh-CN" dirty="0" err="1" smtClean="0">
                <a:latin typeface="Kai" charset="0"/>
                <a:ea typeface="Kai" charset="0"/>
                <a:cs typeface="Kai" charset="0"/>
              </a:rPr>
              <a:t>rawQuery</a:t>
            </a:r>
            <a:endParaRPr lang="en-US" altLang="zh-CN" dirty="0" smtClean="0">
              <a:latin typeface="Kai" charset="0"/>
              <a:ea typeface="Kai" charset="0"/>
              <a:cs typeface="Kai" charset="0"/>
            </a:endParaRPr>
          </a:p>
          <a:p>
            <a:pPr lvl="1"/>
            <a:r>
              <a:rPr lang="zh-CN" altLang="en-US" dirty="0" smtClean="0">
                <a:latin typeface="Kai" charset="0"/>
                <a:ea typeface="Kai" charset="0"/>
                <a:cs typeface="Kai" charset="0"/>
              </a:rPr>
              <a:t>可以执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行</a:t>
            </a:r>
            <a:r>
              <a:rPr lang="en-US" altLang="zh-CN" dirty="0">
                <a:latin typeface="Kai" charset="0"/>
                <a:ea typeface="Kai" charset="0"/>
                <a:cs typeface="Kai" charset="0"/>
              </a:rPr>
              <a:t>select</a:t>
            </a:r>
            <a:r>
              <a:rPr lang="zh-CN" altLang="en-US" dirty="0">
                <a:latin typeface="Kai" charset="0"/>
                <a:ea typeface="Kai" charset="0"/>
                <a:cs typeface="Kai" charset="0"/>
              </a:rPr>
              <a:t>语句。</a:t>
            </a:r>
            <a:endParaRPr lang="en-US" altLang="zh-CN" dirty="0">
              <a:latin typeface="Kai" charset="0"/>
              <a:ea typeface="Kai" charset="0"/>
              <a:cs typeface="Kai" charset="0"/>
            </a:endParaRPr>
          </a:p>
          <a:p>
            <a:pPr lvl="1"/>
            <a:endParaRPr lang="zh-CN" altLang="en-US" dirty="0">
              <a:latin typeface="Kai" charset="0"/>
              <a:ea typeface="Kai" charset="0"/>
              <a:cs typeface="Ka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859062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685349" y="2373381"/>
            <a:ext cx="7543800" cy="1295400"/>
          </a:xfrm>
        </p:spPr>
        <p:txBody>
          <a:bodyPr/>
          <a:lstStyle/>
          <a:p>
            <a:pPr algn="ctr"/>
            <a:r>
              <a:rPr kumimoji="1" lang="zh-CN" altLang="en-US" dirty="0" smtClean="0"/>
              <a:t>示例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3804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ContentProvider</a:t>
            </a:r>
            <a:endParaRPr kumimoji="1"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表示结构化的数据集</a:t>
            </a:r>
            <a:endParaRPr lang="en-US" altLang="zh-CN" dirty="0" smtClean="0"/>
          </a:p>
          <a:p>
            <a:r>
              <a:rPr kumimoji="1" lang="zh-CN" altLang="en-US" dirty="0" smtClean="0"/>
              <a:t>对数据集进行包装</a:t>
            </a:r>
            <a:endParaRPr kumimoji="1" lang="en-US" altLang="zh-CN" dirty="0" smtClean="0"/>
          </a:p>
          <a:p>
            <a:r>
              <a:rPr lang="zh-CN" altLang="en-US" dirty="0" smtClean="0"/>
              <a:t>对数据访问添加权限</a:t>
            </a:r>
            <a:endParaRPr lang="en-US" altLang="zh-CN" dirty="0" smtClean="0"/>
          </a:p>
          <a:p>
            <a:r>
              <a:rPr kumimoji="1" lang="zh-CN" altLang="en-US" dirty="0" smtClean="0"/>
              <a:t>用于程序间的数据共享</a:t>
            </a:r>
            <a:endParaRPr kumimoji="1" lang="en-US" altLang="zh-CN" dirty="0" smtClean="0"/>
          </a:p>
          <a:p>
            <a:r>
              <a:rPr lang="zh-CN" altLang="en-US" dirty="0" smtClean="0"/>
              <a:t>客户端通过</a:t>
            </a:r>
            <a:r>
              <a:rPr lang="en-US" altLang="zh-CN" dirty="0" err="1" smtClean="0"/>
              <a:t>ContentResolver</a:t>
            </a:r>
            <a:r>
              <a:rPr lang="zh-CN" altLang="en-US" dirty="0" smtClean="0"/>
              <a:t>访问</a:t>
            </a:r>
            <a:r>
              <a:rPr lang="en-US" altLang="zh-CN" dirty="0" err="1" smtClean="0"/>
              <a:t>ContentProvider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442111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ContentResolver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通过数据库形式的接口对数据进行读取、写入</a:t>
            </a:r>
            <a:endParaRPr lang="en-US" altLang="zh-CN" dirty="0" smtClean="0"/>
          </a:p>
          <a:p>
            <a:pPr lvl="1"/>
            <a:r>
              <a:rPr kumimoji="1" lang="zh-CN" altLang="en-US" dirty="0" smtClean="0"/>
              <a:t>查询、插入、更新、删除</a:t>
            </a:r>
            <a:r>
              <a:rPr kumimoji="1" lang="en-US" altLang="zh-CN" dirty="0" smtClean="0"/>
              <a:t>……</a:t>
            </a:r>
          </a:p>
          <a:p>
            <a:r>
              <a:rPr lang="zh-CN" altLang="en-US" dirty="0" smtClean="0"/>
              <a:t>提供额外的服务，比如变更通知</a:t>
            </a:r>
            <a:endParaRPr lang="en-US" altLang="zh-CN" dirty="0" smtClean="0"/>
          </a:p>
          <a:p>
            <a:r>
              <a:rPr lang="zh-CN" altLang="en-US" dirty="0" smtClean="0"/>
              <a:t>数据模型：数据库表</a:t>
            </a:r>
            <a:endParaRPr lang="en-US" altLang="zh-CN" dirty="0" smtClean="0"/>
          </a:p>
          <a:p>
            <a:r>
              <a:rPr kumimoji="1" lang="en-US" altLang="zh-CN" dirty="0" err="1" smtClean="0"/>
              <a:t>Context.getContentResolver</a:t>
            </a:r>
            <a:r>
              <a:rPr kumimoji="1" lang="en-US" altLang="zh-CN" dirty="0" smtClean="0"/>
              <a:t>()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3301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ContentProvider</a:t>
            </a:r>
            <a:r>
              <a:rPr kumimoji="1" lang="en-US" altLang="zh-CN" dirty="0" smtClean="0"/>
              <a:t> &amp; </a:t>
            </a:r>
            <a:r>
              <a:rPr kumimoji="1" lang="en-US" altLang="zh-CN" dirty="0" err="1" smtClean="0"/>
              <a:t>ContentResolver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通过这些类，可以是运行在一个进程中的代码访问另一个进程管理的数据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673608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Android</a:t>
            </a:r>
            <a:r>
              <a:rPr kumimoji="1" lang="zh-CN" altLang="en-US" dirty="0" smtClean="0"/>
              <a:t>内置的</a:t>
            </a:r>
            <a:r>
              <a:rPr kumimoji="1" lang="en-US" altLang="zh-CN" dirty="0" err="1" smtClean="0"/>
              <a:t>ContentProvider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浏览器</a:t>
            </a:r>
            <a:r>
              <a:rPr kumimoji="1" lang="en-US" altLang="zh-CN" dirty="0" smtClean="0"/>
              <a:t> —— </a:t>
            </a:r>
            <a:r>
              <a:rPr kumimoji="1" lang="zh-CN" altLang="en-US" dirty="0" smtClean="0"/>
              <a:t>书签</a:t>
            </a:r>
            <a:r>
              <a:rPr lang="zh-CN" altLang="en-US" dirty="0" smtClean="0"/>
              <a:t>、历史等</a:t>
            </a:r>
            <a:endParaRPr lang="en-US" altLang="zh-CN" dirty="0" smtClean="0"/>
          </a:p>
          <a:p>
            <a:r>
              <a:rPr lang="zh-CN" altLang="en-US" dirty="0" smtClean="0"/>
              <a:t>通话记录</a:t>
            </a:r>
            <a:r>
              <a:rPr lang="en-US" altLang="zh-CN" dirty="0" smtClean="0"/>
              <a:t> —— </a:t>
            </a:r>
            <a:r>
              <a:rPr lang="zh-CN" altLang="en-US" dirty="0" smtClean="0"/>
              <a:t>电话的使用情况</a:t>
            </a:r>
            <a:endParaRPr lang="en-US" altLang="zh-CN" dirty="0" smtClean="0"/>
          </a:p>
          <a:p>
            <a:r>
              <a:rPr lang="zh-CN" altLang="en-US" dirty="0" smtClean="0"/>
              <a:t>通讯录</a:t>
            </a:r>
            <a:r>
              <a:rPr lang="en-US" altLang="zh-CN" dirty="0" smtClean="0"/>
              <a:t> —— </a:t>
            </a:r>
            <a:r>
              <a:rPr lang="zh-CN" altLang="en-US" dirty="0" smtClean="0"/>
              <a:t>联系人数据</a:t>
            </a:r>
            <a:endParaRPr lang="en-US" altLang="zh-CN" dirty="0" smtClean="0"/>
          </a:p>
          <a:p>
            <a:r>
              <a:rPr kumimoji="1" lang="zh-CN" altLang="en-US" dirty="0" smtClean="0"/>
              <a:t>媒体</a:t>
            </a:r>
            <a:r>
              <a:rPr kumimoji="1" lang="en-US" altLang="zh-CN" dirty="0" smtClean="0"/>
              <a:t> —— </a:t>
            </a:r>
            <a:r>
              <a:rPr kumimoji="1" lang="zh-CN" altLang="en-US" dirty="0" smtClean="0"/>
              <a:t>媒体数据库</a:t>
            </a:r>
            <a:endParaRPr kumimoji="1" lang="en-US" altLang="zh-CN" dirty="0" smtClean="0"/>
          </a:p>
          <a:p>
            <a:r>
              <a:rPr lang="zh-CN" altLang="en-US" dirty="0" smtClean="0"/>
              <a:t>用户词典</a:t>
            </a:r>
            <a:r>
              <a:rPr lang="en-US" altLang="zh-CN" dirty="0" smtClean="0"/>
              <a:t> —— </a:t>
            </a:r>
            <a:r>
              <a:rPr lang="zh-CN" altLang="en-US" dirty="0" smtClean="0"/>
              <a:t>用于预测拼写的数据库</a:t>
            </a:r>
            <a:endParaRPr lang="en-US" altLang="zh-CN" dirty="0" smtClean="0"/>
          </a:p>
          <a:p>
            <a:r>
              <a:rPr kumimoji="1" lang="zh-CN" altLang="en-US" dirty="0" smtClean="0"/>
              <a:t>更多</a:t>
            </a:r>
            <a:r>
              <a:rPr lang="zh-CN" altLang="zh-CN" dirty="0"/>
              <a:t>……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50366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URI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Content Provider</a:t>
            </a:r>
            <a:r>
              <a:rPr kumimoji="1" lang="zh-CN" altLang="en-US" dirty="0" smtClean="0"/>
              <a:t>通过</a:t>
            </a:r>
            <a:r>
              <a:rPr kumimoji="1" lang="en-US" altLang="zh-CN" dirty="0" smtClean="0"/>
              <a:t>URI</a:t>
            </a:r>
            <a:r>
              <a:rPr kumimoji="1" lang="zh-CN" altLang="en-US" dirty="0" smtClean="0"/>
              <a:t>进行访问</a:t>
            </a:r>
            <a:endParaRPr kumimoji="1" lang="en-US" altLang="zh-CN" dirty="0" smtClean="0"/>
          </a:p>
          <a:p>
            <a:r>
              <a:rPr lang="en-US" altLang="zh-CN" dirty="0" smtClean="0"/>
              <a:t>URI</a:t>
            </a:r>
            <a:r>
              <a:rPr lang="zh-CN" altLang="en-US" dirty="0" smtClean="0"/>
              <a:t>的格式确定了指定的数据集是由哪个</a:t>
            </a:r>
            <a:r>
              <a:rPr lang="en-US" altLang="zh-CN" dirty="0" err="1" smtClean="0"/>
              <a:t>ContentProvider</a:t>
            </a:r>
            <a:r>
              <a:rPr lang="zh-CN" altLang="en-US" dirty="0" smtClean="0"/>
              <a:t>管理的</a:t>
            </a:r>
            <a:endParaRPr lang="en-US" altLang="zh-CN" dirty="0" smtClean="0"/>
          </a:p>
          <a:p>
            <a:r>
              <a:rPr lang="en-US" altLang="zh-CN" dirty="0" smtClean="0"/>
              <a:t>content://authority/path/id</a:t>
            </a:r>
          </a:p>
          <a:p>
            <a:pPr lvl="1"/>
            <a:r>
              <a:rPr lang="en-US" altLang="zh-CN" dirty="0" smtClean="0"/>
              <a:t>content: scheme</a:t>
            </a:r>
          </a:p>
          <a:p>
            <a:pPr lvl="1"/>
            <a:r>
              <a:rPr lang="en-US" altLang="zh-CN" dirty="0" smtClean="0"/>
              <a:t>authority: Content Provider</a:t>
            </a:r>
            <a:r>
              <a:rPr lang="zh-CN" altLang="en-US" dirty="0" smtClean="0"/>
              <a:t>的</a:t>
            </a:r>
            <a:r>
              <a:rPr lang="en-US" altLang="zh-CN" dirty="0" smtClean="0"/>
              <a:t>ID</a:t>
            </a:r>
          </a:p>
          <a:p>
            <a:pPr lvl="1"/>
            <a:r>
              <a:rPr lang="en-US" altLang="zh-CN" dirty="0" smtClean="0"/>
              <a:t>path: 0</a:t>
            </a:r>
            <a:r>
              <a:rPr lang="zh-CN" altLang="en-US" dirty="0" smtClean="0"/>
              <a:t>或多个部分，用来方式数据是如何访问的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id: </a:t>
            </a:r>
            <a:r>
              <a:rPr lang="zh-CN" altLang="en-US" dirty="0" smtClean="0"/>
              <a:t>请求的指定记录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6620308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查询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ContentResolver.query</a:t>
            </a:r>
            <a:r>
              <a:rPr kumimoji="1" lang="en-US" altLang="zh-CN" dirty="0" smtClean="0"/>
              <a:t>()</a:t>
            </a:r>
          </a:p>
          <a:p>
            <a:r>
              <a:rPr lang="zh-CN" altLang="en-US" dirty="0" smtClean="0"/>
              <a:t>返回一个</a:t>
            </a:r>
            <a:r>
              <a:rPr lang="en-US" altLang="zh-CN" dirty="0" smtClean="0"/>
              <a:t>Cursor</a:t>
            </a:r>
            <a:r>
              <a:rPr lang="zh-CN" altLang="en-US" dirty="0" smtClean="0"/>
              <a:t>，可以对结果集进行遍历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26230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删除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ContentResolver.delete</a:t>
            </a:r>
            <a:r>
              <a:rPr kumimoji="1" lang="en-US" altLang="zh-CN" dirty="0" smtClean="0"/>
              <a:t>()</a:t>
            </a:r>
          </a:p>
          <a:p>
            <a:r>
              <a:rPr lang="zh-CN" altLang="en-US" dirty="0" smtClean="0"/>
              <a:t>返回删除的行数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984842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插入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ContentResolver.insert</a:t>
            </a:r>
            <a:r>
              <a:rPr kumimoji="1" lang="en-US" altLang="zh-CN" dirty="0" smtClean="0"/>
              <a:t>()</a:t>
            </a:r>
          </a:p>
          <a:p>
            <a:r>
              <a:rPr lang="zh-CN" altLang="en-US" dirty="0" smtClean="0"/>
              <a:t>返回插入行的</a:t>
            </a:r>
            <a:r>
              <a:rPr lang="en-US" altLang="zh-CN" dirty="0" smtClean="0"/>
              <a:t>URI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875202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更新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ContentResolver.update</a:t>
            </a:r>
            <a:r>
              <a:rPr kumimoji="1" lang="en-US" altLang="zh-CN" dirty="0" smtClean="0"/>
              <a:t>()</a:t>
            </a:r>
          </a:p>
          <a:p>
            <a:r>
              <a:rPr lang="zh-CN" altLang="en-US" dirty="0" smtClean="0"/>
              <a:t>返回更新的行数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603912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ContentProviderOperation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438817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685349" y="2373381"/>
            <a:ext cx="7543800" cy="1295400"/>
          </a:xfrm>
        </p:spPr>
        <p:txBody>
          <a:bodyPr/>
          <a:lstStyle/>
          <a:p>
            <a:pPr algn="ctr"/>
            <a:r>
              <a:rPr kumimoji="1" lang="zh-CN" altLang="en-US" dirty="0" smtClean="0"/>
              <a:t>示例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821497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创建自己的</a:t>
            </a:r>
            <a:r>
              <a:rPr kumimoji="1" lang="en-US" altLang="zh-CN" dirty="0" err="1" smtClean="0"/>
              <a:t>ContentProvider</a:t>
            </a:r>
            <a:endParaRPr kumimoji="1"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实现数据的存储系统</a:t>
            </a:r>
            <a:endParaRPr kumimoji="1" lang="en-US" altLang="zh-CN" dirty="0" smtClean="0"/>
          </a:p>
          <a:p>
            <a:r>
              <a:rPr lang="zh-CN" altLang="en-US" dirty="0" smtClean="0"/>
              <a:t>定义一个</a:t>
            </a:r>
            <a:r>
              <a:rPr lang="en-US" altLang="zh-CN" dirty="0" smtClean="0"/>
              <a:t>Contract</a:t>
            </a:r>
            <a:r>
              <a:rPr lang="zh-CN" altLang="en-US" dirty="0" smtClean="0"/>
              <a:t>类来支持所创建</a:t>
            </a:r>
            <a:r>
              <a:rPr lang="en-US" altLang="zh-CN" dirty="0" err="1" smtClean="0"/>
              <a:t>ContentProvider</a:t>
            </a:r>
            <a:r>
              <a:rPr lang="zh-CN" altLang="en-US" dirty="0" smtClean="0"/>
              <a:t>的用户</a:t>
            </a:r>
            <a:endParaRPr lang="en-US" altLang="zh-CN" dirty="0" smtClean="0"/>
          </a:p>
          <a:p>
            <a:r>
              <a:rPr kumimoji="1" lang="zh-CN" altLang="en-US" dirty="0" smtClean="0"/>
              <a:t>实现一个</a:t>
            </a:r>
            <a:r>
              <a:rPr kumimoji="1" lang="en-US" altLang="zh-CN" dirty="0" err="1" smtClean="0"/>
              <a:t>ContentProvider</a:t>
            </a:r>
            <a:r>
              <a:rPr kumimoji="1" lang="zh-CN" altLang="en-US" dirty="0" smtClean="0"/>
              <a:t>的子类</a:t>
            </a:r>
            <a:endParaRPr kumimoji="1" lang="en-US" altLang="zh-CN" dirty="0" smtClean="0"/>
          </a:p>
          <a:p>
            <a:r>
              <a:rPr lang="zh-CN" altLang="en-US" dirty="0" smtClean="0"/>
              <a:t>在</a:t>
            </a:r>
            <a:r>
              <a:rPr lang="en-US" altLang="zh-CN" dirty="0" err="1" smtClean="0"/>
              <a:t>AndroidManifest.xml</a:t>
            </a:r>
            <a:r>
              <a:rPr lang="zh-CN" altLang="en-US" dirty="0" smtClean="0"/>
              <a:t>中声明、配置</a:t>
            </a:r>
            <a:r>
              <a:rPr lang="en-US" altLang="zh-CN" dirty="0" smtClean="0"/>
              <a:t>Content Provider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48585964"/>
      </p:ext>
    </p:extLst>
  </p:cSld>
  <p:clrMapOvr>
    <a:masterClrMapping/>
  </p:clrMapOvr>
</p:sld>
</file>

<file path=ppt/theme/theme1.xml><?xml version="1.0" encoding="utf-8"?>
<a:theme xmlns:a="http://schemas.openxmlformats.org/drawingml/2006/main" name="Android">
  <a:themeElements>
    <a:clrScheme name="Network 10">
      <a:dk1>
        <a:srgbClr val="000000"/>
      </a:dk1>
      <a:lt1>
        <a:srgbClr val="FFFFFF"/>
      </a:lt1>
      <a:dk2>
        <a:srgbClr val="330066"/>
      </a:dk2>
      <a:lt2>
        <a:srgbClr val="808080"/>
      </a:lt2>
      <a:accent1>
        <a:srgbClr val="CCCC00"/>
      </a:accent1>
      <a:accent2>
        <a:srgbClr val="669999"/>
      </a:accent2>
      <a:accent3>
        <a:srgbClr val="FFFFFF"/>
      </a:accent3>
      <a:accent4>
        <a:srgbClr val="000000"/>
      </a:accent4>
      <a:accent5>
        <a:srgbClr val="E2E2AA"/>
      </a:accent5>
      <a:accent6>
        <a:srgbClr val="5C8A8A"/>
      </a:accent6>
      <a:hlink>
        <a:srgbClr val="7E9CE8"/>
      </a:hlink>
      <a:folHlink>
        <a:srgbClr val="D8D8EC"/>
      </a:folHlink>
    </a:clrScheme>
    <a:fontScheme name="Network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Network 1">
        <a:dk1>
          <a:srgbClr val="4F747B"/>
        </a:dk1>
        <a:lt1>
          <a:srgbClr val="FFFFFF"/>
        </a:lt1>
        <a:dk2>
          <a:srgbClr val="000000"/>
        </a:dk2>
        <a:lt2>
          <a:srgbClr val="C0C0C0"/>
        </a:lt2>
        <a:accent1>
          <a:srgbClr val="859868"/>
        </a:accent1>
        <a:accent2>
          <a:srgbClr val="5F5F5F"/>
        </a:accent2>
        <a:accent3>
          <a:srgbClr val="AAAAAA"/>
        </a:accent3>
        <a:accent4>
          <a:srgbClr val="DADADA"/>
        </a:accent4>
        <a:accent5>
          <a:srgbClr val="C2CAB9"/>
        </a:accent5>
        <a:accent6>
          <a:srgbClr val="555555"/>
        </a:accent6>
        <a:hlink>
          <a:srgbClr val="5F5F5F"/>
        </a:hlink>
        <a:folHlink>
          <a:srgbClr val="BA121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2">
        <a:dk1>
          <a:srgbClr val="3C0000"/>
        </a:dk1>
        <a:lt1>
          <a:srgbClr val="FFFFFF"/>
        </a:lt1>
        <a:dk2>
          <a:srgbClr val="4D0B0B"/>
        </a:dk2>
        <a:lt2>
          <a:srgbClr val="FFFFFF"/>
        </a:lt2>
        <a:accent1>
          <a:srgbClr val="666633"/>
        </a:accent1>
        <a:accent2>
          <a:srgbClr val="CC3300"/>
        </a:accent2>
        <a:accent3>
          <a:srgbClr val="B2AAAA"/>
        </a:accent3>
        <a:accent4>
          <a:srgbClr val="DADADA"/>
        </a:accent4>
        <a:accent5>
          <a:srgbClr val="B8B8AD"/>
        </a:accent5>
        <a:accent6>
          <a:srgbClr val="B92D00"/>
        </a:accent6>
        <a:hlink>
          <a:srgbClr val="CC9900"/>
        </a:hlink>
        <a:folHlink>
          <a:srgbClr val="CCCC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3">
        <a:dk1>
          <a:srgbClr val="666699"/>
        </a:dk1>
        <a:lt1>
          <a:srgbClr val="FFFFFF"/>
        </a:lt1>
        <a:dk2>
          <a:srgbClr val="15192B"/>
        </a:dk2>
        <a:lt2>
          <a:srgbClr val="CCCCFF"/>
        </a:lt2>
        <a:accent1>
          <a:srgbClr val="4F893D"/>
        </a:accent1>
        <a:accent2>
          <a:srgbClr val="666699"/>
        </a:accent2>
        <a:accent3>
          <a:srgbClr val="AAABAC"/>
        </a:accent3>
        <a:accent4>
          <a:srgbClr val="DADADA"/>
        </a:accent4>
        <a:accent5>
          <a:srgbClr val="B2C4AF"/>
        </a:accent5>
        <a:accent6>
          <a:srgbClr val="5C5C8A"/>
        </a:accent6>
        <a:hlink>
          <a:srgbClr val="CC9900"/>
        </a:hlink>
        <a:folHlink>
          <a:srgbClr val="4837C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4">
        <a:dk1>
          <a:srgbClr val="666699"/>
        </a:dk1>
        <a:lt1>
          <a:srgbClr val="FFFFFF"/>
        </a:lt1>
        <a:dk2>
          <a:srgbClr val="86001A"/>
        </a:dk2>
        <a:lt2>
          <a:srgbClr val="CCCC66"/>
        </a:lt2>
        <a:accent1>
          <a:srgbClr val="FF3300"/>
        </a:accent1>
        <a:accent2>
          <a:srgbClr val="FF6600"/>
        </a:accent2>
        <a:accent3>
          <a:srgbClr val="C3AAAB"/>
        </a:accent3>
        <a:accent4>
          <a:srgbClr val="DADADA"/>
        </a:accent4>
        <a:accent5>
          <a:srgbClr val="FFADAA"/>
        </a:accent5>
        <a:accent6>
          <a:srgbClr val="E75C00"/>
        </a:accent6>
        <a:hlink>
          <a:srgbClr val="CC9900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5">
        <a:dk1>
          <a:srgbClr val="666699"/>
        </a:dk1>
        <a:lt1>
          <a:srgbClr val="FFFFFF"/>
        </a:lt1>
        <a:dk2>
          <a:srgbClr val="000054"/>
        </a:dk2>
        <a:lt2>
          <a:srgbClr val="FFFFFF"/>
        </a:lt2>
        <a:accent1>
          <a:srgbClr val="3333FF"/>
        </a:accent1>
        <a:accent2>
          <a:srgbClr val="006699"/>
        </a:accent2>
        <a:accent3>
          <a:srgbClr val="AAAAB3"/>
        </a:accent3>
        <a:accent4>
          <a:srgbClr val="DADADA"/>
        </a:accent4>
        <a:accent5>
          <a:srgbClr val="ADADFF"/>
        </a:accent5>
        <a:accent6>
          <a:srgbClr val="005C8A"/>
        </a:accent6>
        <a:hlink>
          <a:srgbClr val="669900"/>
        </a:hlink>
        <a:folHlink>
          <a:srgbClr val="0000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6">
        <a:dk1>
          <a:srgbClr val="808080"/>
        </a:dk1>
        <a:lt1>
          <a:srgbClr val="FFFFFF"/>
        </a:lt1>
        <a:dk2>
          <a:srgbClr val="30054B"/>
        </a:dk2>
        <a:lt2>
          <a:srgbClr val="FFFFFF"/>
        </a:lt2>
        <a:accent1>
          <a:srgbClr val="797B9B"/>
        </a:accent1>
        <a:accent2>
          <a:srgbClr val="6B4FB1"/>
        </a:accent2>
        <a:accent3>
          <a:srgbClr val="ADAAB1"/>
        </a:accent3>
        <a:accent4>
          <a:srgbClr val="DADADA"/>
        </a:accent4>
        <a:accent5>
          <a:srgbClr val="BEBFCB"/>
        </a:accent5>
        <a:accent6>
          <a:srgbClr val="6047A0"/>
        </a:accent6>
        <a:hlink>
          <a:srgbClr val="7AACCE"/>
        </a:hlink>
        <a:folHlink>
          <a:srgbClr val="D8D8E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7">
        <a:dk1>
          <a:srgbClr val="808080"/>
        </a:dk1>
        <a:lt1>
          <a:srgbClr val="FFFFCC"/>
        </a:lt1>
        <a:dk2>
          <a:srgbClr val="29527B"/>
        </a:dk2>
        <a:lt2>
          <a:srgbClr val="FFFFFF"/>
        </a:lt2>
        <a:accent1>
          <a:srgbClr val="CCCC00"/>
        </a:accent1>
        <a:accent2>
          <a:srgbClr val="669999"/>
        </a:accent2>
        <a:accent3>
          <a:srgbClr val="ACB3BF"/>
        </a:accent3>
        <a:accent4>
          <a:srgbClr val="DADAAE"/>
        </a:accent4>
        <a:accent5>
          <a:srgbClr val="E2E2AA"/>
        </a:accent5>
        <a:accent6>
          <a:srgbClr val="5C8A8A"/>
        </a:accent6>
        <a:hlink>
          <a:srgbClr val="D8D8EC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8">
        <a:dk1>
          <a:srgbClr val="666699"/>
        </a:dk1>
        <a:lt1>
          <a:srgbClr val="FFFFFF"/>
        </a:lt1>
        <a:dk2>
          <a:srgbClr val="476949"/>
        </a:dk2>
        <a:lt2>
          <a:srgbClr val="FFFFFF"/>
        </a:lt2>
        <a:accent1>
          <a:srgbClr val="CC6600"/>
        </a:accent1>
        <a:accent2>
          <a:srgbClr val="CC9900"/>
        </a:accent2>
        <a:accent3>
          <a:srgbClr val="B1B9B1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452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9">
        <a:dk1>
          <a:srgbClr val="000000"/>
        </a:dk1>
        <a:lt1>
          <a:srgbClr val="FFFFFF"/>
        </a:lt1>
        <a:dk2>
          <a:srgbClr val="7C1302"/>
        </a:dk2>
        <a:lt2>
          <a:srgbClr val="CC9900"/>
        </a:lt2>
        <a:accent1>
          <a:srgbClr val="CC9900"/>
        </a:accent1>
        <a:accent2>
          <a:srgbClr val="CC3300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B92D00"/>
        </a:accent6>
        <a:hlink>
          <a:srgbClr val="808080"/>
        </a:hlink>
        <a:folHlink>
          <a:srgbClr val="CC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work 10">
        <a:dk1>
          <a:srgbClr val="000000"/>
        </a:dk1>
        <a:lt1>
          <a:srgbClr val="FFFFFF"/>
        </a:lt1>
        <a:dk2>
          <a:srgbClr val="330066"/>
        </a:dk2>
        <a:lt2>
          <a:srgbClr val="808080"/>
        </a:lt2>
        <a:accent1>
          <a:srgbClr val="CCCC00"/>
        </a:accent1>
        <a:accent2>
          <a:srgbClr val="669999"/>
        </a:accent2>
        <a:accent3>
          <a:srgbClr val="FFFFFF"/>
        </a:accent3>
        <a:accent4>
          <a:srgbClr val="000000"/>
        </a:accent4>
        <a:accent5>
          <a:srgbClr val="E2E2AA"/>
        </a:accent5>
        <a:accent6>
          <a:srgbClr val="5C8A8A"/>
        </a:accent6>
        <a:hlink>
          <a:srgbClr val="7E9CE8"/>
        </a:hlink>
        <a:folHlink>
          <a:srgbClr val="D8D8E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Android.thmx</Template>
  <TotalTime>359</TotalTime>
  <Words>764</Words>
  <Application>Microsoft Macintosh PowerPoint</Application>
  <PresentationFormat>全屏显示(4:3)</PresentationFormat>
  <Paragraphs>181</Paragraphs>
  <Slides>36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37" baseType="lpstr">
      <vt:lpstr>Android</vt:lpstr>
      <vt:lpstr>数据存储</vt:lpstr>
      <vt:lpstr>Android数据存储方式</vt:lpstr>
      <vt:lpstr>SharedPreferences</vt:lpstr>
      <vt:lpstr>Activity的SharedPreferences</vt:lpstr>
      <vt:lpstr>命名的SharedPreferences</vt:lpstr>
      <vt:lpstr>向SharedPreferences写数据</vt:lpstr>
      <vt:lpstr>读取SharedPreferences</vt:lpstr>
      <vt:lpstr>清除SharedPreferences</vt:lpstr>
      <vt:lpstr>示例</vt:lpstr>
      <vt:lpstr>文件</vt:lpstr>
      <vt:lpstr>文件的API</vt:lpstr>
      <vt:lpstr>使用外部内存文件</vt:lpstr>
      <vt:lpstr>使用外部存储文件</vt:lpstr>
      <vt:lpstr>Cache文件（临时文件）</vt:lpstr>
      <vt:lpstr>读取资源中的静态文件</vt:lpstr>
      <vt:lpstr>示例</vt:lpstr>
      <vt:lpstr>SQLite</vt:lpstr>
      <vt:lpstr>SQLite</vt:lpstr>
      <vt:lpstr>数据库</vt:lpstr>
      <vt:lpstr>创建数据库</vt:lpstr>
      <vt:lpstr>SQLiteOpenHelper</vt:lpstr>
      <vt:lpstr>使用数据库(SQLiteDatabase)</vt:lpstr>
      <vt:lpstr>使用数据库(SQLiteDatabase)</vt:lpstr>
      <vt:lpstr>示例</vt:lpstr>
      <vt:lpstr>ContentProvider</vt:lpstr>
      <vt:lpstr>ContentResolver</vt:lpstr>
      <vt:lpstr>ContentProvider &amp; ContentResolver</vt:lpstr>
      <vt:lpstr>Android内置的ContentProvider</vt:lpstr>
      <vt:lpstr>URI</vt:lpstr>
      <vt:lpstr>查询</vt:lpstr>
      <vt:lpstr>删除</vt:lpstr>
      <vt:lpstr>插入</vt:lpstr>
      <vt:lpstr>更新</vt:lpstr>
      <vt:lpstr>ContentProviderOperation</vt:lpstr>
      <vt:lpstr>示例</vt:lpstr>
      <vt:lpstr>创建自己的ContentProvider</vt:lpstr>
    </vt:vector>
  </TitlesOfParts>
  <Company>zjgsu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数据存取</dc:title>
  <dc:creator>建伟 韩</dc:creator>
  <cp:lastModifiedBy>韩 建伟</cp:lastModifiedBy>
  <cp:revision>91</cp:revision>
  <dcterms:created xsi:type="dcterms:W3CDTF">2012-11-06T04:31:34Z</dcterms:created>
  <dcterms:modified xsi:type="dcterms:W3CDTF">2014-05-07T11:00:05Z</dcterms:modified>
</cp:coreProperties>
</file>