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3" r:id="rId20"/>
    <p:sldId id="275" r:id="rId21"/>
    <p:sldId id="277" r:id="rId22"/>
    <p:sldId id="276" r:id="rId23"/>
    <p:sldId id="278" r:id="rId24"/>
    <p:sldId id="279" r:id="rId25"/>
    <p:sldId id="280" r:id="rId26"/>
    <p:sldId id="281" r:id="rId27"/>
    <p:sldId id="283" r:id="rId28"/>
    <p:sldId id="282" r:id="rId29"/>
    <p:sldId id="285" r:id="rId30"/>
    <p:sldId id="284" r:id="rId31"/>
    <p:sldId id="286" r:id="rId32"/>
    <p:sldId id="288" r:id="rId33"/>
    <p:sldId id="287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301" r:id="rId45"/>
    <p:sldId id="300" r:id="rId46"/>
    <p:sldId id="299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7" r:id="rId62"/>
  </p:sldIdLst>
  <p:sldSz cx="9144000" cy="6858000" type="screen4x3"/>
  <p:notesSz cx="6858000" cy="9144000"/>
  <p:defaultTextStyle>
    <a:defPPr>
      <a:defRPr lang="zh-CN"/>
    </a:defPPr>
    <a:lvl1pPr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1pPr>
    <a:lvl2pPr marL="4572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2pPr>
    <a:lvl3pPr marL="9144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3pPr>
    <a:lvl4pPr marL="13716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4pPr>
    <a:lvl5pPr marL="1828800" algn="l" defTabSz="457200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5pPr>
    <a:lvl6pPr marL="2286000" algn="l" defTabSz="457200" rtl="0" eaLnBrk="1" latinLnBrk="0" hangingPunct="1"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6pPr>
    <a:lvl7pPr marL="2743200" algn="l" defTabSz="457200" rtl="0" eaLnBrk="1" latinLnBrk="0" hangingPunct="1"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7pPr>
    <a:lvl8pPr marL="3200400" algn="l" defTabSz="457200" rtl="0" eaLnBrk="1" latinLnBrk="0" hangingPunct="1"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8pPr>
    <a:lvl9pPr marL="3657600" algn="l" defTabSz="457200" rtl="0" eaLnBrk="1" latinLnBrk="0" hangingPunct="1">
      <a:defRPr kumimoji="1" kern="1200">
        <a:solidFill>
          <a:schemeClr val="tx1"/>
        </a:solidFill>
        <a:latin typeface="Arial" charset="0"/>
        <a:ea typeface="宋体" charset="0"/>
        <a:cs typeface="宋体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67" d="100"/>
          <a:sy n="167" d="100"/>
        </p:scale>
        <p:origin x="-1576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printerSettings" Target="printerSettings/printerSettings1.bin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38" name="Picture 14" descr="http://www.proxware.com/images/androids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4150" y="5257800"/>
            <a:ext cx="3879850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32200"/>
            <a:ext cx="3225800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altLang="en-US" dirty="0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zh-CN" altLang="en-US" smtClean="0"/>
              <a:t>单击此处编辑母版副标题样式</a:t>
            </a:r>
            <a:endParaRPr lang="en-US" altLang="en-US" dirty="0"/>
          </a:p>
        </p:txBody>
      </p:sp>
      <p:sp>
        <p:nvSpPr>
          <p:cNvPr id="40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AFF57B3-3822-8C43-AAA8-72CD8FCBD7FD}" type="datetimeFigureOut">
              <a:rPr lang="zh-CN" altLang="en-US"/>
              <a:pPr>
                <a:defRPr/>
              </a:pPr>
              <a:t>5/28/14</a:t>
            </a:fld>
            <a:endParaRPr lang="zh-CN" altLang="en-US"/>
          </a:p>
        </p:txBody>
      </p:sp>
      <p:sp>
        <p:nvSpPr>
          <p:cNvPr id="41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2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26218C9-C336-2F46-A3A1-4D126029AFF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813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www.pslweb.org/liberationnews/assets/images/website/android-logo-peekin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6238" y="4648200"/>
            <a:ext cx="1147762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E58EF4D-7A81-B64F-A9AA-153D37FCBDAD}" type="datetimeFigureOut">
              <a:rPr lang="zh-CN" altLang="en-US"/>
              <a:pPr>
                <a:defRPr/>
              </a:pPr>
              <a:t>5/28/14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ED4DEDB-3095-4444-A482-4B9617226B0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405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A328EA-D04C-6E4C-82AC-47D5A6CE9252}" type="datetimeFigureOut">
              <a:rPr lang="zh-CN" altLang="en-US"/>
              <a:pPr>
                <a:defRPr/>
              </a:pPr>
              <a:t>5/28/14</a:t>
            </a:fld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344F76-D356-0545-AF8E-0132649E30A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2105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09AFAF-E246-B14A-ABF9-69410E00C5B7}" type="datetimeFigureOut">
              <a:rPr lang="zh-CN" altLang="en-US"/>
              <a:pPr>
                <a:defRPr/>
              </a:pPr>
              <a:t>5/28/14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69F0C1-92A8-C54C-9153-330BD96D7B0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160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F6BA40-CE65-B94C-86BC-64906BB68D25}" type="datetimeFigureOut">
              <a:rPr lang="zh-CN" altLang="en-US"/>
              <a:pPr>
                <a:defRPr/>
              </a:pPr>
              <a:t>5/28/14</a:t>
            </a:fld>
            <a:endParaRPr lang="zh-CN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884A17-D5BC-FC47-8862-A06B1A1D355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3960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BA1258-9EC7-8C4A-89A1-B269471E57E8}" type="datetimeFigureOut">
              <a:rPr lang="zh-CN" altLang="en-US"/>
              <a:pPr>
                <a:defRPr/>
              </a:pPr>
              <a:t>5/28/14</a:t>
            </a:fld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CF1B3C-8DDD-AC47-8B26-269542E958A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612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BFA845-2D3C-B54A-90B5-25111C3B9629}" type="datetimeFigureOut">
              <a:rPr lang="zh-CN" altLang="en-US"/>
              <a:pPr>
                <a:defRPr/>
              </a:pPr>
              <a:t>5/28/14</a:t>
            </a:fld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B2D85D-7BC6-B047-BFE7-480021E7DDC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2015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94D925-6519-D64E-B2F4-521ADA2FBC35}" type="datetimeFigureOut">
              <a:rPr lang="zh-CN" altLang="en-US"/>
              <a:pPr>
                <a:defRPr/>
              </a:pPr>
              <a:t>5/28/14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0549E3-D466-8D41-ADAB-3FC57901386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292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将图片拖动到占位符，或单击添加图标</a:t>
            </a:r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EB09F-FE40-3D41-9D4A-07EFD8860CA6}" type="datetimeFigureOut">
              <a:rPr lang="zh-CN" altLang="en-US"/>
              <a:pPr>
                <a:defRPr/>
              </a:pPr>
              <a:t>5/28/14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622EA8-E2A3-D440-AF6E-83A3BD358D7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891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9DB3C1-0C4C-9F49-B54B-175A8B468E7C}" type="datetimeFigureOut">
              <a:rPr lang="zh-CN" altLang="en-US"/>
              <a:pPr>
                <a:defRPr/>
              </a:pPr>
              <a:t>5/28/14</a:t>
            </a:fld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F0F4FD-4D0B-E14F-8B77-763DD43EE43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475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06A66F-048B-6C49-A852-8894CD39A094}" type="datetimeFigureOut">
              <a:rPr lang="zh-CN" altLang="en-US"/>
              <a:pPr>
                <a:defRPr/>
              </a:pPr>
              <a:t>5/28/14</a:t>
            </a:fld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5A42F0-D4E2-D546-96A3-094CD4D4CE9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143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、文本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0BEDBF-C274-344D-9F18-F33538B9688B}" type="datetimeFigureOut">
              <a:rPr lang="zh-CN" altLang="en-US"/>
              <a:pPr>
                <a:defRPr/>
              </a:pPr>
              <a:t>5/28/14</a:t>
            </a:fld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14946F-0168-CE47-8ED2-1C3E1660D34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9976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  <a:endParaRPr lang="en-US" altLang="zh-CN"/>
          </a:p>
        </p:txBody>
      </p:sp>
      <p:sp>
        <p:nvSpPr>
          <p:cNvPr id="1946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fontAlgn="auto">
              <a:spcBef>
                <a:spcPts val="0"/>
              </a:spcBef>
              <a:spcAft>
                <a:spcPts val="0"/>
              </a:spcAft>
              <a:defRPr sz="1000" b="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16CE8B48-EDCB-6145-A770-8D54E37071EA}" type="datetimeFigureOut">
              <a:rPr lang="zh-CN" altLang="en-US"/>
              <a:pPr>
                <a:defRPr/>
              </a:pPr>
              <a:t>5/28/14</a:t>
            </a:fld>
            <a:endParaRPr lang="zh-CN" altLang="en-US"/>
          </a:p>
        </p:txBody>
      </p:sp>
      <p:sp>
        <p:nvSpPr>
          <p:cNvPr id="3175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sz="1000" b="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175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sz="1000" b="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AD5BB6B8-4661-8A45-BD9F-6F70CB0D751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grpSp>
        <p:nvGrpSpPr>
          <p:cNvPr id="19464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9465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66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67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68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69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0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1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2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3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4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5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6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7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8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79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0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1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2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3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4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5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6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7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8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89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90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91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92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93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94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  <p:sp>
          <p:nvSpPr>
            <p:cNvPr id="19495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kumimoji="0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iming>
    <p:tnLst>
      <p:par>
        <p:cTn xmlns:p14="http://schemas.microsoft.com/office/powerpoint/2010/main"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/>
          <a:ea typeface="Kai"/>
          <a:cs typeface="Kai"/>
        </a:defRPr>
      </a:lvl1pPr>
      <a:lvl2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 charset="0"/>
          <a:ea typeface="Kai" charset="0"/>
          <a:cs typeface="Kai" charset="0"/>
        </a:defRPr>
      </a:lvl2pPr>
      <a:lvl3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 charset="0"/>
          <a:ea typeface="Kai" charset="0"/>
          <a:cs typeface="Kai" charset="0"/>
        </a:defRPr>
      </a:lvl3pPr>
      <a:lvl4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 charset="0"/>
          <a:ea typeface="Kai" charset="0"/>
          <a:cs typeface="Kai" charset="0"/>
        </a:defRPr>
      </a:lvl4pPr>
      <a:lvl5pPr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Kai" charset="0"/>
          <a:ea typeface="Kai" charset="0"/>
          <a:cs typeface="Kai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charset="0"/>
        <a:buChar char="l"/>
        <a:defRPr kumimoji="1" sz="3000">
          <a:solidFill>
            <a:schemeClr val="tx1"/>
          </a:solidFill>
          <a:latin typeface="Kai"/>
          <a:ea typeface="Kai"/>
          <a:cs typeface="Kai"/>
        </a:defRPr>
      </a:lvl1pPr>
      <a:lvl2pPr marL="692150" indent="-34766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charset="0"/>
        <a:buChar char="l"/>
        <a:defRPr kumimoji="1" sz="2600">
          <a:solidFill>
            <a:schemeClr val="tx1"/>
          </a:solidFill>
          <a:latin typeface="Kai"/>
          <a:ea typeface="Kai"/>
          <a:cs typeface="Kai"/>
        </a:defRPr>
      </a:lvl2pPr>
      <a:lvl3pPr marL="987425" indent="-293688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charset="0"/>
        <a:buChar char="l"/>
        <a:defRPr kumimoji="1" sz="2300">
          <a:solidFill>
            <a:schemeClr val="tx1"/>
          </a:solidFill>
          <a:latin typeface="Kai"/>
          <a:ea typeface="Kai"/>
          <a:cs typeface="Kai"/>
        </a:defRPr>
      </a:lvl3pPr>
      <a:lvl4pPr marL="1281113" indent="-292100" algn="l" rtl="0" fontAlgn="base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charset="0"/>
        <a:buChar char="§"/>
        <a:defRPr kumimoji="1" sz="2000">
          <a:solidFill>
            <a:schemeClr val="tx1"/>
          </a:solidFill>
          <a:latin typeface="Kai"/>
          <a:ea typeface="Kai"/>
          <a:cs typeface="Kai"/>
        </a:defRPr>
      </a:lvl4pPr>
      <a:lvl5pPr marL="15986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charset="0"/>
        <a:buChar char="§"/>
        <a:defRPr kumimoji="1" sz="2000">
          <a:solidFill>
            <a:schemeClr val="tx1"/>
          </a:solidFill>
          <a:latin typeface="Kai"/>
          <a:ea typeface="Kai"/>
          <a:cs typeface="Kai"/>
        </a:defRPr>
      </a:lvl5pPr>
      <a:lvl6pPr marL="20558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 smtClean="0">
                <a:latin typeface="Kai" charset="0"/>
                <a:ea typeface="Kai" charset="0"/>
                <a:cs typeface="Kai" charset="0"/>
              </a:rPr>
              <a:t>广播、服务、多线程</a:t>
            </a:r>
            <a:r>
              <a:rPr kumimoji="1" lang="en-US" altLang="zh-CN" dirty="0" smtClean="0">
                <a:latin typeface="Kai" charset="0"/>
                <a:ea typeface="Kai" charset="0"/>
                <a:cs typeface="Kai" charset="0"/>
              </a:rPr>
              <a:t>……</a:t>
            </a:r>
            <a:endParaRPr kumimoji="1" lang="zh-CN" altLang="en-US" dirty="0">
              <a:latin typeface="Kai" charset="0"/>
              <a:ea typeface="Kai" charset="0"/>
              <a:cs typeface="Kai" charset="0"/>
            </a:endParaRPr>
          </a:p>
        </p:txBody>
      </p:sp>
      <p:sp>
        <p:nvSpPr>
          <p:cNvPr id="22530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Wingdings" charset="0"/>
              <a:buNone/>
            </a:pPr>
            <a:endParaRPr lang="zh-CN" altLang="en-US" dirty="0">
              <a:latin typeface="Kai" charset="0"/>
              <a:ea typeface="Kai" charset="0"/>
              <a:cs typeface="Kai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内容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广播</a:t>
            </a:r>
            <a:endParaRPr lang="en-US" altLang="zh-CN" dirty="0" smtClean="0"/>
          </a:p>
          <a:p>
            <a:r>
              <a:rPr kumimoji="1" lang="zh-CN" altLang="en-US" dirty="0" smtClean="0"/>
              <a:t>服务</a:t>
            </a:r>
            <a:endParaRPr kumimoji="1" lang="en-US" altLang="zh-CN" dirty="0" smtClean="0"/>
          </a:p>
          <a:p>
            <a:r>
              <a:rPr kumimoji="1" lang="zh-CN" altLang="en-US" smtClean="0"/>
              <a:t>多线</a:t>
            </a:r>
            <a:r>
              <a:rPr kumimoji="1" lang="zh-CN" altLang="en-US" smtClean="0"/>
              <a:t>程</a:t>
            </a:r>
            <a:endParaRPr kumimoji="1"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392403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广播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广播类</a:t>
            </a:r>
            <a:endParaRPr lang="en-US" altLang="zh-CN" dirty="0" smtClean="0"/>
          </a:p>
          <a:p>
            <a:r>
              <a:rPr kumimoji="1" lang="zh-CN" altLang="en-US" dirty="0" smtClean="0"/>
              <a:t>注册</a:t>
            </a:r>
            <a:endParaRPr kumimoji="1" lang="en-US" altLang="zh-CN" dirty="0" smtClean="0"/>
          </a:p>
          <a:p>
            <a:r>
              <a:rPr kumimoji="1" lang="zh-CN" altLang="en-US" dirty="0" smtClean="0"/>
              <a:t>广播</a:t>
            </a:r>
            <a:endParaRPr kumimoji="1" lang="en-US" altLang="zh-CN" dirty="0" smtClean="0"/>
          </a:p>
          <a:p>
            <a:r>
              <a:rPr lang="zh-CN" altLang="en-US" dirty="0" smtClean="0"/>
              <a:t>处理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5002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BroadcastReceiver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接收、响应事件的组件基类</a:t>
            </a:r>
            <a:endParaRPr lang="en-US" altLang="zh-CN" dirty="0" smtClean="0"/>
          </a:p>
          <a:p>
            <a:r>
              <a:rPr lang="zh-CN" altLang="en-US" dirty="0" smtClean="0"/>
              <a:t>注册所感兴趣的事件，并接收之</a:t>
            </a:r>
            <a:endParaRPr lang="en-US" altLang="zh-CN" dirty="0" smtClean="0"/>
          </a:p>
          <a:p>
            <a:r>
              <a:rPr kumimoji="1" lang="zh-CN" altLang="en-US" dirty="0" smtClean="0"/>
              <a:t>当事件发生时，将其表示为</a:t>
            </a:r>
            <a:r>
              <a:rPr kumimoji="1" lang="en-US" altLang="zh-CN" dirty="0" smtClean="0"/>
              <a:t>Intent</a:t>
            </a:r>
          </a:p>
          <a:p>
            <a:r>
              <a:rPr lang="zh-CN" altLang="en-US" dirty="0" smtClean="0"/>
              <a:t>向系统广播</a:t>
            </a:r>
            <a:r>
              <a:rPr lang="zh-CN" altLang="en-US" dirty="0"/>
              <a:t>这些</a:t>
            </a:r>
            <a:r>
              <a:rPr lang="en-US" altLang="zh-CN" dirty="0" smtClean="0"/>
              <a:t>Intent</a:t>
            </a:r>
          </a:p>
          <a:p>
            <a:r>
              <a:rPr kumimoji="1" lang="en-US" altLang="zh-CN" dirty="0" smtClean="0"/>
              <a:t>Android</a:t>
            </a:r>
            <a:r>
              <a:rPr kumimoji="1" lang="zh-CN" altLang="en-US" dirty="0" smtClean="0"/>
              <a:t>将</a:t>
            </a:r>
            <a:r>
              <a:rPr kumimoji="1" lang="en-US" altLang="zh-CN" dirty="0" smtClean="0"/>
              <a:t>Intent</a:t>
            </a:r>
            <a:r>
              <a:rPr kumimoji="1" lang="zh-CN" altLang="en-US" dirty="0" smtClean="0"/>
              <a:t>转发给注册过这些事件的</a:t>
            </a:r>
            <a:r>
              <a:rPr kumimoji="1" lang="en-US" altLang="zh-CN" dirty="0" err="1" smtClean="0"/>
              <a:t>BroadcastReceiver</a:t>
            </a:r>
            <a:endParaRPr kumimoji="1" lang="en-US" altLang="zh-CN" dirty="0" smtClean="0"/>
          </a:p>
          <a:p>
            <a:r>
              <a:rPr lang="en-US" altLang="zh-CN" dirty="0" err="1" smtClean="0"/>
              <a:t>BroadcastReceiver</a:t>
            </a:r>
            <a:r>
              <a:rPr lang="zh-CN" altLang="en-US" dirty="0" smtClean="0"/>
              <a:t>通过调用</a:t>
            </a:r>
            <a:r>
              <a:rPr lang="en-US" altLang="zh-CN" dirty="0" err="1" smtClean="0"/>
              <a:t>onReceive</a:t>
            </a:r>
            <a:r>
              <a:rPr lang="en-US" altLang="zh-CN" dirty="0" smtClean="0"/>
              <a:t>()</a:t>
            </a:r>
            <a:r>
              <a:rPr lang="zh-CN" altLang="en-US" dirty="0" smtClean="0"/>
              <a:t>接收</a:t>
            </a:r>
            <a:r>
              <a:rPr lang="en-US" altLang="zh-CN" dirty="0" smtClean="0"/>
              <a:t>Intent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5252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一般用法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注册</a:t>
            </a:r>
            <a:r>
              <a:rPr kumimoji="1" lang="en-US" altLang="zh-CN" dirty="0" err="1" smtClean="0"/>
              <a:t>BroadcastReceiver</a:t>
            </a:r>
            <a:endParaRPr kumimoji="1" lang="en-US" altLang="zh-CN" dirty="0" smtClean="0"/>
          </a:p>
          <a:p>
            <a:r>
              <a:rPr lang="zh-CN" altLang="en-US" dirty="0" smtClean="0"/>
              <a:t>广播</a:t>
            </a:r>
            <a:r>
              <a:rPr lang="en-US" altLang="zh-CN" dirty="0" smtClean="0"/>
              <a:t>Intent</a:t>
            </a:r>
          </a:p>
          <a:p>
            <a:r>
              <a:rPr kumimoji="1" lang="en-US" altLang="zh-CN" dirty="0" smtClean="0"/>
              <a:t>Android</a:t>
            </a:r>
            <a:r>
              <a:rPr kumimoji="1" lang="zh-CN" altLang="en-US" dirty="0" smtClean="0"/>
              <a:t>通过调用</a:t>
            </a:r>
            <a:r>
              <a:rPr kumimoji="1" lang="en-US" altLang="zh-CN" dirty="0" err="1" smtClean="0"/>
              <a:t>onReceive</a:t>
            </a:r>
            <a:r>
              <a:rPr lang="en-US" altLang="zh-CN" dirty="0" smtClean="0"/>
              <a:t>()</a:t>
            </a:r>
            <a:r>
              <a:rPr lang="zh-CN" altLang="en-US" dirty="0" smtClean="0"/>
              <a:t>方法</a:t>
            </a:r>
            <a:r>
              <a:rPr kumimoji="1" lang="zh-CN" altLang="en-US" dirty="0" smtClean="0"/>
              <a:t>将</a:t>
            </a:r>
            <a:r>
              <a:rPr kumimoji="1" lang="en-US" altLang="zh-CN" dirty="0" smtClean="0"/>
              <a:t>Intent</a:t>
            </a:r>
            <a:r>
              <a:rPr kumimoji="1" lang="zh-CN" altLang="en-US" dirty="0" smtClean="0"/>
              <a:t>转发给相应的</a:t>
            </a:r>
            <a:r>
              <a:rPr kumimoji="1" lang="en-US" altLang="zh-CN" dirty="0" err="1" smtClean="0"/>
              <a:t>BroadcastReceiver</a:t>
            </a:r>
            <a:endParaRPr kumimoji="1" lang="en-US" altLang="zh-CN" dirty="0" smtClean="0"/>
          </a:p>
          <a:p>
            <a:r>
              <a:rPr lang="zh-CN" altLang="en-US" dirty="0" smtClean="0"/>
              <a:t>在</a:t>
            </a:r>
            <a:r>
              <a:rPr lang="en-US" altLang="zh-CN" dirty="0" err="1" smtClean="0"/>
              <a:t>onReceiver</a:t>
            </a:r>
            <a:r>
              <a:rPr lang="zh-CN" altLang="en-US" dirty="0" smtClean="0"/>
              <a:t>中处理事件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3478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注册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静态</a:t>
            </a:r>
            <a:endParaRPr kumimoji="1" lang="en-US" altLang="zh-CN" dirty="0" smtClean="0"/>
          </a:p>
          <a:p>
            <a:pPr lvl="1"/>
            <a:r>
              <a:rPr lang="en-US" altLang="zh-CN" dirty="0" err="1" smtClean="0"/>
              <a:t>AndroidManifest.xml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&lt;receiver&gt;</a:t>
            </a:r>
            <a:r>
              <a:rPr lang="zh-CN" altLang="en-US" dirty="0" smtClean="0"/>
              <a:t>、</a:t>
            </a:r>
            <a:r>
              <a:rPr lang="en-US" altLang="zh-CN" dirty="0" smtClean="0"/>
              <a:t>&lt;intent-filter&gt;</a:t>
            </a:r>
          </a:p>
          <a:p>
            <a:r>
              <a:rPr kumimoji="1" lang="zh-CN" altLang="en-US" dirty="0" smtClean="0"/>
              <a:t>动态</a:t>
            </a:r>
            <a:endParaRPr kumimoji="1" lang="en-US" altLang="zh-CN" dirty="0" smtClean="0"/>
          </a:p>
          <a:p>
            <a:pPr lvl="1"/>
            <a:r>
              <a:rPr lang="en-US" altLang="zh-CN" dirty="0" err="1" smtClean="0"/>
              <a:t>registerReceiver</a:t>
            </a:r>
            <a:r>
              <a:rPr lang="en-US" altLang="zh-CN" dirty="0" smtClean="0"/>
              <a:t>()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07445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&lt;receiver&gt; </a:t>
            </a:r>
            <a:r>
              <a:rPr kumimoji="1" lang="zh-CN" altLang="en-US" dirty="0" smtClean="0"/>
              <a:t>格式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800" dirty="0" smtClean="0">
                <a:latin typeface="Monaco"/>
                <a:cs typeface="Monaco"/>
              </a:rPr>
              <a:t>&lt;</a:t>
            </a:r>
            <a:r>
              <a:rPr lang="en-US" altLang="zh-CN" sz="2800" dirty="0">
                <a:latin typeface="Monaco"/>
                <a:cs typeface="Monaco"/>
              </a:rPr>
              <a:t>receiver</a:t>
            </a:r>
            <a:br>
              <a:rPr lang="en-US" altLang="zh-CN" sz="2800" dirty="0">
                <a:latin typeface="Monaco"/>
                <a:cs typeface="Monaco"/>
              </a:rPr>
            </a:br>
            <a:r>
              <a:rPr lang="en-US" altLang="zh-CN" sz="2800" dirty="0" smtClean="0">
                <a:latin typeface="Monaco"/>
                <a:cs typeface="Monaco"/>
              </a:rPr>
              <a:t>  </a:t>
            </a:r>
            <a:r>
              <a:rPr lang="en-US" altLang="zh-CN" sz="2800" dirty="0" err="1" smtClean="0">
                <a:latin typeface="Monaco"/>
                <a:cs typeface="Monaco"/>
              </a:rPr>
              <a:t>android:enabled</a:t>
            </a:r>
            <a:r>
              <a:rPr lang="en-US" altLang="zh-CN" sz="2800" dirty="0">
                <a:latin typeface="Monaco"/>
                <a:cs typeface="Monaco"/>
              </a:rPr>
              <a:t>=["true" | "false"] </a:t>
            </a:r>
          </a:p>
          <a:p>
            <a:pPr marL="0" indent="0">
              <a:buNone/>
            </a:pPr>
            <a:r>
              <a:rPr lang="en-US" altLang="zh-CN" sz="2800" dirty="0" smtClean="0">
                <a:latin typeface="Monaco"/>
                <a:cs typeface="Monaco"/>
              </a:rPr>
              <a:t>  </a:t>
            </a:r>
            <a:r>
              <a:rPr lang="en-US" altLang="zh-CN" sz="2800" dirty="0" err="1" smtClean="0">
                <a:latin typeface="Monaco"/>
                <a:cs typeface="Monaco"/>
              </a:rPr>
              <a:t>android:exported</a:t>
            </a:r>
            <a:r>
              <a:rPr lang="en-US" altLang="zh-CN" sz="2800" dirty="0">
                <a:latin typeface="Monaco"/>
                <a:cs typeface="Monaco"/>
              </a:rPr>
              <a:t>=["true" | "false"] </a:t>
            </a:r>
            <a:r>
              <a:rPr lang="en-US" altLang="zh-CN" sz="2800" dirty="0" smtClean="0">
                <a:latin typeface="Monaco"/>
                <a:cs typeface="Monaco"/>
              </a:rPr>
              <a:t>      </a:t>
            </a:r>
          </a:p>
          <a:p>
            <a:pPr marL="0" indent="0">
              <a:buNone/>
            </a:pPr>
            <a:r>
              <a:rPr lang="en-US" altLang="zh-CN" sz="2800" dirty="0">
                <a:latin typeface="Monaco"/>
                <a:cs typeface="Monaco"/>
              </a:rPr>
              <a:t> </a:t>
            </a:r>
            <a:r>
              <a:rPr lang="en-US" altLang="zh-CN" sz="2800" dirty="0" smtClean="0">
                <a:latin typeface="Monaco"/>
                <a:cs typeface="Monaco"/>
              </a:rPr>
              <a:t> </a:t>
            </a:r>
            <a:r>
              <a:rPr lang="en-US" altLang="zh-CN" sz="2800" dirty="0" err="1" smtClean="0">
                <a:latin typeface="Monaco"/>
                <a:cs typeface="Monaco"/>
              </a:rPr>
              <a:t>android:icon</a:t>
            </a:r>
            <a:r>
              <a:rPr lang="en-US" altLang="zh-CN" sz="2800" dirty="0">
                <a:latin typeface="Monaco"/>
                <a:cs typeface="Monaco"/>
              </a:rPr>
              <a:t>="</a:t>
            </a:r>
            <a:r>
              <a:rPr lang="en-US" altLang="zh-CN" sz="2800" dirty="0" err="1">
                <a:latin typeface="Monaco"/>
                <a:cs typeface="Monaco"/>
              </a:rPr>
              <a:t>drawable</a:t>
            </a:r>
            <a:r>
              <a:rPr lang="en-US" altLang="zh-CN" sz="2800" dirty="0">
                <a:latin typeface="Monaco"/>
                <a:cs typeface="Monaco"/>
              </a:rPr>
              <a:t> resource" </a:t>
            </a:r>
            <a:r>
              <a:rPr lang="en-US" altLang="zh-CN" sz="2800" dirty="0" smtClean="0">
                <a:latin typeface="Monaco"/>
                <a:cs typeface="Monaco"/>
              </a:rPr>
              <a:t>  </a:t>
            </a:r>
          </a:p>
          <a:p>
            <a:pPr marL="0" indent="0">
              <a:buNone/>
            </a:pPr>
            <a:r>
              <a:rPr lang="en-US" altLang="zh-CN" sz="2800" dirty="0">
                <a:latin typeface="Monaco"/>
                <a:cs typeface="Monaco"/>
              </a:rPr>
              <a:t> </a:t>
            </a:r>
            <a:r>
              <a:rPr lang="en-US" altLang="zh-CN" sz="2800" dirty="0" smtClean="0">
                <a:latin typeface="Monaco"/>
                <a:cs typeface="Monaco"/>
              </a:rPr>
              <a:t> </a:t>
            </a:r>
            <a:r>
              <a:rPr lang="en-US" altLang="zh-CN" sz="2800" dirty="0" err="1" smtClean="0">
                <a:latin typeface="Monaco"/>
                <a:cs typeface="Monaco"/>
              </a:rPr>
              <a:t>android:label</a:t>
            </a:r>
            <a:r>
              <a:rPr lang="en-US" altLang="zh-CN" sz="2800" dirty="0">
                <a:latin typeface="Monaco"/>
                <a:cs typeface="Monaco"/>
              </a:rPr>
              <a:t>="string resource" </a:t>
            </a:r>
            <a:r>
              <a:rPr lang="en-US" altLang="zh-CN" sz="2800" dirty="0" smtClean="0">
                <a:latin typeface="Monaco"/>
                <a:cs typeface="Monaco"/>
              </a:rPr>
              <a:t> </a:t>
            </a:r>
          </a:p>
          <a:p>
            <a:pPr marL="0" indent="0">
              <a:buNone/>
            </a:pPr>
            <a:r>
              <a:rPr lang="en-US" altLang="zh-CN" sz="2800" dirty="0">
                <a:latin typeface="Monaco"/>
                <a:cs typeface="Monaco"/>
              </a:rPr>
              <a:t> </a:t>
            </a:r>
            <a:r>
              <a:rPr lang="en-US" altLang="zh-CN" sz="2800" dirty="0" smtClean="0">
                <a:latin typeface="Monaco"/>
                <a:cs typeface="Monaco"/>
              </a:rPr>
              <a:t> </a:t>
            </a:r>
            <a:r>
              <a:rPr lang="en-US" altLang="zh-CN" sz="2800" dirty="0" err="1" smtClean="0">
                <a:latin typeface="Monaco"/>
                <a:cs typeface="Monaco"/>
              </a:rPr>
              <a:t>android:name</a:t>
            </a:r>
            <a:r>
              <a:rPr lang="en-US" altLang="zh-CN" sz="2800" dirty="0">
                <a:latin typeface="Monaco"/>
                <a:cs typeface="Monaco"/>
              </a:rPr>
              <a:t>="string" </a:t>
            </a:r>
            <a:endParaRPr lang="en-US" altLang="zh-CN" sz="2800" dirty="0" smtClean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altLang="zh-CN" sz="2800" dirty="0">
                <a:latin typeface="Monaco"/>
                <a:cs typeface="Monaco"/>
              </a:rPr>
              <a:t> </a:t>
            </a:r>
            <a:r>
              <a:rPr lang="en-US" altLang="zh-CN" sz="2800" dirty="0" smtClean="0">
                <a:latin typeface="Monaco"/>
                <a:cs typeface="Monaco"/>
              </a:rPr>
              <a:t> </a:t>
            </a:r>
            <a:r>
              <a:rPr lang="en-US" altLang="zh-CN" sz="2800" dirty="0" err="1" smtClean="0">
                <a:latin typeface="Monaco"/>
                <a:cs typeface="Monaco"/>
              </a:rPr>
              <a:t>android:permission</a:t>
            </a:r>
            <a:r>
              <a:rPr lang="en-US" altLang="zh-CN" sz="2800" dirty="0">
                <a:latin typeface="Monaco"/>
                <a:cs typeface="Monaco"/>
              </a:rPr>
              <a:t>="string" </a:t>
            </a:r>
            <a:endParaRPr lang="en-US" altLang="zh-CN" sz="2800" dirty="0" smtClean="0">
              <a:latin typeface="Monaco"/>
              <a:cs typeface="Monaco"/>
            </a:endParaRPr>
          </a:p>
          <a:p>
            <a:pPr marL="0" indent="0">
              <a:buNone/>
            </a:pPr>
            <a:r>
              <a:rPr lang="en-US" altLang="zh-CN" sz="2800" dirty="0">
                <a:latin typeface="Monaco"/>
                <a:cs typeface="Monaco"/>
              </a:rPr>
              <a:t> </a:t>
            </a:r>
            <a:r>
              <a:rPr lang="en-US" altLang="zh-CN" sz="2800" dirty="0" smtClean="0">
                <a:latin typeface="Monaco"/>
                <a:cs typeface="Monaco"/>
              </a:rPr>
              <a:t> </a:t>
            </a:r>
            <a:r>
              <a:rPr lang="en-US" altLang="zh-CN" sz="2800" dirty="0" err="1" smtClean="0">
                <a:latin typeface="Monaco"/>
                <a:cs typeface="Monaco"/>
              </a:rPr>
              <a:t>android:process</a:t>
            </a:r>
            <a:r>
              <a:rPr lang="en-US" altLang="zh-CN" sz="2800" dirty="0">
                <a:latin typeface="Monaco"/>
                <a:cs typeface="Monaco"/>
              </a:rPr>
              <a:t>="string" &gt; </a:t>
            </a:r>
          </a:p>
          <a:p>
            <a:pPr marL="0" indent="0">
              <a:buNone/>
            </a:pPr>
            <a:r>
              <a:rPr lang="en-US" altLang="zh-CN" sz="2800" dirty="0" smtClean="0">
                <a:latin typeface="Monaco"/>
                <a:cs typeface="Monaco"/>
              </a:rPr>
              <a:t>…</a:t>
            </a:r>
          </a:p>
          <a:p>
            <a:pPr marL="0" indent="0">
              <a:buNone/>
            </a:pPr>
            <a:r>
              <a:rPr lang="en-US" altLang="zh-CN" sz="2800" dirty="0" smtClean="0">
                <a:latin typeface="Monaco"/>
                <a:cs typeface="Monaco"/>
              </a:rPr>
              <a:t>&lt;</a:t>
            </a:r>
            <a:r>
              <a:rPr lang="en-US" altLang="zh-CN" sz="2800" dirty="0">
                <a:latin typeface="Monaco"/>
                <a:cs typeface="Monaco"/>
              </a:rPr>
              <a:t>/receiver&gt; </a:t>
            </a:r>
          </a:p>
          <a:p>
            <a:pPr marL="0" indent="0">
              <a:buNone/>
            </a:pPr>
            <a:endParaRPr kumimoji="1" lang="zh-CN" altLang="en-US" sz="2800" dirty="0"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22638594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&lt;intent-filter&gt;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在</a:t>
            </a:r>
            <a:r>
              <a:rPr lang="en-US" altLang="zh-CN" dirty="0" smtClean="0"/>
              <a:t>&lt;receiver&gt;</a:t>
            </a:r>
            <a:r>
              <a:rPr lang="zh-CN" altLang="en-US" dirty="0" smtClean="0"/>
              <a:t>内部指定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1519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静态注册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当系统启动或应用被安装时自动注册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2286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581773" y="2802200"/>
            <a:ext cx="4030780" cy="1362075"/>
          </a:xfrm>
        </p:spPr>
        <p:txBody>
          <a:bodyPr/>
          <a:lstStyle/>
          <a:p>
            <a:r>
              <a:rPr kumimoji="1" lang="zh-CN" altLang="en-US" dirty="0" smtClean="0"/>
              <a:t>例子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48906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动态注册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创建一个</a:t>
            </a:r>
            <a:r>
              <a:rPr kumimoji="1" lang="en-US" altLang="zh-CN" dirty="0" err="1" smtClean="0"/>
              <a:t>IntentFilter</a:t>
            </a:r>
            <a:endParaRPr kumimoji="1" lang="en-US" altLang="zh-CN" dirty="0" smtClean="0"/>
          </a:p>
          <a:p>
            <a:r>
              <a:rPr lang="zh-CN" altLang="en-US" dirty="0" smtClean="0"/>
              <a:t>创建一个</a:t>
            </a:r>
            <a:r>
              <a:rPr lang="en-US" altLang="zh-CN" dirty="0" err="1" smtClean="0"/>
              <a:t>BroadcastReceiver</a:t>
            </a:r>
            <a:endParaRPr lang="en-US" altLang="zh-CN" dirty="0" smtClean="0"/>
          </a:p>
          <a:p>
            <a:r>
              <a:rPr kumimoji="1" lang="zh-CN" altLang="en-US" dirty="0" smtClean="0"/>
              <a:t>用</a:t>
            </a:r>
            <a:r>
              <a:rPr kumimoji="1" lang="en-US" altLang="zh-CN" dirty="0" err="1" smtClean="0"/>
              <a:t>registerReceiver</a:t>
            </a:r>
            <a:r>
              <a:rPr kumimoji="1" lang="en-US" altLang="zh-CN" dirty="0" smtClean="0"/>
              <a:t>()</a:t>
            </a:r>
            <a:r>
              <a:rPr kumimoji="1" lang="zh-CN" altLang="en-US" dirty="0" smtClean="0"/>
              <a:t>注册</a:t>
            </a:r>
            <a:r>
              <a:rPr kumimoji="1" lang="en-US" altLang="zh-CN" dirty="0" err="1" smtClean="0"/>
              <a:t>BroadcastReceiver</a:t>
            </a:r>
            <a:endParaRPr kumimoji="1" lang="en-US" altLang="zh-CN" dirty="0" smtClean="0"/>
          </a:p>
          <a:p>
            <a:pPr lvl="1"/>
            <a:r>
              <a:rPr kumimoji="1" lang="en-US" altLang="zh-CN" dirty="0" err="1" smtClean="0"/>
              <a:t>LocalBroadcastManager</a:t>
            </a:r>
            <a:endParaRPr kumimoji="1" lang="en-US" altLang="zh-CN" dirty="0" smtClean="0"/>
          </a:p>
          <a:p>
            <a:pPr lvl="1"/>
            <a:r>
              <a:rPr lang="en-US" altLang="zh-CN" dirty="0" smtClean="0"/>
              <a:t>Context</a:t>
            </a:r>
          </a:p>
          <a:p>
            <a:r>
              <a:rPr lang="zh-CN" altLang="en-US" dirty="0" smtClean="0"/>
              <a:t>调用</a:t>
            </a:r>
            <a:r>
              <a:rPr lang="en-US" altLang="zh-CN" dirty="0" err="1" smtClean="0"/>
              <a:t>unRegisterReceiver</a:t>
            </a:r>
            <a:r>
              <a:rPr lang="en-US" altLang="zh-CN" dirty="0" smtClean="0"/>
              <a:t>()</a:t>
            </a:r>
            <a:r>
              <a:rPr lang="zh-CN" altLang="en-US" dirty="0" smtClean="0"/>
              <a:t>来取消注册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2310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581773" y="2802200"/>
            <a:ext cx="4030780" cy="1362075"/>
          </a:xfrm>
        </p:spPr>
        <p:txBody>
          <a:bodyPr/>
          <a:lstStyle/>
          <a:p>
            <a:r>
              <a:rPr kumimoji="1" lang="zh-CN" altLang="en-US" dirty="0" smtClean="0"/>
              <a:t>例子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48906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事件广播</a:t>
            </a:r>
            <a:endParaRPr kumimoji="1"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一般与有序</a:t>
            </a:r>
            <a:endParaRPr lang="en-US" altLang="zh-CN" dirty="0" smtClean="0"/>
          </a:p>
          <a:p>
            <a:pPr lvl="1"/>
            <a:r>
              <a:rPr kumimoji="1" lang="zh-CN" altLang="en-US" dirty="0" smtClean="0"/>
              <a:t>一般：处理顺序未定义</a:t>
            </a:r>
            <a:endParaRPr kumimoji="1" lang="en-US" altLang="zh-CN" dirty="0" smtClean="0"/>
          </a:p>
          <a:p>
            <a:pPr lvl="1"/>
            <a:r>
              <a:rPr lang="zh-CN" altLang="en-US" dirty="0" smtClean="0"/>
              <a:t>顺序：按照优先级顺序依次执行</a:t>
            </a:r>
            <a:endParaRPr lang="en-US" altLang="zh-CN" dirty="0" smtClean="0"/>
          </a:p>
          <a:p>
            <a:r>
              <a:rPr lang="en-US" altLang="zh-CN" dirty="0" smtClean="0"/>
              <a:t>Sticky</a:t>
            </a:r>
            <a:r>
              <a:rPr lang="zh-CN" altLang="en-US" dirty="0" smtClean="0"/>
              <a:t>和</a:t>
            </a:r>
            <a:r>
              <a:rPr lang="en-US" altLang="zh-CN" dirty="0" smtClean="0"/>
              <a:t>Non-Sticky</a:t>
            </a:r>
          </a:p>
          <a:p>
            <a:pPr lvl="1"/>
            <a:r>
              <a:rPr kumimoji="1" lang="en-US" altLang="zh-CN" dirty="0" smtClean="0"/>
              <a:t>Sticky: </a:t>
            </a:r>
            <a:r>
              <a:rPr kumimoji="1" lang="zh-CN" altLang="en-US" dirty="0" smtClean="0"/>
              <a:t>广播后存储</a:t>
            </a:r>
            <a:r>
              <a:rPr kumimoji="1" lang="en-US" altLang="zh-CN" dirty="0" smtClean="0"/>
              <a:t>Intent</a:t>
            </a:r>
          </a:p>
          <a:p>
            <a:pPr lvl="1"/>
            <a:r>
              <a:rPr lang="en-US" altLang="zh-CN" dirty="0" smtClean="0"/>
              <a:t>Non-Sticky: </a:t>
            </a:r>
            <a:r>
              <a:rPr lang="zh-CN" altLang="en-US" dirty="0" smtClean="0"/>
              <a:t>广播后丢弃</a:t>
            </a:r>
            <a:r>
              <a:rPr lang="en-US" altLang="zh-CN" dirty="0" smtClean="0"/>
              <a:t>Intent</a:t>
            </a:r>
          </a:p>
          <a:p>
            <a:r>
              <a:rPr kumimoji="1" lang="zh-CN" altLang="en-US" dirty="0" smtClean="0"/>
              <a:t>有无</a:t>
            </a:r>
            <a:r>
              <a:rPr kumimoji="1" lang="en-US" altLang="zh-CN" dirty="0" smtClean="0"/>
              <a:t>Receiver</a:t>
            </a:r>
            <a:r>
              <a:rPr kumimoji="1" lang="zh-CN" altLang="en-US" dirty="0" smtClean="0"/>
              <a:t>权限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0383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事件分发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通过调用</a:t>
            </a:r>
            <a:r>
              <a:rPr kumimoji="1" lang="en-US" altLang="zh-CN" dirty="0" err="1" smtClean="0"/>
              <a:t>onReceive</a:t>
            </a:r>
            <a:r>
              <a:rPr kumimoji="1" lang="en-US" altLang="zh-CN" dirty="0" smtClean="0"/>
              <a:t>()</a:t>
            </a:r>
            <a:r>
              <a:rPr kumimoji="1" lang="zh-CN" altLang="en-US" dirty="0" smtClean="0"/>
              <a:t>来分发</a:t>
            </a:r>
            <a:r>
              <a:rPr kumimoji="1" lang="en-US" altLang="zh-CN" dirty="0" smtClean="0"/>
              <a:t>Intent</a:t>
            </a:r>
          </a:p>
          <a:p>
            <a:pPr lvl="1"/>
            <a:r>
              <a:rPr lang="en-US" altLang="zh-CN" dirty="0" smtClean="0"/>
              <a:t>Context: receiver</a:t>
            </a:r>
            <a:r>
              <a:rPr lang="zh-CN" altLang="en-US" dirty="0" smtClean="0"/>
              <a:t>运行的组件</a:t>
            </a:r>
            <a:endParaRPr lang="en-US" altLang="zh-CN" dirty="0" smtClean="0"/>
          </a:p>
          <a:p>
            <a:pPr lvl="1"/>
            <a:r>
              <a:rPr kumimoji="1" lang="en-US" altLang="zh-CN" dirty="0" smtClean="0"/>
              <a:t>Intent</a:t>
            </a:r>
            <a:r>
              <a:rPr kumimoji="1" lang="zh-CN" altLang="en-US" dirty="0" smtClean="0"/>
              <a:t>：</a:t>
            </a:r>
            <a:r>
              <a:rPr kumimoji="1" lang="en-US" altLang="zh-CN" dirty="0" smtClean="0"/>
              <a:t> </a:t>
            </a:r>
            <a:r>
              <a:rPr kumimoji="1" lang="zh-CN" altLang="en-US" dirty="0" smtClean="0"/>
              <a:t>广播的</a:t>
            </a:r>
            <a:r>
              <a:rPr kumimoji="1" lang="en-US" altLang="zh-CN" dirty="0" smtClean="0"/>
              <a:t>intent</a:t>
            </a:r>
          </a:p>
          <a:p>
            <a:r>
              <a:rPr kumimoji="1" lang="en-US" altLang="zh-CN" dirty="0" err="1" smtClean="0"/>
              <a:t>onReceive</a:t>
            </a:r>
            <a:r>
              <a:rPr kumimoji="1" lang="en-US" altLang="zh-CN" dirty="0" smtClean="0"/>
              <a:t>()</a:t>
            </a:r>
            <a:r>
              <a:rPr kumimoji="1" lang="zh-CN" altLang="en-US" dirty="0" smtClean="0"/>
              <a:t>处理事件</a:t>
            </a:r>
            <a:endParaRPr kumimoji="1" lang="en-US" altLang="zh-CN" dirty="0" smtClean="0"/>
          </a:p>
          <a:p>
            <a:pPr lvl="1"/>
            <a:r>
              <a:rPr kumimoji="1" lang="en-US" altLang="zh-CN" dirty="0" err="1" smtClean="0"/>
              <a:t>onReceive</a:t>
            </a:r>
            <a:r>
              <a:rPr kumimoji="1" lang="en-US" altLang="zh-CN" dirty="0" smtClean="0"/>
              <a:t>()</a:t>
            </a:r>
            <a:r>
              <a:rPr kumimoji="1" lang="zh-CN" altLang="en-US" dirty="0" smtClean="0"/>
              <a:t>执行时宿主进程具有较高优先级</a:t>
            </a:r>
            <a:endParaRPr kumimoji="1" lang="en-US" altLang="zh-CN" dirty="0" smtClean="0"/>
          </a:p>
          <a:p>
            <a:pPr lvl="1"/>
            <a:r>
              <a:rPr lang="en-US" altLang="zh-CN" dirty="0" err="1" smtClean="0"/>
              <a:t>onReceive</a:t>
            </a:r>
            <a:r>
              <a:rPr lang="en-US" altLang="zh-CN" dirty="0" smtClean="0"/>
              <a:t>()</a:t>
            </a:r>
            <a:r>
              <a:rPr lang="zh-CN" altLang="en-US" dirty="0" smtClean="0"/>
              <a:t>在主线程运行，因此它应该比较短</a:t>
            </a:r>
            <a:endParaRPr lang="en-US" altLang="zh-CN" dirty="0" smtClean="0"/>
          </a:p>
          <a:p>
            <a:pPr lvl="1"/>
            <a:r>
              <a:rPr kumimoji="1" lang="zh-CN" altLang="en-US" dirty="0" smtClean="0"/>
              <a:t>如果事件处理需要很长时间，考虑启动一个服务，而不是在</a:t>
            </a:r>
            <a:r>
              <a:rPr kumimoji="1" lang="en-US" altLang="zh-CN" dirty="0" err="1" smtClean="0"/>
              <a:t>onReceive</a:t>
            </a:r>
            <a:r>
              <a:rPr kumimoji="1" lang="zh-CN" altLang="en-US" dirty="0" smtClean="0"/>
              <a:t>中完成。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19708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事件分发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onReceive</a:t>
            </a:r>
            <a:r>
              <a:rPr kumimoji="1" lang="en-US" altLang="zh-CN" dirty="0" smtClean="0"/>
              <a:t>()</a:t>
            </a:r>
            <a:r>
              <a:rPr kumimoji="1" lang="zh-CN" altLang="en-US" dirty="0" smtClean="0"/>
              <a:t>返回之前，</a:t>
            </a:r>
            <a:r>
              <a:rPr kumimoji="1" lang="en-US" altLang="zh-CN" dirty="0" smtClean="0"/>
              <a:t>Receiver</a:t>
            </a:r>
            <a:r>
              <a:rPr kumimoji="1" lang="zh-CN" altLang="en-US" dirty="0" smtClean="0"/>
              <a:t>不能认为是有效的</a:t>
            </a:r>
            <a:endParaRPr kumimoji="1" lang="en-US" altLang="zh-CN" dirty="0" smtClean="0"/>
          </a:p>
          <a:p>
            <a:r>
              <a:rPr lang="zh-CN" altLang="en-US" dirty="0" smtClean="0"/>
              <a:t>通常</a:t>
            </a:r>
            <a:r>
              <a:rPr lang="en-US" altLang="zh-CN" dirty="0" err="1" smtClean="0"/>
              <a:t>BroadcastReceiver</a:t>
            </a:r>
            <a:r>
              <a:rPr lang="zh-CN" altLang="en-US" dirty="0" smtClean="0"/>
              <a:t>不能启动异步操作</a:t>
            </a:r>
            <a:endParaRPr lang="en-US" altLang="zh-CN" dirty="0" smtClean="0"/>
          </a:p>
          <a:p>
            <a:pPr lvl="1"/>
            <a:r>
              <a:rPr kumimoji="1" lang="zh-CN" altLang="en-US" dirty="0" smtClean="0"/>
              <a:t>显示对话框、通过</a:t>
            </a:r>
            <a:r>
              <a:rPr kumimoji="1" lang="en-US" altLang="zh-CN" dirty="0" err="1" smtClean="0"/>
              <a:t>startActivityFoResult</a:t>
            </a:r>
            <a:r>
              <a:rPr kumimoji="1" lang="zh-CN" altLang="en-US" dirty="0" smtClean="0"/>
              <a:t>启动</a:t>
            </a:r>
            <a:r>
              <a:rPr lang="en-US" altLang="zh-CN" dirty="0" smtClean="0"/>
              <a:t>Activity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149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581773" y="2802200"/>
            <a:ext cx="4030780" cy="1362075"/>
          </a:xfrm>
        </p:spPr>
        <p:txBody>
          <a:bodyPr/>
          <a:lstStyle/>
          <a:p>
            <a:r>
              <a:rPr kumimoji="1" lang="zh-CN" altLang="en-US" dirty="0" smtClean="0"/>
              <a:t>例子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84527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有序广播</a:t>
            </a:r>
            <a:endParaRPr kumimoji="1"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void </a:t>
            </a:r>
            <a:r>
              <a:rPr kumimoji="1" lang="en-US" altLang="zh-CN" dirty="0" err="1" smtClean="0"/>
              <a:t>sendOrderedBroadcast</a:t>
            </a:r>
            <a:r>
              <a:rPr kumimoji="1" lang="en-US" altLang="zh-CN" dirty="0" smtClean="0"/>
              <a:t>(…)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1261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581773" y="2802200"/>
            <a:ext cx="4030780" cy="1362075"/>
          </a:xfrm>
        </p:spPr>
        <p:txBody>
          <a:bodyPr/>
          <a:lstStyle/>
          <a:p>
            <a:r>
              <a:rPr kumimoji="1" lang="zh-CN" altLang="en-US" dirty="0" smtClean="0"/>
              <a:t>例子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04006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返回结果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getResultData</a:t>
            </a:r>
            <a:endParaRPr kumimoji="1" lang="en-US" altLang="zh-CN" dirty="0" smtClean="0"/>
          </a:p>
          <a:p>
            <a:r>
              <a:rPr lang="en-US" altLang="zh-CN" dirty="0" err="1" smtClean="0"/>
              <a:t>setResultData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65881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Sticky</a:t>
            </a:r>
            <a:r>
              <a:rPr kumimoji="1" lang="zh-CN" altLang="en-US" dirty="0" smtClean="0"/>
              <a:t>广播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Sticky Intent</a:t>
            </a:r>
            <a:r>
              <a:rPr kumimoji="1" lang="zh-CN" altLang="en-US" dirty="0" smtClean="0"/>
              <a:t>由</a:t>
            </a:r>
            <a:r>
              <a:rPr kumimoji="1" lang="en-US" altLang="zh-CN" dirty="0" smtClean="0"/>
              <a:t>Android</a:t>
            </a:r>
            <a:r>
              <a:rPr kumimoji="1" lang="zh-CN" altLang="en-US" dirty="0" smtClean="0"/>
              <a:t>缓存</a:t>
            </a:r>
            <a:endParaRPr kumimoji="1" lang="en-US" altLang="zh-CN" dirty="0" smtClean="0"/>
          </a:p>
          <a:p>
            <a:pPr lvl="1"/>
            <a:r>
              <a:rPr lang="zh-CN" altLang="en-US" dirty="0" smtClean="0"/>
              <a:t>新的</a:t>
            </a:r>
            <a:r>
              <a:rPr lang="en-US" altLang="zh-CN" dirty="0" smtClean="0"/>
              <a:t>Intent</a:t>
            </a:r>
            <a:r>
              <a:rPr lang="zh-CN" altLang="en-US" dirty="0" smtClean="0"/>
              <a:t>覆盖老的</a:t>
            </a:r>
            <a:endParaRPr lang="en-US" altLang="zh-CN" dirty="0" smtClean="0"/>
          </a:p>
          <a:p>
            <a:r>
              <a:rPr kumimoji="1" lang="zh-CN" altLang="en-US" dirty="0" smtClean="0"/>
              <a:t>当</a:t>
            </a:r>
            <a:r>
              <a:rPr kumimoji="1" lang="en-US" altLang="zh-CN" dirty="0" err="1" smtClean="0"/>
              <a:t>BroadcastReceiver</a:t>
            </a:r>
            <a:r>
              <a:rPr kumimoji="1" lang="zh-CN" altLang="en-US" dirty="0" smtClean="0"/>
              <a:t>动态注册时</a:t>
            </a:r>
            <a:endParaRPr kumimoji="1" lang="en-US" altLang="zh-CN" dirty="0" smtClean="0"/>
          </a:p>
          <a:p>
            <a:pPr lvl="1"/>
            <a:r>
              <a:rPr lang="zh-CN" altLang="en-US" dirty="0" smtClean="0"/>
              <a:t>符合</a:t>
            </a:r>
            <a:r>
              <a:rPr lang="en-US" altLang="zh-CN" dirty="0" err="1" smtClean="0"/>
              <a:t>IntentFilter</a:t>
            </a:r>
            <a:r>
              <a:rPr lang="zh-CN" altLang="en-US" dirty="0" smtClean="0"/>
              <a:t>要求的缓存</a:t>
            </a:r>
            <a:r>
              <a:rPr lang="en-US" altLang="zh-CN" dirty="0" smtClean="0"/>
              <a:t>Sticky Intent</a:t>
            </a:r>
            <a:r>
              <a:rPr lang="zh-CN" altLang="en-US" dirty="0" smtClean="0"/>
              <a:t>广播给</a:t>
            </a:r>
            <a:r>
              <a:rPr lang="en-US" altLang="zh-CN" dirty="0" err="1" smtClean="0"/>
              <a:t>BroadcastReceiver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一个符合要求的</a:t>
            </a:r>
            <a:r>
              <a:rPr lang="en-US" altLang="zh-CN" dirty="0" smtClean="0"/>
              <a:t>Sticky Intent</a:t>
            </a:r>
            <a:r>
              <a:rPr lang="zh-CN" altLang="en-US" dirty="0" smtClean="0"/>
              <a:t>返回给调用者</a:t>
            </a:r>
            <a:endParaRPr lang="en-US" altLang="zh-CN" dirty="0" smtClean="0"/>
          </a:p>
          <a:p>
            <a:r>
              <a:rPr kumimoji="1" lang="en-US" altLang="zh-CN" dirty="0" smtClean="0"/>
              <a:t>void </a:t>
            </a:r>
            <a:r>
              <a:rPr kumimoji="1" lang="en-US" altLang="zh-CN" dirty="0" err="1" smtClean="0"/>
              <a:t>sendStickyBroadcast</a:t>
            </a:r>
            <a:r>
              <a:rPr kumimoji="1" lang="en-US" altLang="zh-CN" dirty="0" smtClean="0"/>
              <a:t>(…)</a:t>
            </a:r>
          </a:p>
          <a:p>
            <a:r>
              <a:rPr lang="zh-CN" altLang="en-US" dirty="0" smtClean="0"/>
              <a:t>发送</a:t>
            </a:r>
            <a:r>
              <a:rPr lang="en-US" altLang="zh-CN" dirty="0" smtClean="0"/>
              <a:t>Sticky Intent</a:t>
            </a:r>
            <a:r>
              <a:rPr lang="zh-CN" altLang="en-US" dirty="0" smtClean="0"/>
              <a:t>的必须要有</a:t>
            </a:r>
            <a:r>
              <a:rPr lang="en-US" altLang="zh-CN" dirty="0" smtClean="0"/>
              <a:t>BROADCAST_STICKY</a:t>
            </a:r>
            <a:r>
              <a:rPr lang="zh-CN" altLang="en-US" dirty="0" smtClean="0"/>
              <a:t>权限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06007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581773" y="2802200"/>
            <a:ext cx="4030780" cy="1362075"/>
          </a:xfrm>
        </p:spPr>
        <p:txBody>
          <a:bodyPr/>
          <a:lstStyle/>
          <a:p>
            <a:r>
              <a:rPr kumimoji="1" lang="zh-CN" altLang="en-US" dirty="0" smtClean="0"/>
              <a:t>例子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77934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服务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服务类</a:t>
            </a:r>
            <a:endParaRPr kumimoji="1" lang="en-US" altLang="zh-CN" dirty="0" smtClean="0"/>
          </a:p>
          <a:p>
            <a:r>
              <a:rPr lang="zh-CN" altLang="en-US" dirty="0" smtClean="0"/>
              <a:t>启动服务</a:t>
            </a:r>
            <a:endParaRPr lang="en-US" altLang="zh-CN" dirty="0" smtClean="0"/>
          </a:p>
          <a:p>
            <a:r>
              <a:rPr lang="zh-CN" altLang="en-US" dirty="0" smtClean="0"/>
              <a:t>绑定服务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02937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服务类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没有界面</a:t>
            </a:r>
            <a:endParaRPr lang="en-US" altLang="zh-CN" dirty="0" smtClean="0"/>
          </a:p>
          <a:p>
            <a:r>
              <a:rPr kumimoji="1" lang="zh-CN" altLang="en-US" dirty="0" smtClean="0"/>
              <a:t>两个主要用途</a:t>
            </a:r>
            <a:endParaRPr kumimoji="1" lang="en-US" altLang="zh-CN" dirty="0" smtClean="0"/>
          </a:p>
          <a:p>
            <a:pPr lvl="1"/>
            <a:r>
              <a:rPr lang="zh-CN" altLang="en-US" dirty="0" smtClean="0"/>
              <a:t>执行后台处理</a:t>
            </a:r>
            <a:endParaRPr lang="en-US" altLang="zh-CN" dirty="0" smtClean="0"/>
          </a:p>
          <a:p>
            <a:pPr lvl="1"/>
            <a:r>
              <a:rPr kumimoji="1" lang="zh-CN" altLang="en-US" dirty="0" smtClean="0"/>
              <a:t>支持远程方法调用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729016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启动服务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 smtClean="0"/>
              <a:t>Context.startService</a:t>
            </a:r>
            <a:r>
              <a:rPr kumimoji="1" lang="en-US" altLang="zh-CN" dirty="0" smtClean="0"/>
              <a:t>(Intent intent)</a:t>
            </a:r>
          </a:p>
          <a:p>
            <a:r>
              <a:rPr lang="zh-CN" altLang="en-US" dirty="0" smtClean="0"/>
              <a:t>启动后，服务可以在后台永久运行</a:t>
            </a:r>
            <a:endParaRPr lang="en-US" altLang="zh-CN" dirty="0" smtClean="0"/>
          </a:p>
          <a:p>
            <a:r>
              <a:rPr kumimoji="1" lang="zh-CN" altLang="en-US" dirty="0" smtClean="0"/>
              <a:t>启动后的服务通常执行一个单独的操作，然后结束自己</a:t>
            </a:r>
            <a:endParaRPr kumimoji="1" lang="en-US" altLang="zh-CN" dirty="0" smtClean="0"/>
          </a:p>
          <a:p>
            <a:r>
              <a:rPr lang="zh-CN" altLang="en-US" dirty="0" smtClean="0"/>
              <a:t>缺省状态下，服务运行在宿主程序的主线程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54199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绑定服务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Context.bindService</a:t>
            </a:r>
            <a:r>
              <a:rPr lang="en-US" altLang="zh-CN" dirty="0" smtClean="0"/>
              <a:t>(Intent service, </a:t>
            </a:r>
            <a:r>
              <a:rPr lang="en-US" altLang="zh-CN" dirty="0" err="1" smtClean="0"/>
              <a:t>ServiceConnection</a:t>
            </a:r>
            <a:r>
              <a:rPr lang="en-US" altLang="zh-CN" dirty="0" smtClean="0"/>
              <a:t> conn,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 flags)</a:t>
            </a:r>
          </a:p>
          <a:p>
            <a:r>
              <a:rPr lang="zh-CN" altLang="en-US" dirty="0" smtClean="0"/>
              <a:t>绑定服务允许一个部件向本地或远程服务发送请求，并接受响应数据</a:t>
            </a:r>
            <a:endParaRPr lang="en-US" altLang="zh-CN" dirty="0" smtClean="0"/>
          </a:p>
          <a:p>
            <a:r>
              <a:rPr kumimoji="1" lang="zh-CN" altLang="en-US" dirty="0" smtClean="0"/>
              <a:t>绑定时，服务会根据需求被启动起来</a:t>
            </a:r>
            <a:endParaRPr kumimoji="1" lang="en-US" altLang="zh-CN" dirty="0" smtClean="0"/>
          </a:p>
          <a:p>
            <a:r>
              <a:rPr lang="zh-CN" altLang="en-US" dirty="0" smtClean="0"/>
              <a:t>只要有至少一个客户绑定，服务就持续运行</a:t>
            </a:r>
            <a:endParaRPr kumimoji="1" lang="en-US" altLang="zh-CN" dirty="0" smtClean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29203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IntentService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Service</a:t>
            </a:r>
            <a:r>
              <a:rPr kumimoji="1" lang="zh-CN" altLang="en-US" dirty="0" smtClean="0"/>
              <a:t>的子类</a:t>
            </a:r>
            <a:endParaRPr kumimoji="1" lang="en-US" altLang="zh-CN" dirty="0" smtClean="0"/>
          </a:p>
          <a:p>
            <a:r>
              <a:rPr lang="zh-CN" altLang="en-US" dirty="0" smtClean="0"/>
              <a:t>所有的请求都是在一个单独的工作线程顺序处理</a:t>
            </a:r>
            <a:endParaRPr lang="en-US" altLang="zh-CN" dirty="0" smtClean="0"/>
          </a:p>
          <a:p>
            <a:r>
              <a:rPr kumimoji="1" lang="zh-CN" altLang="en-US" dirty="0" smtClean="0"/>
              <a:t>按需启动、停止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64190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581773" y="2802200"/>
            <a:ext cx="4030780" cy="1362075"/>
          </a:xfrm>
        </p:spPr>
        <p:txBody>
          <a:bodyPr/>
          <a:lstStyle/>
          <a:p>
            <a:r>
              <a:rPr kumimoji="1" lang="zh-CN" altLang="en-US" dirty="0" smtClean="0"/>
              <a:t>例子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98237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音乐播放器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客户端</a:t>
            </a:r>
            <a:r>
              <a:rPr kumimoji="1" lang="en-US" altLang="zh-CN" dirty="0" smtClean="0"/>
              <a:t>Activity</a:t>
            </a:r>
            <a:r>
              <a:rPr kumimoji="1" lang="zh-CN" altLang="en-US" dirty="0" smtClean="0"/>
              <a:t>启动服务播放音乐文件</a:t>
            </a:r>
            <a:endParaRPr kumimoji="1" lang="en-US" altLang="zh-CN" dirty="0" smtClean="0"/>
          </a:p>
          <a:p>
            <a:r>
              <a:rPr lang="zh-CN" altLang="en-US" dirty="0" smtClean="0"/>
              <a:t>服务作为一个前台服务来播放音乐</a:t>
            </a:r>
            <a:endParaRPr lang="en-US" altLang="zh-CN" dirty="0" smtClean="0"/>
          </a:p>
          <a:p>
            <a:r>
              <a:rPr lang="zh-CN" altLang="en-US" dirty="0" smtClean="0"/>
              <a:t>即使</a:t>
            </a:r>
            <a:r>
              <a:rPr kumimoji="1" lang="zh-CN" altLang="en-US" dirty="0" smtClean="0"/>
              <a:t>客户端</a:t>
            </a:r>
            <a:r>
              <a:rPr kumimoji="1" lang="en-US" altLang="zh-CN" dirty="0" smtClean="0"/>
              <a:t>Activity</a:t>
            </a:r>
            <a:r>
              <a:rPr kumimoji="1" lang="zh-CN" altLang="en-US" dirty="0" smtClean="0"/>
              <a:t>暂停或结束，服务仍然在播放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41979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581773" y="2802200"/>
            <a:ext cx="4030780" cy="1362075"/>
          </a:xfrm>
        </p:spPr>
        <p:txBody>
          <a:bodyPr/>
          <a:lstStyle/>
          <a:p>
            <a:r>
              <a:rPr kumimoji="1" lang="zh-CN" altLang="en-US" dirty="0" smtClean="0"/>
              <a:t>例子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22373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绑定到远程服务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实用</a:t>
            </a:r>
            <a:r>
              <a:rPr kumimoji="1" lang="en-US" altLang="zh-CN" dirty="0" smtClean="0"/>
              <a:t>Messenger</a:t>
            </a:r>
            <a:r>
              <a:rPr kumimoji="1" lang="zh-CN" altLang="en-US" dirty="0" smtClean="0"/>
              <a:t>类</a:t>
            </a:r>
            <a:endParaRPr kumimoji="1" lang="en-US" altLang="zh-CN" dirty="0" smtClean="0"/>
          </a:p>
          <a:p>
            <a:r>
              <a:rPr lang="zh-CN" altLang="en-US" dirty="0" smtClean="0"/>
              <a:t>定义</a:t>
            </a:r>
            <a:r>
              <a:rPr lang="en-US" altLang="zh-CN" dirty="0" smtClean="0"/>
              <a:t>AIDL </a:t>
            </a:r>
            <a:r>
              <a:rPr lang="zh-CN" altLang="en-US" dirty="0" smtClean="0"/>
              <a:t>接口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00379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用</a:t>
            </a:r>
            <a:r>
              <a:rPr kumimoji="1" lang="en-US" altLang="zh-CN" dirty="0" smtClean="0"/>
              <a:t>Messenger</a:t>
            </a:r>
            <a:r>
              <a:rPr kumimoji="1" lang="zh-CN" altLang="en-US" dirty="0" smtClean="0"/>
              <a:t>实现服务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Messenger</a:t>
            </a:r>
            <a:r>
              <a:rPr kumimoji="1" lang="zh-CN" altLang="en-US" dirty="0" smtClean="0"/>
              <a:t>管理了一个</a:t>
            </a:r>
            <a:r>
              <a:rPr kumimoji="1" lang="en-US" altLang="zh-CN" dirty="0" smtClean="0"/>
              <a:t>Handler</a:t>
            </a:r>
          </a:p>
          <a:p>
            <a:r>
              <a:rPr lang="zh-CN" altLang="en-US" dirty="0" smtClean="0"/>
              <a:t>允许消息从一个部件传递给跨进程的另一个部件</a:t>
            </a:r>
            <a:endParaRPr lang="en-US" altLang="zh-CN" dirty="0" smtClean="0"/>
          </a:p>
          <a:p>
            <a:r>
              <a:rPr kumimoji="1" lang="zh-CN" altLang="en-US" dirty="0" smtClean="0"/>
              <a:t>消息由接收者顺序排列、处理</a:t>
            </a:r>
            <a:endParaRPr kumimoji="1" lang="en-US" altLang="zh-CN" dirty="0" smtClean="0"/>
          </a:p>
          <a:p>
            <a:r>
              <a:rPr lang="zh-CN" altLang="en-US" dirty="0" smtClean="0"/>
              <a:t>服务创建一个</a:t>
            </a:r>
            <a:r>
              <a:rPr lang="en-US" altLang="zh-CN" dirty="0" smtClean="0"/>
              <a:t>Handler</a:t>
            </a:r>
            <a:r>
              <a:rPr lang="zh-CN" altLang="en-US" dirty="0" smtClean="0"/>
              <a:t>来处理特定的消息</a:t>
            </a:r>
            <a:endParaRPr lang="en-US" altLang="zh-CN" dirty="0" smtClean="0"/>
          </a:p>
          <a:p>
            <a:r>
              <a:rPr kumimoji="1" lang="zh-CN" altLang="en-US" dirty="0" smtClean="0"/>
              <a:t>服务创建了一个</a:t>
            </a:r>
            <a:r>
              <a:rPr kumimoji="1" lang="en-US" altLang="zh-CN" dirty="0" smtClean="0"/>
              <a:t>Messenger</a:t>
            </a:r>
            <a:r>
              <a:rPr kumimoji="1" lang="zh-CN" altLang="en-US" dirty="0" smtClean="0"/>
              <a:t>，来为客户端提供一个</a:t>
            </a:r>
            <a:r>
              <a:rPr kumimoji="1" lang="en-US" altLang="zh-CN" dirty="0" smtClean="0"/>
              <a:t>Binder</a:t>
            </a:r>
          </a:p>
          <a:p>
            <a:r>
              <a:rPr lang="zh-CN" altLang="en-US" dirty="0" smtClean="0"/>
              <a:t>客户端实用</a:t>
            </a:r>
            <a:r>
              <a:rPr lang="en-US" altLang="zh-CN" dirty="0" smtClean="0"/>
              <a:t>Binder</a:t>
            </a:r>
            <a:r>
              <a:rPr lang="zh-CN" altLang="en-US" dirty="0" smtClean="0"/>
              <a:t>来创建自己的</a:t>
            </a:r>
            <a:r>
              <a:rPr lang="en-US" altLang="zh-CN" dirty="0" smtClean="0"/>
              <a:t>Messenger</a:t>
            </a:r>
          </a:p>
          <a:p>
            <a:r>
              <a:rPr kumimoji="1" lang="zh-CN" altLang="en-US" dirty="0" smtClean="0"/>
              <a:t>客户端用</a:t>
            </a:r>
            <a:r>
              <a:rPr kumimoji="1" lang="en-US" altLang="zh-CN" dirty="0" smtClean="0"/>
              <a:t>Messenger</a:t>
            </a:r>
            <a:r>
              <a:rPr kumimoji="1" lang="zh-CN" altLang="en-US" dirty="0" smtClean="0"/>
              <a:t>来向服务发送消息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786023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581773" y="2802200"/>
            <a:ext cx="4030780" cy="1362075"/>
          </a:xfrm>
        </p:spPr>
        <p:txBody>
          <a:bodyPr/>
          <a:lstStyle/>
          <a:p>
            <a:r>
              <a:rPr kumimoji="1" lang="zh-CN" altLang="en-US" dirty="0" smtClean="0"/>
              <a:t>例子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35840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用</a:t>
            </a:r>
            <a:r>
              <a:rPr kumimoji="1" lang="en-US" altLang="zh-CN" dirty="0" smtClean="0"/>
              <a:t>AIDL</a:t>
            </a:r>
            <a:r>
              <a:rPr kumimoji="1" lang="zh-CN" altLang="en-US" dirty="0" smtClean="0"/>
              <a:t>实现服务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如果一个服务必须并发访问，那么设计一个</a:t>
            </a:r>
            <a:r>
              <a:rPr kumimoji="1" lang="en-US" altLang="zh-CN" dirty="0" smtClean="0"/>
              <a:t>AIDL</a:t>
            </a:r>
            <a:r>
              <a:rPr kumimoji="1" lang="zh-CN" altLang="en-US" dirty="0" smtClean="0"/>
              <a:t>接口</a:t>
            </a:r>
            <a:endParaRPr kumimoji="1" lang="en-US" altLang="zh-CN" dirty="0" smtClean="0"/>
          </a:p>
          <a:p>
            <a:r>
              <a:rPr lang="en-US" altLang="zh-CN" dirty="0" smtClean="0"/>
              <a:t>AIDL = Android Interface Definition Language</a:t>
            </a:r>
          </a:p>
          <a:p>
            <a:r>
              <a:rPr lang="zh-CN" altLang="en-US" dirty="0" smtClean="0"/>
              <a:t>用</a:t>
            </a:r>
            <a:r>
              <a:rPr lang="en-US" altLang="zh-CN" dirty="0" smtClean="0"/>
              <a:t>AIDL</a:t>
            </a:r>
            <a:r>
              <a:rPr lang="zh-CN" altLang="en-US" dirty="0" smtClean="0"/>
              <a:t>定义远程接口</a:t>
            </a:r>
            <a:endParaRPr lang="en-US" altLang="zh-CN" dirty="0" smtClean="0"/>
          </a:p>
          <a:p>
            <a:r>
              <a:rPr kumimoji="1" lang="zh-CN" altLang="en-US" dirty="0" smtClean="0"/>
              <a:t>实现远程接口</a:t>
            </a:r>
            <a:endParaRPr kumimoji="1" lang="en-US" altLang="zh-CN" dirty="0" smtClean="0"/>
          </a:p>
          <a:p>
            <a:r>
              <a:rPr lang="zh-CN" altLang="en-US" dirty="0" smtClean="0"/>
              <a:t>实现服务方法</a:t>
            </a:r>
            <a:endParaRPr lang="en-US" altLang="zh-CN" dirty="0" smtClean="0"/>
          </a:p>
          <a:p>
            <a:r>
              <a:rPr kumimoji="1" lang="zh-CN" altLang="en-US" dirty="0" smtClean="0"/>
              <a:t>实现客户端方法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48536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用</a:t>
            </a:r>
            <a:r>
              <a:rPr kumimoji="1" lang="en-US" altLang="zh-CN" dirty="0" smtClean="0"/>
              <a:t>.AIDL</a:t>
            </a:r>
            <a:r>
              <a:rPr kumimoji="1" lang="zh-CN" altLang="en-US" dirty="0" smtClean="0"/>
              <a:t>文件定义接口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定义了部件如何与服务交互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72749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AIDL</a:t>
            </a:r>
            <a:r>
              <a:rPr kumimoji="1" lang="zh-CN" altLang="en-US" dirty="0" smtClean="0"/>
              <a:t>语法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和</a:t>
            </a:r>
            <a:r>
              <a:rPr kumimoji="1" lang="en-US" altLang="zh-CN" dirty="0" smtClean="0"/>
              <a:t>Java</a:t>
            </a:r>
            <a:r>
              <a:rPr kumimoji="1" lang="zh-CN" altLang="en-US" dirty="0" smtClean="0"/>
              <a:t>的接口语法相似</a:t>
            </a:r>
            <a:endParaRPr kumimoji="1" lang="en-US" altLang="zh-CN" dirty="0" smtClean="0"/>
          </a:p>
          <a:p>
            <a:r>
              <a:rPr lang="zh-CN" altLang="en-US" dirty="0" smtClean="0"/>
              <a:t>可以声明方法</a:t>
            </a:r>
            <a:endParaRPr lang="en-US" altLang="zh-CN" dirty="0" smtClean="0"/>
          </a:p>
          <a:p>
            <a:r>
              <a:rPr kumimoji="1" lang="zh-CN" altLang="en-US" dirty="0" smtClean="0"/>
              <a:t>不能声明静态成员</a:t>
            </a:r>
            <a:endParaRPr kumimoji="1" lang="en-US" altLang="zh-CN" dirty="0" smtClean="0"/>
          </a:p>
          <a:p>
            <a:r>
              <a:rPr kumimoji="1" lang="zh-CN" altLang="en-US" dirty="0" smtClean="0"/>
              <a:t>非原始的远程方法，其参数需要一个方向标志</a:t>
            </a:r>
            <a:endParaRPr kumimoji="1" lang="en-US" altLang="zh-CN" dirty="0" smtClean="0"/>
          </a:p>
          <a:p>
            <a:pPr lvl="1"/>
            <a:r>
              <a:rPr kumimoji="1" lang="en-US" altLang="zh-CN" dirty="0" smtClean="0"/>
              <a:t>IN</a:t>
            </a:r>
            <a:r>
              <a:rPr kumimoji="1" lang="zh-CN" altLang="en-US" dirty="0" smtClean="0"/>
              <a:t>：</a:t>
            </a:r>
            <a:r>
              <a:rPr lang="zh-CN" altLang="en-US" dirty="0" smtClean="0"/>
              <a:t>传给远程方法</a:t>
            </a:r>
            <a:endParaRPr lang="en-US" altLang="zh-CN" dirty="0" smtClean="0"/>
          </a:p>
          <a:p>
            <a:pPr lvl="1"/>
            <a:r>
              <a:rPr kumimoji="1" lang="en-US" altLang="zh-CN" dirty="0" smtClean="0"/>
              <a:t>OUT</a:t>
            </a:r>
            <a:r>
              <a:rPr kumimoji="1" lang="zh-CN" altLang="en-US" dirty="0" smtClean="0"/>
              <a:t>：</a:t>
            </a:r>
            <a:r>
              <a:rPr kumimoji="1" lang="en-US" altLang="zh-CN" dirty="0" smtClean="0"/>
              <a:t> </a:t>
            </a:r>
            <a:r>
              <a:rPr kumimoji="1" lang="zh-CN" altLang="en-US" dirty="0" smtClean="0"/>
              <a:t>返回给调用者</a:t>
            </a:r>
            <a:endParaRPr kumimoji="1" lang="en-US" altLang="zh-CN" dirty="0" smtClean="0"/>
          </a:p>
          <a:p>
            <a:pPr lvl="1"/>
            <a:r>
              <a:rPr lang="en-US" altLang="zh-CN" dirty="0" smtClean="0"/>
              <a:t>INOUT</a:t>
            </a:r>
            <a:r>
              <a:rPr lang="zh-CN" altLang="en-US" dirty="0" smtClean="0"/>
              <a:t>：双向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45820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AIDL</a:t>
            </a:r>
            <a:r>
              <a:rPr kumimoji="1" lang="zh-CN" altLang="en-US" dirty="0" smtClean="0"/>
              <a:t>数据类型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Java</a:t>
            </a:r>
            <a:r>
              <a:rPr kumimoji="1" lang="zh-CN" altLang="en-US" dirty="0" smtClean="0"/>
              <a:t>原始类型</a:t>
            </a:r>
            <a:endParaRPr kumimoji="1" lang="en-US" altLang="zh-CN" dirty="0" smtClean="0"/>
          </a:p>
          <a:p>
            <a:r>
              <a:rPr lang="en-US" altLang="zh-CN" dirty="0" smtClean="0"/>
              <a:t>String</a:t>
            </a:r>
          </a:p>
          <a:p>
            <a:r>
              <a:rPr kumimoji="1" lang="en-US" altLang="zh-CN" dirty="0" err="1" smtClean="0"/>
              <a:t>CharSequence</a:t>
            </a:r>
            <a:endParaRPr kumimoji="1" lang="en-US" altLang="zh-CN" dirty="0" smtClean="0"/>
          </a:p>
          <a:p>
            <a:r>
              <a:rPr lang="zh-CN" altLang="en-US" dirty="0" smtClean="0"/>
              <a:t>其它</a:t>
            </a:r>
            <a:r>
              <a:rPr lang="en-US" altLang="zh-CN" dirty="0" smtClean="0"/>
              <a:t>AIDL</a:t>
            </a:r>
            <a:r>
              <a:rPr lang="zh-CN" altLang="en-US" dirty="0" smtClean="0"/>
              <a:t>生成的接口</a:t>
            </a:r>
            <a:endParaRPr lang="en-US" altLang="zh-CN" dirty="0" smtClean="0"/>
          </a:p>
          <a:p>
            <a:r>
              <a:rPr kumimoji="1" lang="zh-CN" altLang="en-US" dirty="0" smtClean="0"/>
              <a:t>实现</a:t>
            </a:r>
            <a:r>
              <a:rPr kumimoji="1" lang="en-US" altLang="zh-CN" dirty="0" err="1" smtClean="0"/>
              <a:t>Parcelable</a:t>
            </a:r>
            <a:r>
              <a:rPr kumimoji="1" lang="zh-CN" altLang="en-US" dirty="0" smtClean="0"/>
              <a:t>协议的类</a:t>
            </a:r>
            <a:endParaRPr kumimoji="1" lang="en-US" altLang="zh-CN" dirty="0" smtClean="0"/>
          </a:p>
          <a:p>
            <a:r>
              <a:rPr kumimoji="1" lang="en-US" altLang="zh-CN" dirty="0" smtClean="0"/>
              <a:t>List</a:t>
            </a:r>
            <a:r>
              <a:rPr kumimoji="1" lang="zh-CN" altLang="en-US" dirty="0" smtClean="0"/>
              <a:t>：元素必须是</a:t>
            </a:r>
            <a:r>
              <a:rPr kumimoji="1" lang="en-US" altLang="zh-CN" dirty="0" smtClean="0"/>
              <a:t>AIDL</a:t>
            </a:r>
            <a:r>
              <a:rPr kumimoji="1" lang="zh-CN" altLang="en-US" dirty="0" smtClean="0"/>
              <a:t>类型，支持泛型</a:t>
            </a:r>
            <a:endParaRPr kumimoji="1" lang="en-US" altLang="zh-CN" dirty="0" smtClean="0"/>
          </a:p>
          <a:p>
            <a:r>
              <a:rPr lang="en-US" altLang="zh-CN" dirty="0" smtClean="0"/>
              <a:t>Map</a:t>
            </a:r>
            <a:r>
              <a:rPr lang="zh-CN" altLang="en-US" dirty="0" smtClean="0"/>
              <a:t>：元素必须是</a:t>
            </a:r>
            <a:r>
              <a:rPr lang="en-US" altLang="zh-CN" dirty="0" smtClean="0"/>
              <a:t>AIDL</a:t>
            </a:r>
            <a:r>
              <a:rPr lang="zh-CN" altLang="en-US" dirty="0" smtClean="0"/>
              <a:t>类型，不支持泛型</a:t>
            </a:r>
            <a:endParaRPr kumimoji="1" lang="en-US" altLang="zh-CN" dirty="0" smtClean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30661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远程接口例子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Monaco"/>
                <a:cs typeface="Monaco"/>
              </a:rPr>
              <a:t>interface </a:t>
            </a:r>
            <a:r>
              <a:rPr lang="en-US" altLang="zh-CN" dirty="0" err="1">
                <a:latin typeface="Monaco"/>
                <a:cs typeface="Monaco"/>
              </a:rPr>
              <a:t>KeyGenerator</a:t>
            </a:r>
            <a:r>
              <a:rPr lang="en-US" altLang="zh-CN" dirty="0">
                <a:latin typeface="Monaco"/>
                <a:cs typeface="Monaco"/>
              </a:rPr>
              <a:t> </a:t>
            </a:r>
            <a:r>
              <a:rPr lang="en-US" altLang="zh-CN" dirty="0" smtClean="0">
                <a:latin typeface="Monaco"/>
                <a:cs typeface="Monaco"/>
              </a:rPr>
              <a:t>{</a:t>
            </a:r>
          </a:p>
          <a:p>
            <a:pPr marL="0" indent="0">
              <a:buNone/>
            </a:pPr>
            <a:r>
              <a:rPr lang="en-US" altLang="zh-CN" dirty="0">
                <a:latin typeface="Monaco"/>
                <a:cs typeface="Monaco"/>
              </a:rPr>
              <a:t> </a:t>
            </a:r>
            <a:r>
              <a:rPr lang="en-US" altLang="zh-CN" dirty="0" smtClean="0">
                <a:latin typeface="Monaco"/>
                <a:cs typeface="Monaco"/>
              </a:rPr>
              <a:t> String </a:t>
            </a:r>
            <a:r>
              <a:rPr lang="en-US" altLang="zh-CN" dirty="0" err="1">
                <a:latin typeface="Monaco"/>
                <a:cs typeface="Monaco"/>
              </a:rPr>
              <a:t>getKey</a:t>
            </a:r>
            <a:r>
              <a:rPr lang="en-US" altLang="zh-CN" dirty="0">
                <a:latin typeface="Monaco"/>
                <a:cs typeface="Monaco"/>
              </a:rPr>
              <a:t>(); </a:t>
            </a:r>
          </a:p>
          <a:p>
            <a:pPr marL="0" indent="0">
              <a:buNone/>
            </a:pPr>
            <a:r>
              <a:rPr lang="en-US" altLang="zh-CN" dirty="0">
                <a:latin typeface="Monaco"/>
                <a:cs typeface="Monaco"/>
              </a:rPr>
              <a:t>} </a:t>
            </a:r>
          </a:p>
          <a:p>
            <a:pPr marL="0" indent="0">
              <a:buNone/>
            </a:pPr>
            <a:endParaRPr kumimoji="1" lang="zh-CN" altLang="en-US" dirty="0">
              <a:latin typeface="Monaco"/>
              <a:cs typeface="Monaco"/>
            </a:endParaRPr>
          </a:p>
        </p:txBody>
      </p:sp>
    </p:spTree>
    <p:extLst>
      <p:ext uri="{BB962C8B-B14F-4D97-AF65-F5344CB8AC3E}">
        <p14:creationId xmlns:p14="http://schemas.microsoft.com/office/powerpoint/2010/main" val="33003522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581773" y="2802200"/>
            <a:ext cx="4030780" cy="1362075"/>
          </a:xfrm>
        </p:spPr>
        <p:txBody>
          <a:bodyPr/>
          <a:lstStyle/>
          <a:p>
            <a:r>
              <a:rPr kumimoji="1" lang="zh-CN" altLang="en-US" dirty="0" smtClean="0"/>
              <a:t>例子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30267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多线程</a:t>
            </a:r>
            <a:endParaRPr kumimoji="1"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smtClean="0"/>
              <a:t>Android</a:t>
            </a:r>
            <a:r>
              <a:rPr kumimoji="1" lang="zh-CN" altLang="en-US" dirty="0" smtClean="0"/>
              <a:t>的</a:t>
            </a:r>
            <a:r>
              <a:rPr kumimoji="1" lang="en-US" altLang="zh-CN" dirty="0" smtClean="0"/>
              <a:t>UI</a:t>
            </a:r>
            <a:r>
              <a:rPr kumimoji="1" lang="zh-CN" altLang="en-US" dirty="0" smtClean="0"/>
              <a:t>线程</a:t>
            </a:r>
            <a:endParaRPr kumimoji="1" lang="en-US" altLang="zh-CN" dirty="0" smtClean="0"/>
          </a:p>
          <a:p>
            <a:r>
              <a:rPr lang="en-US" altLang="zh-CN" dirty="0" err="1" smtClean="0"/>
              <a:t>AsyncTask</a:t>
            </a:r>
            <a:endParaRPr lang="en-US" altLang="zh-CN" dirty="0" smtClean="0"/>
          </a:p>
          <a:p>
            <a:r>
              <a:rPr kumimoji="1" lang="en-US" altLang="zh-CN" dirty="0" smtClean="0"/>
              <a:t>Handler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762034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进程与线程</a:t>
            </a:r>
            <a:endParaRPr kumimoji="1" lang="zh-CN" altLang="en-US" dirty="0"/>
          </a:p>
        </p:txBody>
      </p:sp>
      <p:pic>
        <p:nvPicPr>
          <p:cNvPr id="4" name="内容占位符 3" descr="Screen Shot 2014-05-22 at 1.13.23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2" r="624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172925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共享变量</a:t>
            </a:r>
            <a:endParaRPr kumimoji="1" lang="zh-CN" altLang="en-US" dirty="0"/>
          </a:p>
        </p:txBody>
      </p:sp>
      <p:pic>
        <p:nvPicPr>
          <p:cNvPr id="4" name="内容占位符 3" descr="Screen Shot 2014-05-22 at 1.15.09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9040" b="-19040"/>
          <a:stretch>
            <a:fillRect/>
          </a:stretch>
        </p:blipFill>
        <p:spPr/>
      </p:pic>
      <p:sp>
        <p:nvSpPr>
          <p:cNvPr id="5" name="文本框 4"/>
          <p:cNvSpPr txBox="1"/>
          <p:nvPr/>
        </p:nvSpPr>
        <p:spPr>
          <a:xfrm>
            <a:off x="2130972" y="564806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 smtClean="0"/>
              <a:t>进程</a:t>
            </a:r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477124" y="576159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线</a:t>
            </a:r>
            <a:r>
              <a:rPr kumimoji="1" lang="zh-CN" altLang="en-US" dirty="0" smtClean="0"/>
              <a:t>程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7941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Java</a:t>
            </a:r>
            <a:r>
              <a:rPr kumimoji="1" lang="zh-CN" altLang="en-US" dirty="0" smtClean="0"/>
              <a:t>的多线程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Thread</a:t>
            </a:r>
          </a:p>
          <a:p>
            <a:r>
              <a:rPr kumimoji="1" lang="en-US" altLang="zh-CN" dirty="0" smtClean="0"/>
              <a:t>Runnable</a:t>
            </a:r>
          </a:p>
          <a:p>
            <a:r>
              <a:rPr lang="en-US" altLang="zh-CN" dirty="0"/>
              <a:t>http://</a:t>
            </a:r>
            <a:r>
              <a:rPr lang="en-US" altLang="zh-CN" dirty="0" err="1"/>
              <a:t>docs.oracle.com</a:t>
            </a:r>
            <a:r>
              <a:rPr lang="en-US" altLang="zh-CN" dirty="0"/>
              <a:t>/</a:t>
            </a:r>
            <a:r>
              <a:rPr lang="en-US" altLang="zh-CN" dirty="0" err="1"/>
              <a:t>javase</a:t>
            </a:r>
            <a:r>
              <a:rPr lang="en-US" altLang="zh-CN" dirty="0"/>
              <a:t>/tutorial/ essential/concurrency/</a:t>
            </a:r>
            <a:r>
              <a:rPr lang="en-US" altLang="zh-CN" dirty="0" err="1"/>
              <a:t>threads.html</a:t>
            </a:r>
            <a:r>
              <a:rPr lang="en-US" altLang="zh-CN" dirty="0"/>
              <a:t> 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10507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线程的基本使用方法</a:t>
            </a:r>
            <a:endParaRPr kumimoji="1" lang="zh-CN" altLang="en-US" dirty="0"/>
          </a:p>
        </p:txBody>
      </p:sp>
      <p:pic>
        <p:nvPicPr>
          <p:cNvPr id="4" name="内容占位符 3" descr="Screen Shot 2014-05-22 at 1.18.16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298" r="-3229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8728943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不使用多线程</a:t>
            </a:r>
            <a:r>
              <a:rPr kumimoji="1" lang="en-US" altLang="zh-CN" dirty="0" smtClean="0"/>
              <a:t>……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60291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581773" y="2802200"/>
            <a:ext cx="4030780" cy="1362075"/>
          </a:xfrm>
        </p:spPr>
        <p:txBody>
          <a:bodyPr/>
          <a:lstStyle/>
          <a:p>
            <a:r>
              <a:rPr kumimoji="1" lang="zh-CN" altLang="en-US" dirty="0" smtClean="0"/>
              <a:t>例子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310341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简单的使用多线程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079336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581773" y="2802200"/>
            <a:ext cx="4030780" cy="1362075"/>
          </a:xfrm>
        </p:spPr>
        <p:txBody>
          <a:bodyPr/>
          <a:lstStyle/>
          <a:p>
            <a:r>
              <a:rPr kumimoji="1" lang="zh-CN" altLang="en-US" dirty="0" smtClean="0"/>
              <a:t>例子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65766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UI</a:t>
            </a:r>
            <a:r>
              <a:rPr kumimoji="1" lang="zh-CN" altLang="en-US" dirty="0" smtClean="0"/>
              <a:t>线程</a:t>
            </a:r>
            <a:endParaRPr kumimoji="1"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每个程序都有一个主线程（</a:t>
            </a:r>
            <a:r>
              <a:rPr lang="en-US" altLang="zh-CN" dirty="0" smtClean="0"/>
              <a:t>UI</a:t>
            </a:r>
            <a:r>
              <a:rPr lang="zh-CN" altLang="en-US" dirty="0" smtClean="0"/>
              <a:t>线程）</a:t>
            </a:r>
            <a:endParaRPr lang="en-US" altLang="zh-CN" dirty="0" smtClean="0"/>
          </a:p>
          <a:p>
            <a:r>
              <a:rPr kumimoji="1" lang="zh-CN" altLang="en-US" dirty="0" smtClean="0"/>
              <a:t>同一进程的部件使用同一个</a:t>
            </a:r>
            <a:r>
              <a:rPr kumimoji="1" lang="en-US" altLang="zh-CN" dirty="0" smtClean="0"/>
              <a:t>UI</a:t>
            </a:r>
            <a:r>
              <a:rPr kumimoji="1" lang="zh-CN" altLang="en-US" dirty="0" smtClean="0"/>
              <a:t>线程</a:t>
            </a:r>
            <a:endParaRPr kumimoji="1" lang="en-US" altLang="zh-CN" dirty="0" smtClean="0"/>
          </a:p>
          <a:p>
            <a:r>
              <a:rPr lang="zh-CN" altLang="en-US" dirty="0" smtClean="0"/>
              <a:t>用户交互、系统调用、生命周期的方法都在</a:t>
            </a:r>
            <a:r>
              <a:rPr lang="en-US" altLang="zh-CN" dirty="0" smtClean="0"/>
              <a:t>UI</a:t>
            </a:r>
            <a:r>
              <a:rPr lang="zh-CN" altLang="en-US" dirty="0" smtClean="0"/>
              <a:t>线程处理</a:t>
            </a:r>
            <a:endParaRPr lang="en-US" altLang="zh-CN" dirty="0" smtClean="0"/>
          </a:p>
          <a:p>
            <a:r>
              <a:rPr kumimoji="1" lang="en-US" altLang="zh-CN" dirty="0" smtClean="0"/>
              <a:t>UI</a:t>
            </a:r>
            <a:r>
              <a:rPr kumimoji="1" lang="zh-CN" altLang="en-US" dirty="0" smtClean="0"/>
              <a:t>线程不是线程安全的</a:t>
            </a:r>
            <a:endParaRPr kumimoji="1" lang="en-US" altLang="zh-CN" dirty="0" smtClean="0"/>
          </a:p>
          <a:p>
            <a:r>
              <a:rPr lang="zh-CN" altLang="en-US" dirty="0" smtClean="0"/>
              <a:t>阻塞</a:t>
            </a:r>
            <a:r>
              <a:rPr lang="en-US" altLang="zh-CN" dirty="0" smtClean="0"/>
              <a:t>UI</a:t>
            </a:r>
            <a:r>
              <a:rPr lang="zh-CN" altLang="en-US" dirty="0" smtClean="0"/>
              <a:t>线程会导致程序没有响应</a:t>
            </a:r>
            <a:endParaRPr lang="en-US" altLang="zh-CN" dirty="0" smtClean="0"/>
          </a:p>
          <a:p>
            <a:pPr lvl="1"/>
            <a:r>
              <a:rPr kumimoji="1" lang="zh-CN" altLang="en-US" dirty="0" smtClean="0"/>
              <a:t>长期运行的操作应该在后台线程运行</a:t>
            </a:r>
            <a:endParaRPr kumimoji="1" lang="en-US" altLang="zh-CN" dirty="0" smtClean="0"/>
          </a:p>
          <a:p>
            <a:r>
              <a:rPr lang="zh-CN" altLang="en-US" dirty="0" smtClean="0"/>
              <a:t>不要在非</a:t>
            </a:r>
            <a:r>
              <a:rPr lang="en-US" altLang="zh-CN" dirty="0" smtClean="0"/>
              <a:t>UI</a:t>
            </a:r>
            <a:r>
              <a:rPr lang="zh-CN" altLang="en-US" dirty="0" smtClean="0"/>
              <a:t>线程访问</a:t>
            </a:r>
            <a:r>
              <a:rPr lang="en-US" altLang="zh-CN" dirty="0" smtClean="0"/>
              <a:t>UI</a:t>
            </a:r>
            <a:r>
              <a:rPr lang="zh-CN" altLang="en-US" dirty="0" smtClean="0"/>
              <a:t>元素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593504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 smtClean="0"/>
              <a:t>改进方案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在后台线程执行任务，但是在</a:t>
            </a:r>
            <a:r>
              <a:rPr kumimoji="1" lang="en-US" altLang="zh-CN" dirty="0" smtClean="0"/>
              <a:t>UI</a:t>
            </a:r>
            <a:r>
              <a:rPr kumimoji="1" lang="zh-CN" altLang="en-US" dirty="0" smtClean="0"/>
              <a:t>线程更新界面</a:t>
            </a:r>
            <a:endParaRPr kumimoji="1" lang="en-US" altLang="zh-CN" dirty="0" smtClean="0"/>
          </a:p>
          <a:p>
            <a:r>
              <a:rPr lang="en-US" altLang="zh-CN" dirty="0" smtClean="0"/>
              <a:t>Android</a:t>
            </a:r>
            <a:r>
              <a:rPr lang="zh-CN" altLang="en-US" dirty="0" smtClean="0"/>
              <a:t>提供了几个方法可以保证在</a:t>
            </a:r>
            <a:r>
              <a:rPr lang="en-US" altLang="zh-CN" dirty="0" smtClean="0"/>
              <a:t>UI</a:t>
            </a:r>
            <a:r>
              <a:rPr lang="zh-CN" altLang="en-US" dirty="0" smtClean="0"/>
              <a:t>线程运行</a:t>
            </a:r>
            <a:endParaRPr lang="en-US" altLang="zh-CN" dirty="0" smtClean="0"/>
          </a:p>
          <a:p>
            <a:pPr lvl="1"/>
            <a:r>
              <a:rPr lang="en-US" altLang="zh-CN" dirty="0" err="1"/>
              <a:t>b</a:t>
            </a:r>
            <a:r>
              <a:rPr kumimoji="1" lang="en-US" altLang="zh-CN" dirty="0" err="1" smtClean="0"/>
              <a:t>oolean</a:t>
            </a:r>
            <a:r>
              <a:rPr kumimoji="1" lang="en-US" altLang="zh-CN" dirty="0" smtClean="0"/>
              <a:t> </a:t>
            </a:r>
            <a:r>
              <a:rPr kumimoji="1" lang="en-US" altLang="zh-CN" dirty="0" err="1" smtClean="0"/>
              <a:t>View.post</a:t>
            </a:r>
            <a:r>
              <a:rPr kumimoji="1" lang="en-US" altLang="zh-CN" dirty="0" smtClean="0"/>
              <a:t>(Runnable action)</a:t>
            </a:r>
          </a:p>
          <a:p>
            <a:pPr lvl="1"/>
            <a:r>
              <a:rPr kumimoji="1" lang="en-US" altLang="zh-CN" dirty="0" smtClean="0"/>
              <a:t>void </a:t>
            </a:r>
            <a:r>
              <a:rPr kumimoji="1" lang="en-US" altLang="zh-CN" dirty="0" err="1" smtClean="0"/>
              <a:t>Activity.runOnUiThread</a:t>
            </a:r>
            <a:r>
              <a:rPr kumimoji="1" lang="en-US" altLang="zh-CN" dirty="0" smtClean="0"/>
              <a:t>(Runnable action)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26937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581773" y="2802200"/>
            <a:ext cx="4030780" cy="1362075"/>
          </a:xfrm>
        </p:spPr>
        <p:txBody>
          <a:bodyPr/>
          <a:lstStyle/>
          <a:p>
            <a:r>
              <a:rPr kumimoji="1" lang="zh-CN" altLang="en-US" dirty="0" smtClean="0"/>
              <a:t>例子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92828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AsyncTask</a:t>
            </a:r>
            <a:endParaRPr kumimoji="1"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为执行后台、</a:t>
            </a:r>
            <a:r>
              <a:rPr kumimoji="1" lang="en-US" altLang="zh-CN" dirty="0" smtClean="0"/>
              <a:t>UI</a:t>
            </a:r>
            <a:r>
              <a:rPr kumimoji="1" lang="zh-CN" altLang="en-US" dirty="0" smtClean="0"/>
              <a:t>线程提供一种结构化的方法</a:t>
            </a:r>
            <a:endParaRPr kumimoji="1" lang="en-US" altLang="zh-CN" dirty="0" smtClean="0"/>
          </a:p>
          <a:p>
            <a:r>
              <a:rPr lang="zh-CN" altLang="en-US" dirty="0" smtClean="0"/>
              <a:t>后台线程</a:t>
            </a:r>
            <a:endParaRPr lang="en-US" altLang="zh-CN" dirty="0" smtClean="0"/>
          </a:p>
          <a:p>
            <a:pPr lvl="1"/>
            <a:r>
              <a:rPr kumimoji="1" lang="zh-CN" altLang="en-US" dirty="0" smtClean="0"/>
              <a:t>执行任务</a:t>
            </a:r>
            <a:endParaRPr kumimoji="1" lang="en-US" altLang="zh-CN" dirty="0" smtClean="0"/>
          </a:p>
          <a:p>
            <a:pPr lvl="1"/>
            <a:r>
              <a:rPr lang="zh-CN" altLang="en-US" dirty="0" smtClean="0"/>
              <a:t>指示进度</a:t>
            </a:r>
            <a:endParaRPr lang="en-US" altLang="zh-CN" dirty="0" smtClean="0"/>
          </a:p>
          <a:p>
            <a:r>
              <a:rPr kumimoji="1" lang="en-US" altLang="zh-CN" dirty="0" smtClean="0"/>
              <a:t>UI</a:t>
            </a:r>
            <a:r>
              <a:rPr kumimoji="1" lang="zh-CN" altLang="en-US" dirty="0" smtClean="0"/>
              <a:t>线程</a:t>
            </a:r>
            <a:endParaRPr kumimoji="1" lang="en-US" altLang="zh-CN" dirty="0" smtClean="0"/>
          </a:p>
          <a:p>
            <a:pPr lvl="1"/>
            <a:r>
              <a:rPr lang="zh-CN" altLang="en-US" dirty="0" smtClean="0"/>
              <a:t>设置</a:t>
            </a:r>
            <a:endParaRPr lang="en-US" altLang="zh-CN" dirty="0" smtClean="0"/>
          </a:p>
          <a:p>
            <a:pPr lvl="1"/>
            <a:r>
              <a:rPr kumimoji="1" lang="zh-CN" altLang="en-US" dirty="0" smtClean="0"/>
              <a:t>发布中间进度</a:t>
            </a:r>
            <a:endParaRPr kumimoji="1" lang="en-US" altLang="zh-CN" dirty="0" smtClean="0"/>
          </a:p>
          <a:p>
            <a:pPr lvl="1"/>
            <a:r>
              <a:rPr kumimoji="1" lang="zh-CN" altLang="en-US" dirty="0" smtClean="0"/>
              <a:t>使用结果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82905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AsyncTask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400" dirty="0">
                <a:latin typeface="Monaco"/>
                <a:cs typeface="Monaco"/>
              </a:rPr>
              <a:t>class </a:t>
            </a:r>
            <a:r>
              <a:rPr lang="en-US" altLang="zh-CN" sz="2400" dirty="0" err="1">
                <a:latin typeface="Monaco"/>
                <a:cs typeface="Monaco"/>
              </a:rPr>
              <a:t>AsyncTask</a:t>
            </a:r>
            <a:r>
              <a:rPr lang="en-US" altLang="zh-CN" sz="2400" dirty="0">
                <a:latin typeface="Monaco"/>
                <a:cs typeface="Monaco"/>
              </a:rPr>
              <a:t>&lt;</a:t>
            </a:r>
            <a:r>
              <a:rPr lang="en-US" altLang="zh-CN" sz="2400" dirty="0" err="1">
                <a:latin typeface="Monaco"/>
                <a:cs typeface="Monaco"/>
              </a:rPr>
              <a:t>Params</a:t>
            </a:r>
            <a:r>
              <a:rPr lang="en-US" altLang="zh-CN" sz="2400" dirty="0">
                <a:latin typeface="Monaco"/>
                <a:cs typeface="Monaco"/>
              </a:rPr>
              <a:t>, Progress, Result&gt; </a:t>
            </a:r>
            <a:r>
              <a:rPr lang="en-US" altLang="zh-CN" sz="2400" dirty="0" smtClean="0">
                <a:latin typeface="Monaco"/>
                <a:cs typeface="Monaco"/>
              </a:rPr>
              <a:t>{</a:t>
            </a:r>
          </a:p>
          <a:p>
            <a:pPr marL="0" indent="0">
              <a:buNone/>
            </a:pPr>
            <a:r>
              <a:rPr lang="en-US" altLang="zh-CN" sz="2400" dirty="0">
                <a:latin typeface="Monaco"/>
                <a:cs typeface="Monaco"/>
              </a:rPr>
              <a:t>	</a:t>
            </a:r>
            <a:r>
              <a:rPr lang="en-US" altLang="zh-CN" sz="2400" dirty="0" smtClean="0">
                <a:latin typeface="Monaco"/>
                <a:cs typeface="Monaco"/>
              </a:rPr>
              <a:t>.</a:t>
            </a:r>
            <a:r>
              <a:rPr lang="en-US" altLang="zh-CN" sz="2400" dirty="0">
                <a:latin typeface="Monaco"/>
                <a:cs typeface="Monaco"/>
              </a:rPr>
              <a:t>.. </a:t>
            </a:r>
          </a:p>
          <a:p>
            <a:pPr marL="0" indent="0">
              <a:buNone/>
            </a:pPr>
            <a:r>
              <a:rPr lang="en-US" altLang="zh-CN" sz="2400" dirty="0">
                <a:latin typeface="Monaco"/>
                <a:cs typeface="Monaco"/>
              </a:rPr>
              <a:t>} </a:t>
            </a:r>
            <a:endParaRPr lang="en-US" altLang="zh-CN" sz="2400" dirty="0" smtClean="0">
              <a:latin typeface="Monaco"/>
              <a:cs typeface="Monaco"/>
            </a:endParaRPr>
          </a:p>
          <a:p>
            <a:pPr marL="0" indent="0">
              <a:buNone/>
            </a:pPr>
            <a:endParaRPr lang="en-US" altLang="zh-CN" sz="2400" dirty="0">
              <a:latin typeface="Monaco"/>
              <a:cs typeface="Monaco"/>
            </a:endParaRPr>
          </a:p>
          <a:p>
            <a:r>
              <a:rPr lang="en-US" altLang="zh-CN" sz="2400" dirty="0" err="1" smtClean="0">
                <a:latin typeface="Monaco"/>
                <a:cs typeface="Monaco"/>
              </a:rPr>
              <a:t>Params</a:t>
            </a:r>
            <a:r>
              <a:rPr lang="en-US" altLang="zh-CN" sz="2400" dirty="0" smtClean="0">
                <a:latin typeface="Monaco"/>
                <a:cs typeface="Monaco"/>
              </a:rPr>
              <a:t>: </a:t>
            </a:r>
            <a:r>
              <a:rPr lang="zh-CN" altLang="en-US" sz="2400" dirty="0" smtClean="0">
                <a:latin typeface="Monaco"/>
                <a:cs typeface="Monaco"/>
              </a:rPr>
              <a:t>后台工作使用的类型</a:t>
            </a:r>
            <a:endParaRPr lang="en-US" altLang="zh-CN" sz="2400" dirty="0" smtClean="0">
              <a:latin typeface="Monaco"/>
              <a:cs typeface="Monaco"/>
            </a:endParaRPr>
          </a:p>
          <a:p>
            <a:r>
              <a:rPr lang="en-US" altLang="zh-CN" sz="2400" dirty="0" smtClean="0">
                <a:latin typeface="Monaco"/>
                <a:cs typeface="Monaco"/>
              </a:rPr>
              <a:t>Progress: </a:t>
            </a:r>
            <a:r>
              <a:rPr lang="zh-CN" altLang="en-US" sz="2400" dirty="0" smtClean="0">
                <a:latin typeface="Monaco"/>
                <a:cs typeface="Monaco"/>
              </a:rPr>
              <a:t>指示进度使用的类型</a:t>
            </a:r>
            <a:endParaRPr lang="en-US" altLang="zh-CN" sz="2400" dirty="0" smtClean="0">
              <a:latin typeface="Monaco"/>
              <a:cs typeface="Monaco"/>
            </a:endParaRPr>
          </a:p>
          <a:p>
            <a:r>
              <a:rPr lang="en-US" altLang="zh-CN" sz="2400" dirty="0" smtClean="0">
                <a:latin typeface="Monaco"/>
                <a:cs typeface="Monaco"/>
              </a:rPr>
              <a:t>Result: </a:t>
            </a:r>
            <a:r>
              <a:rPr lang="zh-CN" altLang="en-US" sz="2400" dirty="0" smtClean="0">
                <a:latin typeface="Monaco"/>
                <a:cs typeface="Monaco"/>
              </a:rPr>
              <a:t>结果的类型</a:t>
            </a:r>
            <a:endParaRPr lang="en-US" altLang="zh-CN" sz="2400" dirty="0">
              <a:latin typeface="Monaco"/>
              <a:cs typeface="Monaco"/>
            </a:endParaRPr>
          </a:p>
          <a:p>
            <a:pPr marL="0" indent="0"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79677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 smtClean="0"/>
              <a:t>AsyncTask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void </a:t>
            </a:r>
            <a:r>
              <a:rPr lang="en-US" altLang="zh-CN" dirty="0" err="1"/>
              <a:t>onPreExecute</a:t>
            </a:r>
            <a:r>
              <a:rPr lang="en-US" altLang="zh-CN" dirty="0"/>
              <a:t>(</a:t>
            </a:r>
            <a:r>
              <a:rPr lang="en-US" altLang="zh-CN" dirty="0" smtClean="0"/>
              <a:t>)</a:t>
            </a:r>
            <a:endParaRPr lang="en-US" altLang="zh-CN" dirty="0"/>
          </a:p>
          <a:p>
            <a:pPr lvl="1"/>
            <a:r>
              <a:rPr lang="zh-CN" altLang="en-US" dirty="0" smtClean="0"/>
              <a:t>在</a:t>
            </a:r>
            <a:r>
              <a:rPr lang="en-US" altLang="zh-CN" dirty="0" smtClean="0"/>
              <a:t>UI</a:t>
            </a:r>
            <a:r>
              <a:rPr lang="zh-CN" altLang="en-US" dirty="0" smtClean="0"/>
              <a:t>线程执行，</a:t>
            </a:r>
            <a:r>
              <a:rPr lang="en-US" altLang="zh-CN" dirty="0" err="1" smtClean="0"/>
              <a:t>doInBackground</a:t>
            </a:r>
            <a:r>
              <a:rPr lang="en-US" altLang="zh-CN" dirty="0" smtClean="0"/>
              <a:t>()</a:t>
            </a:r>
            <a:r>
              <a:rPr lang="zh-CN" altLang="en-US" dirty="0" smtClean="0"/>
              <a:t>之前执行</a:t>
            </a:r>
            <a:endParaRPr lang="en-US" altLang="zh-CN" dirty="0" smtClean="0"/>
          </a:p>
          <a:p>
            <a:r>
              <a:rPr lang="en-US" altLang="zh-CN" dirty="0"/>
              <a:t>Result </a:t>
            </a:r>
            <a:r>
              <a:rPr lang="en-US" altLang="zh-CN" dirty="0" err="1" smtClean="0"/>
              <a:t>doInBackground</a:t>
            </a:r>
            <a:r>
              <a:rPr lang="en-US" altLang="zh-CN" dirty="0" smtClean="0"/>
              <a:t> </a:t>
            </a:r>
            <a:r>
              <a:rPr lang="en-US" altLang="zh-CN" dirty="0"/>
              <a:t>(</a:t>
            </a:r>
            <a:r>
              <a:rPr lang="en-US" altLang="zh-CN" dirty="0" err="1"/>
              <a:t>Params</a:t>
            </a:r>
            <a:r>
              <a:rPr lang="en-US" altLang="zh-CN" dirty="0"/>
              <a:t>...</a:t>
            </a:r>
            <a:r>
              <a:rPr lang="en-US" altLang="zh-CN" dirty="0" err="1"/>
              <a:t>params</a:t>
            </a:r>
            <a:r>
              <a:rPr lang="en-US" altLang="zh-CN" dirty="0" smtClean="0"/>
              <a:t>)</a:t>
            </a:r>
          </a:p>
          <a:p>
            <a:pPr lvl="1"/>
            <a:r>
              <a:rPr lang="zh-CN" altLang="en-US" dirty="0" smtClean="0"/>
              <a:t>在后台线程执行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 </a:t>
            </a:r>
            <a:r>
              <a:rPr lang="zh-CN" altLang="en-US" dirty="0" smtClean="0"/>
              <a:t>可能调用</a:t>
            </a:r>
            <a:r>
              <a:rPr lang="en-US" altLang="zh-CN" dirty="0"/>
              <a:t>void </a:t>
            </a:r>
            <a:r>
              <a:rPr lang="en-US" altLang="zh-CN" dirty="0" err="1"/>
              <a:t>publishProgress</a:t>
            </a:r>
            <a:r>
              <a:rPr lang="en-US" altLang="zh-CN" dirty="0"/>
              <a:t>(Progress... values) </a:t>
            </a:r>
          </a:p>
          <a:p>
            <a:r>
              <a:rPr lang="en-US" altLang="zh-CN" dirty="0"/>
              <a:t>void </a:t>
            </a:r>
            <a:r>
              <a:rPr lang="en-US" altLang="zh-CN" dirty="0" err="1"/>
              <a:t>publishProgress</a:t>
            </a:r>
            <a:r>
              <a:rPr lang="en-US" altLang="zh-CN" dirty="0"/>
              <a:t>(Progress... values) 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响应</a:t>
            </a:r>
            <a:r>
              <a:rPr lang="en-US" altLang="zh-CN" dirty="0" err="1" smtClean="0"/>
              <a:t>publishProgress</a:t>
            </a:r>
            <a:r>
              <a:rPr lang="en-US" altLang="zh-CN" dirty="0" smtClean="0"/>
              <a:t>()</a:t>
            </a:r>
          </a:p>
          <a:p>
            <a:r>
              <a:rPr lang="en-US" altLang="zh-CN" dirty="0"/>
              <a:t>void </a:t>
            </a:r>
            <a:r>
              <a:rPr lang="en-US" altLang="zh-CN" dirty="0" err="1"/>
              <a:t>onPostExecute</a:t>
            </a:r>
            <a:r>
              <a:rPr lang="en-US" altLang="zh-CN" dirty="0"/>
              <a:t> (Result result) 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在</a:t>
            </a:r>
            <a:r>
              <a:rPr lang="en-US" altLang="zh-CN" dirty="0" err="1" smtClean="0"/>
              <a:t>doInBackground</a:t>
            </a:r>
            <a:r>
              <a:rPr lang="en-US" altLang="zh-CN" dirty="0" smtClean="0"/>
              <a:t>()</a:t>
            </a:r>
            <a:r>
              <a:rPr lang="zh-CN" altLang="en-US" dirty="0" smtClean="0"/>
              <a:t>之后执行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160720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581773" y="2802200"/>
            <a:ext cx="4030780" cy="1362075"/>
          </a:xfrm>
        </p:spPr>
        <p:txBody>
          <a:bodyPr/>
          <a:lstStyle/>
          <a:p>
            <a:r>
              <a:rPr kumimoji="1" lang="zh-CN" altLang="en-US" dirty="0" smtClean="0"/>
              <a:t>例子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17374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Handler</a:t>
            </a:r>
            <a:endParaRPr kumimoji="1"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 smtClean="0"/>
              <a:t>每个</a:t>
            </a:r>
            <a:r>
              <a:rPr kumimoji="1" lang="en-US" altLang="zh-CN" dirty="0" smtClean="0"/>
              <a:t>Handler</a:t>
            </a:r>
            <a:r>
              <a:rPr kumimoji="1" lang="zh-CN" altLang="en-US" dirty="0" smtClean="0"/>
              <a:t>和一个线程相关联</a:t>
            </a:r>
            <a:endParaRPr kumimoji="1" lang="en-US" altLang="zh-CN" dirty="0" smtClean="0"/>
          </a:p>
          <a:p>
            <a:r>
              <a:rPr lang="zh-CN" altLang="en-US" dirty="0" smtClean="0"/>
              <a:t>一个线程可以向另一个线程关联的</a:t>
            </a:r>
            <a:r>
              <a:rPr lang="en-US" altLang="zh-CN" dirty="0" smtClean="0"/>
              <a:t>Handler</a:t>
            </a:r>
            <a:r>
              <a:rPr lang="zh-CN" altLang="en-US" dirty="0" smtClean="0"/>
              <a:t>发送消息、</a:t>
            </a:r>
            <a:r>
              <a:rPr lang="en-US" altLang="zh-CN" dirty="0" smtClean="0"/>
              <a:t>Runnable</a:t>
            </a:r>
            <a:r>
              <a:rPr lang="zh-CN" altLang="en-US" dirty="0" smtClean="0"/>
              <a:t>来把任务传递给另一个线程</a:t>
            </a:r>
            <a:endParaRPr lang="en-US" altLang="zh-CN" dirty="0" smtClean="0"/>
          </a:p>
          <a:p>
            <a:r>
              <a:rPr kumimoji="1" lang="en-US" altLang="zh-CN" dirty="0" smtClean="0"/>
              <a:t>Runnable</a:t>
            </a:r>
          </a:p>
          <a:p>
            <a:pPr lvl="1"/>
            <a:r>
              <a:rPr lang="zh-CN" altLang="en-US" dirty="0" smtClean="0"/>
              <a:t>包含一个实现</a:t>
            </a:r>
            <a:r>
              <a:rPr lang="en-US" altLang="zh-CN" dirty="0" smtClean="0"/>
              <a:t>Runnable</a:t>
            </a:r>
            <a:r>
              <a:rPr lang="zh-CN" altLang="en-US" dirty="0" smtClean="0"/>
              <a:t>接口的实例</a:t>
            </a:r>
            <a:endParaRPr lang="en-US" altLang="zh-CN" dirty="0" smtClean="0"/>
          </a:p>
          <a:p>
            <a:pPr lvl="1"/>
            <a:r>
              <a:rPr kumimoji="1" lang="zh-CN" altLang="en-US" dirty="0" smtClean="0"/>
              <a:t>发送者实现响应</a:t>
            </a:r>
            <a:endParaRPr kumimoji="1" lang="en-US" altLang="zh-CN" dirty="0" smtClean="0"/>
          </a:p>
          <a:p>
            <a:r>
              <a:rPr lang="zh-CN" altLang="en-US" dirty="0" smtClean="0"/>
              <a:t>消息</a:t>
            </a:r>
            <a:endParaRPr lang="en-US" altLang="zh-CN" dirty="0" smtClean="0"/>
          </a:p>
          <a:p>
            <a:pPr lvl="1"/>
            <a:r>
              <a:rPr kumimoji="1" lang="zh-CN" altLang="en-US" dirty="0" smtClean="0"/>
              <a:t>包含消息码、一个对象以及整数参数</a:t>
            </a:r>
            <a:endParaRPr kumimoji="1" lang="en-US" altLang="zh-CN" dirty="0" smtClean="0"/>
          </a:p>
          <a:p>
            <a:pPr lvl="1"/>
            <a:r>
              <a:rPr lang="en-US" altLang="zh-CN" dirty="0" smtClean="0"/>
              <a:t>Handler</a:t>
            </a:r>
            <a:r>
              <a:rPr lang="zh-CN" altLang="en-US" dirty="0" smtClean="0"/>
              <a:t>实现对事件的响应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28876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Handler</a:t>
            </a:r>
            <a:r>
              <a:rPr kumimoji="1" lang="zh-CN" altLang="en-US" dirty="0" smtClean="0"/>
              <a:t>架构</a:t>
            </a:r>
            <a:endParaRPr kumimoji="1" lang="zh-CN" altLang="en-US" dirty="0"/>
          </a:p>
        </p:txBody>
      </p:sp>
      <p:pic>
        <p:nvPicPr>
          <p:cNvPr id="4" name="内容占位符 3" descr="Screen Shot 2014-05-22 at 1.51.04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3486" r="-11348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30051636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Handler</a:t>
            </a:r>
            <a:r>
              <a:rPr kumimoji="1" lang="zh-CN" altLang="en-US" smtClean="0"/>
              <a:t>架构</a:t>
            </a:r>
            <a:endParaRPr kumimoji="1" lang="zh-CN" altLang="en-US"/>
          </a:p>
        </p:txBody>
      </p:sp>
      <p:pic>
        <p:nvPicPr>
          <p:cNvPr id="4" name="内容占位符 3" descr="Screen Shot 2014-05-22 at 1.51.26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4738" r="-6473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88885227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Handler</a:t>
            </a:r>
            <a:r>
              <a:rPr kumimoji="1" lang="zh-CN" altLang="en-US" smtClean="0"/>
              <a:t>架构</a:t>
            </a:r>
            <a:endParaRPr kumimoji="1" lang="zh-CN" altLang="en-US"/>
          </a:p>
        </p:txBody>
      </p:sp>
      <p:pic>
        <p:nvPicPr>
          <p:cNvPr id="4" name="内容占位符 3" descr="Screen Shot 2014-05-22 at 1.51.46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8349" r="-5834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0264798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Handler</a:t>
            </a:r>
            <a:r>
              <a:rPr kumimoji="1" lang="zh-CN" altLang="en-US" smtClean="0"/>
              <a:t>架构</a:t>
            </a:r>
            <a:endParaRPr kumimoji="1" lang="zh-CN" altLang="en-US"/>
          </a:p>
        </p:txBody>
      </p:sp>
      <p:pic>
        <p:nvPicPr>
          <p:cNvPr id="4" name="内容占位符 3" descr="Screen Shot 2014-05-22 at 1.52.31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0032" r="-5003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3312367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smtClean="0"/>
              <a:t>Handler</a:t>
            </a:r>
            <a:r>
              <a:rPr kumimoji="1" lang="zh-CN" altLang="en-US" smtClean="0"/>
              <a:t>架构</a:t>
            </a:r>
            <a:endParaRPr kumimoji="1" lang="zh-CN" altLang="en-US"/>
          </a:p>
        </p:txBody>
      </p:sp>
      <p:pic>
        <p:nvPicPr>
          <p:cNvPr id="4" name="内容占位符 3" descr="Screen Shot 2014-05-22 at 1.52.46 AM.pn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1582" r="-11158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469783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581773" y="2802200"/>
            <a:ext cx="4030780" cy="1362075"/>
          </a:xfrm>
        </p:spPr>
        <p:txBody>
          <a:bodyPr/>
          <a:lstStyle/>
          <a:p>
            <a:r>
              <a:rPr kumimoji="1" lang="zh-CN" altLang="en-US" dirty="0" smtClean="0"/>
              <a:t>例子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38763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Android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Android.thmx</Template>
  <TotalTime>863</TotalTime>
  <Words>798</Words>
  <Application>Microsoft Macintosh PowerPoint</Application>
  <PresentationFormat>全屏显示(4:3)</PresentationFormat>
  <Paragraphs>233</Paragraphs>
  <Slides>61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62" baseType="lpstr">
      <vt:lpstr>Android</vt:lpstr>
      <vt:lpstr>广播、服务、多线程……</vt:lpstr>
      <vt:lpstr>内容</vt:lpstr>
      <vt:lpstr>广播</vt:lpstr>
      <vt:lpstr>BroadcastReceiver</vt:lpstr>
      <vt:lpstr>一般用法</vt:lpstr>
      <vt:lpstr>注册</vt:lpstr>
      <vt:lpstr>&lt;receiver&gt; 格式</vt:lpstr>
      <vt:lpstr>&lt;intent-filter&gt;</vt:lpstr>
      <vt:lpstr>静态注册</vt:lpstr>
      <vt:lpstr>例子</vt:lpstr>
      <vt:lpstr>动态注册</vt:lpstr>
      <vt:lpstr>例子</vt:lpstr>
      <vt:lpstr>事件广播</vt:lpstr>
      <vt:lpstr>事件分发</vt:lpstr>
      <vt:lpstr>事件分发</vt:lpstr>
      <vt:lpstr>例子</vt:lpstr>
      <vt:lpstr>有序广播</vt:lpstr>
      <vt:lpstr>例子</vt:lpstr>
      <vt:lpstr>返回结果</vt:lpstr>
      <vt:lpstr>Sticky广播</vt:lpstr>
      <vt:lpstr>例子</vt:lpstr>
      <vt:lpstr>服务</vt:lpstr>
      <vt:lpstr>服务类</vt:lpstr>
      <vt:lpstr>启动服务</vt:lpstr>
      <vt:lpstr>绑定服务</vt:lpstr>
      <vt:lpstr>IntentService</vt:lpstr>
      <vt:lpstr>例子</vt:lpstr>
      <vt:lpstr>音乐播放器</vt:lpstr>
      <vt:lpstr>例子</vt:lpstr>
      <vt:lpstr>绑定到远程服务</vt:lpstr>
      <vt:lpstr>用Messenger实现服务</vt:lpstr>
      <vt:lpstr>例子</vt:lpstr>
      <vt:lpstr>用AIDL实现服务</vt:lpstr>
      <vt:lpstr>用.AIDL文件定义接口</vt:lpstr>
      <vt:lpstr>AIDL语法</vt:lpstr>
      <vt:lpstr>AIDL数据类型</vt:lpstr>
      <vt:lpstr>远程接口例子</vt:lpstr>
      <vt:lpstr>例子</vt:lpstr>
      <vt:lpstr>多线程</vt:lpstr>
      <vt:lpstr>进程与线程</vt:lpstr>
      <vt:lpstr>共享变量</vt:lpstr>
      <vt:lpstr>Java的多线程</vt:lpstr>
      <vt:lpstr>线程的基本使用方法</vt:lpstr>
      <vt:lpstr>不使用多线程……</vt:lpstr>
      <vt:lpstr>例子</vt:lpstr>
      <vt:lpstr>简单的使用多线程</vt:lpstr>
      <vt:lpstr>例子</vt:lpstr>
      <vt:lpstr>UI线程</vt:lpstr>
      <vt:lpstr>改进方案</vt:lpstr>
      <vt:lpstr>例子</vt:lpstr>
      <vt:lpstr>AsyncTask</vt:lpstr>
      <vt:lpstr>AsyncTask</vt:lpstr>
      <vt:lpstr>AsyncTask</vt:lpstr>
      <vt:lpstr>例子</vt:lpstr>
      <vt:lpstr>Handler</vt:lpstr>
      <vt:lpstr>Handler架构</vt:lpstr>
      <vt:lpstr>Handler架构</vt:lpstr>
      <vt:lpstr>Handler架构</vt:lpstr>
      <vt:lpstr>Handler架构</vt:lpstr>
      <vt:lpstr>Handler架构</vt:lpstr>
      <vt:lpstr>例子</vt:lpstr>
    </vt:vector>
  </TitlesOfParts>
  <Company>zjgsu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数据存取</dc:title>
  <dc:creator>建伟 韩</dc:creator>
  <cp:lastModifiedBy>韩 建伟</cp:lastModifiedBy>
  <cp:revision>182</cp:revision>
  <dcterms:created xsi:type="dcterms:W3CDTF">2012-11-06T04:31:34Z</dcterms:created>
  <dcterms:modified xsi:type="dcterms:W3CDTF">2014-05-28T03:33:29Z</dcterms:modified>
</cp:coreProperties>
</file>