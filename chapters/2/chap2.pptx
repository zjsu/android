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sldIdLst>
    <p:sldId id="256" r:id="rId2"/>
    <p:sldId id="257" r:id="rId3"/>
    <p:sldId id="258" r:id="rId4"/>
    <p:sldId id="302" r:id="rId5"/>
    <p:sldId id="303" r:id="rId6"/>
    <p:sldId id="259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6" r:id="rId29"/>
    <p:sldId id="325" r:id="rId30"/>
    <p:sldId id="327" r:id="rId31"/>
    <p:sldId id="284" r:id="rId32"/>
    <p:sldId id="328" r:id="rId33"/>
    <p:sldId id="329" r:id="rId34"/>
    <p:sldId id="330" r:id="rId35"/>
    <p:sldId id="331" r:id="rId36"/>
    <p:sldId id="332" r:id="rId37"/>
    <p:sldId id="333" r:id="rId38"/>
    <p:sldId id="334" r:id="rId39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5pPr>
    <a:lvl6pPr marL="2286000" algn="l" defTabSz="457200" rtl="0" eaLnBrk="1" latinLnBrk="0" hangingPunct="1"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6pPr>
    <a:lvl7pPr marL="2743200" algn="l" defTabSz="457200" rtl="0" eaLnBrk="1" latinLnBrk="0" hangingPunct="1"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7pPr>
    <a:lvl8pPr marL="3200400" algn="l" defTabSz="457200" rtl="0" eaLnBrk="1" latinLnBrk="0" hangingPunct="1"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8pPr>
    <a:lvl9pPr marL="3657600" algn="l" defTabSz="457200" rtl="0" eaLnBrk="1" latinLnBrk="0" hangingPunct="1"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9" d="100"/>
          <a:sy n="149" d="100"/>
        </p:scale>
        <p:origin x="-209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printerSettings" Target="printerSettings/printerSettings1.bin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en-US" dirty="0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en-US" dirty="0"/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752788E-920F-CE45-A42C-2912AE95BD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41" name="Picture 14" descr="http://www.proxware.com/images/androids.gif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150" y="5257800"/>
            <a:ext cx="387985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32200"/>
            <a:ext cx="32258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72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pslweb.org/liberationnews/assets/images/website/android-logo-peekin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6238" y="4648200"/>
            <a:ext cx="1147762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03A2631-CD88-3F4A-A679-6755E9B602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56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64A71-A839-6C46-B23C-C4A0154158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98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DA287B-F597-C34A-B53D-3745A3ADFA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4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63020-8294-4E49-8846-1859E6958C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9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67AAE4-C7DD-954E-A038-5FD024DDB7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17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B447B-4A0C-9443-8659-011B4ECC18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85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AE71B0-91E5-124F-89E5-BE92CA8A13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36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将图片拖动到占位符，或单击添加图标</a:t>
            </a:r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73A310-F2CC-9C41-9D10-9057A6081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0B01D-A8D8-AB4F-BBEC-64EF1CE1DA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6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32FFE2-9D2F-7045-9357-FC3B593933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847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、文本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804EAB-3125-634C-8117-D2D3864A31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329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altLang="zh-CN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 smtClean="0">
                <a:cs typeface="+mn-cs"/>
              </a:defRPr>
            </a:lvl1pPr>
          </a:lstStyle>
          <a:p>
            <a:pPr>
              <a:defRPr/>
            </a:pPr>
            <a:fld id="{8E3EC168-5257-474A-932D-F55C0BD912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/>
          <a:ea typeface="Kai"/>
          <a:cs typeface="Kai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charset="0"/>
        <a:buChar char="l"/>
        <a:defRPr kumimoji="1" sz="3000">
          <a:solidFill>
            <a:schemeClr val="tx1"/>
          </a:solidFill>
          <a:latin typeface="Kai"/>
          <a:ea typeface="Kai"/>
          <a:cs typeface="Kai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l"/>
        <a:defRPr kumimoji="1" sz="2600">
          <a:solidFill>
            <a:schemeClr val="tx1"/>
          </a:solidFill>
          <a:latin typeface="Kai"/>
          <a:ea typeface="Kai"/>
          <a:cs typeface="Kai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l"/>
        <a:defRPr kumimoji="1" sz="2300">
          <a:solidFill>
            <a:schemeClr val="tx1"/>
          </a:solidFill>
          <a:latin typeface="Kai"/>
          <a:ea typeface="Kai"/>
          <a:cs typeface="Kai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0"/>
        <a:buChar char="§"/>
        <a:defRPr kumimoji="1" sz="2000">
          <a:solidFill>
            <a:schemeClr val="tx1"/>
          </a:solidFill>
          <a:latin typeface="Kai"/>
          <a:ea typeface="Kai"/>
          <a:cs typeface="Kai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0"/>
        <a:buChar char="§"/>
        <a:defRPr kumimoji="1" sz="2000">
          <a:solidFill>
            <a:schemeClr val="tx1"/>
          </a:solidFill>
          <a:latin typeface="Kai"/>
          <a:ea typeface="Kai"/>
          <a:cs typeface="Kai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 smtClean="0"/>
              <a:t>应用程序基础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2890802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0"/>
            <a:ext cx="9144000" cy="394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395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课程内容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应用程序</a:t>
            </a:r>
            <a:r>
              <a:rPr kumimoji="1" lang="zh-CN" altLang="en-US" dirty="0" smtClean="0"/>
              <a:t>的组成部分</a:t>
            </a:r>
            <a:endParaRPr kumimoji="1" lang="en-US" altLang="zh-CN" dirty="0" smtClean="0"/>
          </a:p>
          <a:p>
            <a:r>
              <a:rPr kumimoji="1" lang="zh-CN" altLang="en-US" dirty="0" smtClean="0"/>
              <a:t>构建</a:t>
            </a:r>
            <a:r>
              <a:rPr lang="zh-CN" altLang="en-US" dirty="0" smtClean="0"/>
              <a:t>应用程序</a:t>
            </a:r>
            <a:endParaRPr kumimoji="1" lang="en-US" altLang="zh-CN" dirty="0" smtClean="0"/>
          </a:p>
          <a:p>
            <a:r>
              <a:rPr lang="en-US" altLang="zh-CN" dirty="0" smtClean="0"/>
              <a:t>Activity</a:t>
            </a:r>
          </a:p>
          <a:p>
            <a:r>
              <a:rPr lang="zh-CN" altLang="en-US" dirty="0" smtClean="0"/>
              <a:t>任务栈</a:t>
            </a:r>
            <a:endParaRPr lang="en-US" altLang="zh-CN" dirty="0" smtClean="0"/>
          </a:p>
          <a:p>
            <a:r>
              <a:rPr lang="en-US" altLang="zh-CN" dirty="0" smtClean="0"/>
              <a:t>Activity </a:t>
            </a:r>
            <a:r>
              <a:rPr lang="zh-CN" altLang="en-US" dirty="0" smtClean="0"/>
              <a:t>的生命周期</a:t>
            </a:r>
            <a:endParaRPr lang="en-US" altLang="zh-CN" dirty="0" smtClean="0"/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40142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应用程序的组成部分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Activity</a:t>
            </a:r>
          </a:p>
          <a:p>
            <a:r>
              <a:rPr lang="en-US" altLang="zh-CN" dirty="0" smtClean="0"/>
              <a:t>Service</a:t>
            </a:r>
          </a:p>
          <a:p>
            <a:r>
              <a:rPr kumimoji="1" lang="en-US" altLang="zh-CN" dirty="0" smtClean="0"/>
              <a:t>Broadcast receiver</a:t>
            </a:r>
          </a:p>
          <a:p>
            <a:r>
              <a:rPr lang="en-US" altLang="zh-CN" dirty="0" smtClean="0"/>
              <a:t>Content provider</a:t>
            </a:r>
          </a:p>
        </p:txBody>
      </p:sp>
    </p:spTree>
    <p:extLst>
      <p:ext uri="{BB962C8B-B14F-4D97-AF65-F5344CB8AC3E}">
        <p14:creationId xmlns:p14="http://schemas.microsoft.com/office/powerpoint/2010/main" val="1101684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应用程序的组成部分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A</a:t>
            </a:r>
            <a:r>
              <a:rPr kumimoji="1" lang="en-US" altLang="zh-CN" dirty="0" smtClean="0"/>
              <a:t>pp </a:t>
            </a:r>
            <a:r>
              <a:rPr kumimoji="1" lang="zh-CN" altLang="en-US" dirty="0" smtClean="0"/>
              <a:t>由这些部分组成</a:t>
            </a:r>
            <a:endParaRPr kumimoji="1" lang="en-US" altLang="zh-CN" dirty="0" smtClean="0"/>
          </a:p>
          <a:p>
            <a:r>
              <a:rPr lang="zh-CN" altLang="en-US" dirty="0" smtClean="0"/>
              <a:t>根据需求初始化、运行这些部件</a:t>
            </a:r>
            <a:endParaRPr lang="en-US" altLang="zh-CN" dirty="0" smtClean="0"/>
          </a:p>
          <a:p>
            <a:r>
              <a:rPr lang="zh-CN" altLang="en-US" dirty="0" smtClean="0"/>
              <a:t>每种部件都有自己的作用及</a:t>
            </a:r>
            <a:r>
              <a:rPr lang="en-US" altLang="zh-CN" dirty="0" smtClean="0"/>
              <a:t>API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957373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Activity</a:t>
            </a:r>
            <a:r>
              <a:rPr kumimoji="1" lang="zh-CN" altLang="en-US" dirty="0" smtClean="0"/>
              <a:t>（活动）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用于处理用户交互</a:t>
            </a:r>
            <a:endParaRPr lang="en-US" altLang="zh-CN" dirty="0" smtClean="0"/>
          </a:p>
          <a:p>
            <a:r>
              <a:rPr kumimoji="1" lang="zh-CN" altLang="en-US" dirty="0" smtClean="0"/>
              <a:t>通常用于实现一个单一、具体的任务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69059"/>
            <a:ext cx="2333361" cy="38889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181" y="2969059"/>
            <a:ext cx="2333362" cy="38889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187" y="2969058"/>
            <a:ext cx="2333361" cy="388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6785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Service</a:t>
            </a:r>
            <a:r>
              <a:rPr kumimoji="1" lang="zh-CN" altLang="en-US" dirty="0" smtClean="0"/>
              <a:t>（服务</a:t>
            </a:r>
            <a:r>
              <a:rPr kumimoji="1" lang="zh-CN" altLang="zh-CN" dirty="0"/>
              <a:t>）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运行在后台</a:t>
            </a:r>
            <a:endParaRPr kumimoji="1" lang="en-US" altLang="zh-CN" dirty="0" smtClean="0"/>
          </a:p>
          <a:p>
            <a:r>
              <a:rPr lang="zh-CN" altLang="en-US" dirty="0" smtClean="0"/>
              <a:t>执行长时间运行的操作</a:t>
            </a:r>
            <a:endParaRPr lang="en-US" altLang="zh-CN" dirty="0" smtClean="0"/>
          </a:p>
          <a:p>
            <a:r>
              <a:rPr kumimoji="1" lang="zh-CN" altLang="en-US" dirty="0" smtClean="0"/>
              <a:t>支持和远程进程的交互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4208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Service</a:t>
            </a:r>
            <a:r>
              <a:rPr kumimoji="1" lang="zh-CN" altLang="en-US" dirty="0" smtClean="0"/>
              <a:t>（服务）</a:t>
            </a:r>
            <a:endParaRPr kumimoji="1"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rcRect l="-99366" r="-99366"/>
          <a:stretch>
            <a:fillRect/>
          </a:stretch>
        </p:blipFill>
        <p:spPr>
          <a:xfrm>
            <a:off x="-2369820" y="1719263"/>
            <a:ext cx="8229600" cy="4411662"/>
          </a:xfr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097" y="1719263"/>
            <a:ext cx="2754838" cy="441166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981" y="1719263"/>
            <a:ext cx="2480334" cy="441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093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Broadcast receiver</a:t>
            </a:r>
            <a:r>
              <a:rPr kumimoji="1" lang="zh-CN" altLang="en-US" dirty="0" smtClean="0"/>
              <a:t>（广播接收器）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监听并响应事件</a:t>
            </a:r>
            <a:endParaRPr kumimoji="1" lang="en-US" altLang="zh-CN" dirty="0" smtClean="0"/>
          </a:p>
          <a:p>
            <a:r>
              <a:rPr kumimoji="1" lang="zh-CN" altLang="en-US" dirty="0" smtClean="0"/>
              <a:t>发布</a:t>
            </a:r>
            <a:r>
              <a:rPr kumimoji="1" lang="en-US" altLang="zh-CN" dirty="0" smtClean="0"/>
              <a:t>/</a:t>
            </a:r>
            <a:r>
              <a:rPr kumimoji="1" lang="zh-CN" altLang="en-US" dirty="0" smtClean="0"/>
              <a:t>订阅模式（</a:t>
            </a:r>
            <a:r>
              <a:rPr kumimoji="1" lang="en-US" altLang="zh-CN" dirty="0" smtClean="0"/>
              <a:t>Observer</a:t>
            </a:r>
            <a:r>
              <a:rPr kumimoji="1" lang="zh-CN" altLang="en-US" dirty="0" smtClean="0"/>
              <a:t>模式）中的订阅者</a:t>
            </a:r>
            <a:endParaRPr kumimoji="1" lang="en-US" altLang="zh-CN" dirty="0" smtClean="0"/>
          </a:p>
          <a:p>
            <a:r>
              <a:rPr kumimoji="1" lang="zh-CN" altLang="en-US" dirty="0" smtClean="0"/>
              <a:t>事件是由</a:t>
            </a:r>
            <a:r>
              <a:rPr kumimoji="1" lang="en-US" altLang="zh-CN" dirty="0" smtClean="0"/>
              <a:t>Intent</a:t>
            </a:r>
            <a:r>
              <a:rPr kumimoji="1" lang="zh-CN" altLang="en-US" dirty="0" smtClean="0"/>
              <a:t>类表示并广播</a:t>
            </a:r>
            <a:endParaRPr kumimoji="1" lang="en-US" altLang="zh-CN" dirty="0" smtClean="0"/>
          </a:p>
          <a:p>
            <a:r>
              <a:rPr lang="en-US" altLang="zh-CN" dirty="0" smtClean="0"/>
              <a:t>Broadcast receiver </a:t>
            </a:r>
            <a:r>
              <a:rPr lang="zh-CN" altLang="en-US" dirty="0" smtClean="0"/>
              <a:t>接收并响应广播事件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87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Broadcast receiver</a:t>
            </a:r>
            <a:r>
              <a:rPr kumimoji="1" lang="zh-CN" altLang="en-US" dirty="0"/>
              <a:t>（广播接收器）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rcRect l="-114088" r="-11408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77178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Content </a:t>
            </a:r>
            <a:r>
              <a:rPr kumimoji="1" lang="en-US" altLang="zh-CN" dirty="0" smtClean="0"/>
              <a:t>p</a:t>
            </a:r>
            <a:r>
              <a:rPr kumimoji="1" lang="en-US" altLang="zh-CN" dirty="0" smtClean="0"/>
              <a:t>rovider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存储、程序间共享数据</a:t>
            </a:r>
            <a:endParaRPr lang="en-US" altLang="zh-CN" dirty="0" smtClean="0"/>
          </a:p>
          <a:p>
            <a:r>
              <a:rPr kumimoji="1" lang="zh-CN" altLang="en-US" dirty="0" smtClean="0"/>
              <a:t>联系人、日历等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50390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构建应用程序</a:t>
            </a:r>
            <a:r>
              <a:rPr kumimoji="1" lang="en-US" altLang="zh-CN" dirty="0" smtClean="0"/>
              <a:t> – </a:t>
            </a:r>
            <a:r>
              <a:rPr kumimoji="1" lang="zh-CN" altLang="en-US" dirty="0" smtClean="0"/>
              <a:t>环境搭建</a:t>
            </a:r>
            <a:endParaRPr kumimoji="1" lang="zh-CN" altLang="en-US" dirty="0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>
          <a:blip r:embed="rId2"/>
          <a:srcRect t="-17605" b="-1760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594270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构建应用程序</a:t>
            </a:r>
            <a:r>
              <a:rPr kumimoji="1" lang="en-US" altLang="zh-CN" dirty="0" smtClean="0"/>
              <a:t> – </a:t>
            </a:r>
            <a:r>
              <a:rPr kumimoji="1" lang="zh-CN" altLang="en-US" dirty="0" smtClean="0"/>
              <a:t>开发</a:t>
            </a:r>
            <a:endParaRPr kumimoji="1"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rcRect t="-73188" b="-7318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460028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构建应用程序</a:t>
            </a:r>
            <a:r>
              <a:rPr kumimoji="1" lang="en-US" altLang="zh-CN" dirty="0" smtClean="0"/>
              <a:t> – </a:t>
            </a:r>
            <a:r>
              <a:rPr kumimoji="1" lang="zh-CN" altLang="en-US" dirty="0" smtClean="0"/>
              <a:t>调试、测试</a:t>
            </a:r>
            <a:endParaRPr kumimoji="1"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rcRect l="-5431" r="-543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941078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构建应用程序</a:t>
            </a:r>
            <a:r>
              <a:rPr kumimoji="1" lang="en-US" altLang="zh-CN" dirty="0" smtClean="0"/>
              <a:t> – </a:t>
            </a:r>
            <a:r>
              <a:rPr kumimoji="1" lang="zh-CN" altLang="en-US" dirty="0" smtClean="0"/>
              <a:t>发布</a:t>
            </a:r>
            <a:endParaRPr kumimoji="1"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rcRect t="-16718" b="-1671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921628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构建应用程序</a:t>
            </a:r>
            <a:endParaRPr kumimoji="1"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rcRect t="-51636" b="-5163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749793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构建应用程序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定义资源</a:t>
            </a:r>
            <a:endParaRPr kumimoji="1" lang="en-US" altLang="zh-CN" dirty="0" smtClean="0"/>
          </a:p>
          <a:p>
            <a:r>
              <a:rPr lang="zh-CN" altLang="en-US" dirty="0" smtClean="0"/>
              <a:t>实现应用程序类</a:t>
            </a:r>
            <a:endParaRPr lang="en-US" altLang="zh-CN" dirty="0" smtClean="0"/>
          </a:p>
          <a:p>
            <a:r>
              <a:rPr kumimoji="1" lang="zh-CN" altLang="en-US" dirty="0" smtClean="0"/>
              <a:t>打包</a:t>
            </a:r>
            <a:endParaRPr kumimoji="1" lang="en-US" altLang="zh-CN" dirty="0" smtClean="0"/>
          </a:p>
          <a:p>
            <a:r>
              <a:rPr lang="zh-CN" altLang="en-US" dirty="0" smtClean="0"/>
              <a:t>安装、运行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9092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定义资源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非源代码的实体</a:t>
            </a:r>
            <a:endParaRPr kumimoji="1" lang="en-US" altLang="zh-CN" dirty="0" smtClean="0"/>
          </a:p>
          <a:p>
            <a:pPr lvl="1"/>
            <a:r>
              <a:rPr lang="en-US" altLang="zh-CN" dirty="0" smtClean="0"/>
              <a:t>Layout</a:t>
            </a:r>
            <a:r>
              <a:rPr lang="zh-CN" altLang="en-US" dirty="0" smtClean="0"/>
              <a:t>（布局）</a:t>
            </a:r>
            <a:endParaRPr lang="en-US" altLang="zh-CN" dirty="0" smtClean="0"/>
          </a:p>
          <a:p>
            <a:pPr lvl="1"/>
            <a:r>
              <a:rPr kumimoji="1" lang="en-US" altLang="zh-CN" dirty="0" smtClean="0"/>
              <a:t>String</a:t>
            </a:r>
            <a:r>
              <a:rPr kumimoji="1" lang="zh-CN" altLang="en-US" dirty="0" smtClean="0"/>
              <a:t>（字符串）</a:t>
            </a:r>
            <a:endParaRPr kumimoji="1" lang="en-US" altLang="zh-CN" dirty="0" smtClean="0"/>
          </a:p>
          <a:p>
            <a:pPr lvl="1"/>
            <a:r>
              <a:rPr lang="en-US" altLang="zh-CN" dirty="0" smtClean="0"/>
              <a:t>Image</a:t>
            </a:r>
            <a:r>
              <a:rPr lang="zh-CN" altLang="en-US" dirty="0" smtClean="0"/>
              <a:t>（图片）</a:t>
            </a:r>
            <a:endParaRPr lang="en-US" altLang="zh-CN" dirty="0" smtClean="0"/>
          </a:p>
          <a:p>
            <a:pPr lvl="1"/>
            <a:r>
              <a:rPr kumimoji="1" lang="en-US" altLang="zh-CN" dirty="0" smtClean="0"/>
              <a:t>Menu</a:t>
            </a:r>
            <a:r>
              <a:rPr kumimoji="1" lang="zh-CN" altLang="en-US" dirty="0" smtClean="0"/>
              <a:t>（菜单）</a:t>
            </a:r>
            <a:endParaRPr kumimoji="1" lang="en-US" altLang="zh-CN" dirty="0" smtClean="0"/>
          </a:p>
          <a:p>
            <a:pPr lvl="1"/>
            <a:r>
              <a:rPr lang="en-US" altLang="zh-CN" dirty="0" smtClean="0"/>
              <a:t>Animation</a:t>
            </a:r>
            <a:r>
              <a:rPr lang="zh-CN" altLang="en-US" dirty="0" smtClean="0"/>
              <a:t>（动画）</a:t>
            </a:r>
            <a:endParaRPr lang="en-US" altLang="zh-CN" dirty="0" smtClean="0"/>
          </a:p>
          <a:p>
            <a:endParaRPr kumimoji="1" lang="en-US" altLang="zh-CN" dirty="0" smtClean="0"/>
          </a:p>
          <a:p>
            <a:r>
              <a:rPr kumimoji="1" lang="zh-CN" altLang="en-US" dirty="0" smtClean="0"/>
              <a:t>使得</a:t>
            </a:r>
            <a:r>
              <a:rPr kumimoji="1" lang="en-US" altLang="zh-CN" dirty="0" smtClean="0"/>
              <a:t> App </a:t>
            </a:r>
            <a:r>
              <a:rPr kumimoji="1" lang="zh-CN" altLang="en-US" dirty="0" smtClean="0"/>
              <a:t>可以针对设备和用户进行优化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700" y="1281534"/>
            <a:ext cx="5321300" cy="1993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700" y="3312119"/>
            <a:ext cx="53213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776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字符串资源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类型</a:t>
            </a:r>
            <a:r>
              <a:rPr kumimoji="1" lang="en-US" altLang="zh-CN" dirty="0" smtClean="0"/>
              <a:t>: String, String array, Plurals</a:t>
            </a:r>
          </a:p>
          <a:p>
            <a:r>
              <a:rPr lang="zh-CN" altLang="en-US" dirty="0" smtClean="0"/>
              <a:t>存储在</a:t>
            </a:r>
            <a:r>
              <a:rPr lang="en-US" altLang="zh-CN" dirty="0"/>
              <a:t> </a:t>
            </a:r>
            <a:r>
              <a:rPr lang="en-US" altLang="zh-CN" dirty="0" smtClean="0"/>
              <a:t>res/values/*.xml</a:t>
            </a:r>
          </a:p>
          <a:p>
            <a:r>
              <a:rPr kumimoji="1" lang="en-US" altLang="zh-CN" dirty="0" smtClean="0"/>
              <a:t>XML</a:t>
            </a:r>
            <a:r>
              <a:rPr kumimoji="1" lang="zh-CN" altLang="en-US" dirty="0" smtClean="0"/>
              <a:t>格式</a:t>
            </a:r>
            <a:endParaRPr kumimoji="1" lang="en-US" altLang="zh-CN" dirty="0" smtClean="0"/>
          </a:p>
          <a:p>
            <a:pPr marL="344487" lvl="1" indent="0">
              <a:buNone/>
            </a:pPr>
            <a:r>
              <a:rPr lang="en-US" altLang="zh-CN" dirty="0" smtClean="0"/>
              <a:t>&lt;string name=“Hello”&gt;Hello World&lt;/string&gt;</a:t>
            </a:r>
          </a:p>
          <a:p>
            <a:r>
              <a:rPr lang="zh-CN" altLang="en-US" dirty="0" smtClean="0"/>
              <a:t>其它资源通过</a:t>
            </a:r>
            <a:r>
              <a:rPr lang="en-US" altLang="zh-CN" dirty="0" smtClean="0"/>
              <a:t> @string/</a:t>
            </a:r>
            <a:r>
              <a:rPr lang="en-US" altLang="zh-CN" dirty="0" err="1" smtClean="0"/>
              <a:t>string_name</a:t>
            </a:r>
            <a:r>
              <a:rPr lang="en-US" altLang="zh-CN" dirty="0" smtClean="0"/>
              <a:t> </a:t>
            </a:r>
            <a:r>
              <a:rPr lang="zh-CN" altLang="en-US" dirty="0" smtClean="0"/>
              <a:t>访问</a:t>
            </a:r>
            <a:endParaRPr lang="en-US" altLang="zh-CN" dirty="0" smtClean="0"/>
          </a:p>
          <a:p>
            <a:r>
              <a:rPr kumimoji="1" lang="en-US" altLang="zh-CN" dirty="0" smtClean="0"/>
              <a:t>Java</a:t>
            </a:r>
            <a:r>
              <a:rPr kumimoji="1" lang="zh-CN" altLang="en-US" dirty="0" smtClean="0"/>
              <a:t>中通过</a:t>
            </a:r>
            <a:r>
              <a:rPr kumimoji="1" lang="en-US" altLang="zh-CN" dirty="0" smtClean="0"/>
              <a:t> </a:t>
            </a:r>
            <a:r>
              <a:rPr kumimoji="1" lang="en-US" altLang="zh-CN" dirty="0" err="1" smtClean="0"/>
              <a:t>R.string.string_name</a:t>
            </a:r>
            <a:r>
              <a:rPr kumimoji="1" lang="en-US" altLang="zh-CN" dirty="0" smtClean="0"/>
              <a:t> </a:t>
            </a:r>
            <a:r>
              <a:rPr kumimoji="1" lang="zh-CN" altLang="en-US" dirty="0" smtClean="0"/>
              <a:t>访问</a:t>
            </a:r>
            <a:endParaRPr kumimoji="1" lang="en-US" altLang="zh-CN" dirty="0" smtClean="0"/>
          </a:p>
          <a:p>
            <a:r>
              <a:rPr kumimoji="1" lang="zh-CN" altLang="en-US" dirty="0" smtClean="0"/>
              <a:t>本地化：将字符串存在</a:t>
            </a:r>
            <a:r>
              <a:rPr kumimoji="1" lang="en-US" altLang="zh-CN" dirty="0" smtClean="0"/>
              <a:t>res/values-</a:t>
            </a:r>
            <a:r>
              <a:rPr kumimoji="1" lang="en-US" altLang="zh-CN" dirty="0" err="1" smtClean="0"/>
              <a:t>zh</a:t>
            </a:r>
            <a:r>
              <a:rPr kumimoji="1" lang="en-US" altLang="zh-CN" dirty="0" smtClean="0"/>
              <a:t>-</a:t>
            </a:r>
            <a:r>
              <a:rPr kumimoji="1" lang="en-US" altLang="zh-CN" dirty="0" err="1" smtClean="0"/>
              <a:t>rCN</a:t>
            </a:r>
            <a:r>
              <a:rPr kumimoji="1" lang="en-US" altLang="zh-CN" dirty="0" smtClean="0"/>
              <a:t>/*.xml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9305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布局资源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用</a:t>
            </a:r>
            <a:r>
              <a:rPr kumimoji="1" lang="en-US" altLang="zh-CN" dirty="0" smtClean="0"/>
              <a:t>XML</a:t>
            </a:r>
            <a:r>
              <a:rPr kumimoji="1" lang="zh-CN" altLang="en-US" dirty="0" smtClean="0"/>
              <a:t>表示界面布局</a:t>
            </a:r>
            <a:endParaRPr kumimoji="1" lang="en-US" altLang="zh-CN" dirty="0" smtClean="0"/>
          </a:p>
          <a:p>
            <a:r>
              <a:rPr lang="en-US" altLang="zh-CN" dirty="0" smtClean="0"/>
              <a:t>XML</a:t>
            </a:r>
            <a:r>
              <a:rPr lang="zh-CN" altLang="en-US" dirty="0" smtClean="0"/>
              <a:t>文件放在</a:t>
            </a:r>
            <a:r>
              <a:rPr lang="en-US" altLang="zh-CN" dirty="0" smtClean="0"/>
              <a:t>res/layout/*.xml</a:t>
            </a:r>
          </a:p>
          <a:p>
            <a:r>
              <a:rPr kumimoji="1" lang="zh-CN" altLang="en-US" dirty="0" smtClean="0"/>
              <a:t>其它资源中访问：</a:t>
            </a:r>
            <a:r>
              <a:rPr kumimoji="1" lang="en-US" altLang="zh-CN" dirty="0" smtClean="0"/>
              <a:t> @layout/</a:t>
            </a:r>
            <a:r>
              <a:rPr kumimoji="1" lang="en-US" altLang="zh-CN" dirty="0" err="1" smtClean="0"/>
              <a:t>layout_name</a:t>
            </a:r>
            <a:endParaRPr kumimoji="1" lang="en-US" altLang="zh-CN" dirty="0" smtClean="0"/>
          </a:p>
          <a:p>
            <a:r>
              <a:rPr kumimoji="1" lang="en-US" altLang="zh-CN" dirty="0" smtClean="0"/>
              <a:t>Java</a:t>
            </a:r>
            <a:r>
              <a:rPr kumimoji="1" lang="zh-CN" altLang="en-US" dirty="0" smtClean="0"/>
              <a:t>中访问</a:t>
            </a:r>
            <a:r>
              <a:rPr kumimoji="1" lang="en-US" altLang="zh-CN" dirty="0" smtClean="0"/>
              <a:t>: </a:t>
            </a:r>
            <a:r>
              <a:rPr kumimoji="1" lang="en-US" altLang="zh-CN" dirty="0" err="1" smtClean="0"/>
              <a:t>R.layout.layout_name</a:t>
            </a:r>
            <a:endParaRPr kumimoji="1" lang="en-US" altLang="zh-CN" dirty="0" smtClean="0"/>
          </a:p>
          <a:p>
            <a:r>
              <a:rPr lang="zh-CN" altLang="en-US" dirty="0" smtClean="0"/>
              <a:t>多个布局文件：可以根据设备的方向、屏幕大小自动选择。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1796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R.java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编译时，根据资源文件自动生成</a:t>
            </a:r>
            <a:r>
              <a:rPr kumimoji="1" lang="en-US" altLang="zh-CN" dirty="0" err="1" smtClean="0"/>
              <a:t>R.java</a:t>
            </a:r>
            <a:endParaRPr kumimoji="1" lang="en-US" altLang="zh-CN" dirty="0" smtClean="0"/>
          </a:p>
          <a:p>
            <a:r>
              <a:rPr lang="en-US" altLang="zh-CN" dirty="0" smtClean="0"/>
              <a:t>Java</a:t>
            </a:r>
            <a:r>
              <a:rPr lang="zh-CN" altLang="en-US" dirty="0" smtClean="0"/>
              <a:t>代码通过类</a:t>
            </a:r>
            <a:r>
              <a:rPr lang="en-US" altLang="zh-CN" dirty="0" smtClean="0"/>
              <a:t>R</a:t>
            </a:r>
            <a:r>
              <a:rPr lang="zh-CN" altLang="en-US" dirty="0" smtClean="0"/>
              <a:t>来访问资源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1731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实现类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一般至少涉及一个活动类（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Activity</a:t>
            </a:r>
            <a:r>
              <a:rPr lang="zh-CN" altLang="en-US" dirty="0" smtClean="0"/>
              <a:t>的初始化代码通常写在</a:t>
            </a:r>
            <a:r>
              <a:rPr lang="en-US" altLang="zh-CN" dirty="0" err="1" smtClean="0"/>
              <a:t>OnCreate</a:t>
            </a:r>
            <a:r>
              <a:rPr lang="zh-CN" altLang="en-US" dirty="0" smtClean="0"/>
              <a:t>里面</a:t>
            </a:r>
            <a:endParaRPr lang="en-US" altLang="zh-CN" dirty="0" smtClean="0"/>
          </a:p>
          <a:p>
            <a:r>
              <a:rPr kumimoji="1" lang="en-US" altLang="zh-CN" dirty="0" err="1" smtClean="0"/>
              <a:t>OnCreate</a:t>
            </a:r>
            <a:r>
              <a:rPr kumimoji="1" lang="zh-CN" altLang="en-US" dirty="0" smtClean="0"/>
              <a:t>的典型流程：</a:t>
            </a:r>
            <a:endParaRPr kumimoji="1" lang="en-US" altLang="zh-CN" dirty="0" smtClean="0"/>
          </a:p>
          <a:p>
            <a:pPr marL="858837" lvl="1" indent="-514350">
              <a:buFont typeface="+mj-lt"/>
              <a:buAutoNum type="arabicPeriod"/>
            </a:pPr>
            <a:r>
              <a:rPr kumimoji="1" lang="zh-CN" altLang="en-US" dirty="0" smtClean="0"/>
              <a:t>恢复保存的状态</a:t>
            </a:r>
            <a:endParaRPr kumimoji="1" lang="en-US" altLang="zh-CN" dirty="0" smtClean="0"/>
          </a:p>
          <a:p>
            <a:pPr marL="858837" lvl="1" indent="-514350">
              <a:buFont typeface="+mj-lt"/>
              <a:buAutoNum type="arabicPeriod"/>
            </a:pPr>
            <a:r>
              <a:rPr lang="zh-CN" altLang="en-US" dirty="0" smtClean="0"/>
              <a:t>设置内容视图</a:t>
            </a:r>
            <a:endParaRPr lang="en-US" altLang="zh-CN" dirty="0" smtClean="0"/>
          </a:p>
          <a:p>
            <a:pPr marL="858837" lvl="1" indent="-514350">
              <a:buFont typeface="+mj-lt"/>
              <a:buAutoNum type="arabicPeriod"/>
            </a:pPr>
            <a:r>
              <a:rPr kumimoji="1" lang="zh-CN" altLang="en-US" dirty="0" smtClean="0"/>
              <a:t>初始化</a:t>
            </a:r>
            <a:r>
              <a:rPr kumimoji="1" lang="en-US" altLang="zh-CN" dirty="0" smtClean="0"/>
              <a:t>UI</a:t>
            </a:r>
            <a:r>
              <a:rPr kumimoji="1" lang="zh-CN" altLang="en-US" dirty="0" smtClean="0"/>
              <a:t>元素</a:t>
            </a:r>
            <a:endParaRPr kumimoji="1" lang="en-US" altLang="zh-CN" dirty="0" smtClean="0"/>
          </a:p>
          <a:p>
            <a:pPr marL="858837" lvl="1" indent="-514350">
              <a:buFont typeface="+mj-lt"/>
              <a:buAutoNum type="arabicPeriod"/>
            </a:pPr>
            <a:r>
              <a:rPr lang="zh-CN" altLang="en-US" dirty="0" smtClean="0"/>
              <a:t>将</a:t>
            </a:r>
            <a:r>
              <a:rPr lang="en-US" altLang="zh-CN" dirty="0" smtClean="0"/>
              <a:t>UI</a:t>
            </a:r>
            <a:r>
              <a:rPr lang="zh-CN" altLang="en-US" dirty="0" smtClean="0"/>
              <a:t>元素和代码的动作联系起来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6670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打包应用程序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将应用程序的部件及资源打包到一个</a:t>
            </a:r>
            <a:r>
              <a:rPr kumimoji="1" lang="en-US" altLang="zh-CN" dirty="0" smtClean="0"/>
              <a:t>.</a:t>
            </a:r>
            <a:r>
              <a:rPr kumimoji="1" lang="en-US" altLang="zh-CN" dirty="0" err="1" smtClean="0"/>
              <a:t>apk</a:t>
            </a:r>
            <a:r>
              <a:rPr kumimoji="1" lang="zh-CN" altLang="en-US" dirty="0" smtClean="0"/>
              <a:t>文件</a:t>
            </a:r>
            <a:endParaRPr kumimoji="1" lang="en-US" altLang="zh-CN" dirty="0" smtClean="0"/>
          </a:p>
          <a:p>
            <a:r>
              <a:rPr lang="en-US" altLang="zh-CN" dirty="0" err="1" smtClean="0"/>
              <a:t>AndroidMenifest.xml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程序名称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组成部件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所需权限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程序特点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最小的</a:t>
            </a:r>
            <a:r>
              <a:rPr lang="en-US" altLang="zh-CN" dirty="0" smtClean="0"/>
              <a:t>API</a:t>
            </a:r>
            <a:r>
              <a:rPr lang="zh-CN" altLang="en-US" dirty="0" smtClean="0"/>
              <a:t>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9458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安装、运行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从</a:t>
            </a:r>
            <a:r>
              <a:rPr kumimoji="1" lang="en-US" altLang="zh-CN" dirty="0" smtClean="0"/>
              <a:t>Eclipse</a:t>
            </a:r>
            <a:r>
              <a:rPr kumimoji="1" lang="zh-CN" altLang="en-US" dirty="0" smtClean="0"/>
              <a:t>虚拟机运行</a:t>
            </a:r>
            <a:endParaRPr kumimoji="1" lang="en-US" altLang="zh-CN" dirty="0" smtClean="0"/>
          </a:p>
          <a:p>
            <a:r>
              <a:rPr lang="zh-CN" altLang="en-US" dirty="0" smtClean="0"/>
              <a:t>从命令行运行</a:t>
            </a:r>
            <a:r>
              <a:rPr lang="en-US" altLang="zh-CN" dirty="0" smtClean="0"/>
              <a:t>……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343972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Activity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Activity </a:t>
            </a:r>
            <a:r>
              <a:rPr kumimoji="1" lang="zh-CN" altLang="en-US" dirty="0" smtClean="0"/>
              <a:t>类</a:t>
            </a:r>
            <a:endParaRPr kumimoji="1" lang="en-US" altLang="zh-CN" dirty="0" smtClean="0"/>
          </a:p>
          <a:p>
            <a:r>
              <a:rPr lang="zh-CN" altLang="en-US" dirty="0" smtClean="0"/>
              <a:t>任务返回栈</a:t>
            </a:r>
            <a:endParaRPr lang="en-US" altLang="zh-CN" dirty="0" smtClean="0"/>
          </a:p>
          <a:p>
            <a:r>
              <a:rPr kumimoji="1" lang="zh-CN" altLang="en-US" dirty="0" smtClean="0"/>
              <a:t>生命周期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504250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Activity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为用户交互提供一个可视界面</a:t>
            </a:r>
            <a:endParaRPr kumimoji="1" lang="en-US" altLang="zh-CN" dirty="0" smtClean="0"/>
          </a:p>
          <a:p>
            <a:r>
              <a:rPr lang="zh-CN" altLang="en-US" dirty="0" smtClean="0"/>
              <a:t>每个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通常只专注于一件事</a:t>
            </a:r>
            <a:endParaRPr lang="en-US" altLang="zh-CN" dirty="0" smtClean="0"/>
          </a:p>
          <a:p>
            <a:r>
              <a:rPr kumimoji="1" lang="zh-CN" altLang="en-US" dirty="0" smtClean="0"/>
              <a:t>程序通常是由多个</a:t>
            </a:r>
            <a:r>
              <a:rPr kumimoji="1" lang="en-US" altLang="zh-CN" dirty="0" smtClean="0"/>
              <a:t>Activity</a:t>
            </a:r>
            <a:r>
              <a:rPr kumimoji="1" lang="zh-CN" altLang="en-US" dirty="0" smtClean="0"/>
              <a:t>组成的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1212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Activity</a:t>
            </a:r>
            <a:r>
              <a:rPr kumimoji="1" lang="zh-CN" altLang="en-US" dirty="0" smtClean="0"/>
              <a:t>的变换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任务是一组相关的</a:t>
            </a:r>
            <a:r>
              <a:rPr kumimoji="1" lang="en-US" altLang="zh-CN" dirty="0" smtClean="0"/>
              <a:t>Activity</a:t>
            </a:r>
            <a:r>
              <a:rPr kumimoji="1" lang="zh-CN" altLang="en-US" dirty="0" smtClean="0"/>
              <a:t>，通常从屏幕启动</a:t>
            </a:r>
            <a:endParaRPr kumimoji="1" lang="en-US" altLang="zh-CN" dirty="0" smtClean="0"/>
          </a:p>
          <a:p>
            <a:pPr lvl="1"/>
            <a:r>
              <a:rPr lang="en-US" altLang="zh-CN" dirty="0" smtClean="0"/>
              <a:t>Activity</a:t>
            </a:r>
            <a:r>
              <a:rPr lang="zh-CN" altLang="en-US" dirty="0" smtClean="0"/>
              <a:t>无需属于同一应用</a:t>
            </a:r>
            <a:endParaRPr lang="en-US" altLang="zh-CN" dirty="0" smtClean="0"/>
          </a:p>
          <a:p>
            <a:r>
              <a:rPr lang="zh-CN" altLang="en-US" dirty="0" smtClean="0"/>
              <a:t>任务返回栈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启动时，放到返回栈上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销毁时，从栈上移除</a:t>
            </a:r>
            <a:endParaRPr lang="en-US" altLang="zh-CN" dirty="0" smtClean="0"/>
          </a:p>
          <a:p>
            <a:pPr lvl="1"/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41161"/>
            <a:ext cx="78359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086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Activity</a:t>
            </a:r>
            <a:r>
              <a:rPr kumimoji="1" lang="zh-CN" altLang="en-US" dirty="0"/>
              <a:t>的生命周期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程序执行过程中，根据需要创建、暂停、继续、销毁</a:t>
            </a:r>
            <a:r>
              <a:rPr kumimoji="1" lang="en-US" altLang="zh-CN" dirty="0" smtClean="0"/>
              <a:t>Activity</a:t>
            </a:r>
          </a:p>
          <a:p>
            <a:r>
              <a:rPr lang="zh-CN" altLang="en-US" dirty="0" smtClean="0"/>
              <a:t>有些依赖于用户行为，也有些依赖于</a:t>
            </a:r>
            <a:r>
              <a:rPr lang="en-US" altLang="zh-CN" dirty="0" smtClean="0"/>
              <a:t>Android</a:t>
            </a:r>
            <a:r>
              <a:rPr lang="zh-CN" altLang="en-US" dirty="0" smtClean="0"/>
              <a:t>系统</a:t>
            </a:r>
            <a:endParaRPr lang="en-US" altLang="zh-CN" dirty="0" smtClean="0"/>
          </a:p>
          <a:p>
            <a:r>
              <a:rPr kumimoji="1" lang="en-US" altLang="zh-CN" dirty="0" smtClean="0"/>
              <a:t>Resumed/Running – </a:t>
            </a:r>
            <a:r>
              <a:rPr kumimoji="1" lang="zh-CN" altLang="en-US" dirty="0" smtClean="0"/>
              <a:t>可见，用户可交互</a:t>
            </a:r>
            <a:endParaRPr kumimoji="1" lang="en-US" altLang="zh-CN" dirty="0" smtClean="0"/>
          </a:p>
          <a:p>
            <a:r>
              <a:rPr lang="en-US" altLang="zh-CN" dirty="0" smtClean="0"/>
              <a:t>Paused – </a:t>
            </a:r>
            <a:r>
              <a:rPr lang="zh-CN" altLang="en-US" dirty="0" smtClean="0"/>
              <a:t>可见，不可交互，可能会被结束</a:t>
            </a:r>
            <a:endParaRPr lang="en-US" altLang="zh-CN" dirty="0" smtClean="0"/>
          </a:p>
          <a:p>
            <a:r>
              <a:rPr kumimoji="1" lang="en-US" altLang="zh-CN" dirty="0" smtClean="0"/>
              <a:t>Stopped – </a:t>
            </a:r>
            <a:r>
              <a:rPr lang="zh-CN" altLang="en-US" dirty="0" smtClean="0"/>
              <a:t>不可见，可能会被结束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53067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35" y="0"/>
            <a:ext cx="5306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765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Activity</a:t>
            </a:r>
            <a:r>
              <a:rPr kumimoji="1" lang="zh-CN" altLang="en-US" dirty="0" smtClean="0"/>
              <a:t>生命周期相应方法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>
                <a:latin typeface="Menlo Regular"/>
                <a:cs typeface="Menlo Regular"/>
              </a:rPr>
              <a:t>protected void </a:t>
            </a:r>
            <a:r>
              <a:rPr lang="en-US" altLang="zh-CN" sz="2400" dirty="0" err="1">
                <a:latin typeface="Menlo Regular"/>
                <a:cs typeface="Menlo Regular"/>
              </a:rPr>
              <a:t>onCreate</a:t>
            </a:r>
            <a:r>
              <a:rPr lang="en-US" altLang="zh-CN" sz="2400" dirty="0">
                <a:latin typeface="Menlo Regular"/>
                <a:cs typeface="Menlo Regular"/>
              </a:rPr>
              <a:t> (Bundle </a:t>
            </a:r>
            <a:r>
              <a:rPr lang="en-US" altLang="zh-CN" sz="2400" dirty="0" err="1">
                <a:latin typeface="Menlo Regular"/>
                <a:cs typeface="Menlo Regular"/>
              </a:rPr>
              <a:t>savedInstanceState</a:t>
            </a:r>
            <a:r>
              <a:rPr lang="en-US" altLang="zh-CN" sz="2400" dirty="0">
                <a:latin typeface="Menlo Regular"/>
                <a:cs typeface="Menlo Regular"/>
              </a:rPr>
              <a:t>) </a:t>
            </a:r>
            <a:endParaRPr lang="en-US" altLang="zh-CN" sz="2400" dirty="0" smtClean="0">
              <a:latin typeface="Menlo Regular"/>
              <a:cs typeface="Menlo Regular"/>
            </a:endParaRPr>
          </a:p>
          <a:p>
            <a:r>
              <a:rPr lang="en-US" altLang="zh-CN" sz="2400" dirty="0" smtClean="0">
                <a:latin typeface="Menlo Regular"/>
                <a:cs typeface="Menlo Regular"/>
              </a:rPr>
              <a:t>protected </a:t>
            </a:r>
            <a:r>
              <a:rPr lang="en-US" altLang="zh-CN" sz="2400" dirty="0">
                <a:latin typeface="Menlo Regular"/>
                <a:cs typeface="Menlo Regular"/>
              </a:rPr>
              <a:t>void </a:t>
            </a:r>
            <a:r>
              <a:rPr lang="en-US" altLang="zh-CN" sz="2400" dirty="0" err="1">
                <a:latin typeface="Menlo Regular"/>
                <a:cs typeface="Menlo Regular"/>
              </a:rPr>
              <a:t>onStart</a:t>
            </a:r>
            <a:r>
              <a:rPr lang="en-US" altLang="zh-CN" sz="2400" dirty="0" smtClean="0">
                <a:latin typeface="Menlo Regular"/>
                <a:cs typeface="Menlo Regular"/>
              </a:rPr>
              <a:t>()</a:t>
            </a:r>
          </a:p>
          <a:p>
            <a:r>
              <a:rPr lang="en-US" altLang="zh-CN" sz="2400" dirty="0" smtClean="0">
                <a:latin typeface="Menlo Regular"/>
                <a:cs typeface="Menlo Regular"/>
              </a:rPr>
              <a:t>protected </a:t>
            </a:r>
            <a:r>
              <a:rPr lang="en-US" altLang="zh-CN" sz="2400" dirty="0">
                <a:latin typeface="Menlo Regular"/>
                <a:cs typeface="Menlo Regular"/>
              </a:rPr>
              <a:t>void </a:t>
            </a:r>
            <a:r>
              <a:rPr lang="en-US" altLang="zh-CN" sz="2400" dirty="0" err="1">
                <a:latin typeface="Menlo Regular"/>
                <a:cs typeface="Menlo Regular"/>
              </a:rPr>
              <a:t>onResume</a:t>
            </a:r>
            <a:r>
              <a:rPr lang="en-US" altLang="zh-CN" sz="2400" dirty="0">
                <a:latin typeface="Menlo Regular"/>
                <a:cs typeface="Menlo Regular"/>
              </a:rPr>
              <a:t>(</a:t>
            </a:r>
            <a:r>
              <a:rPr lang="en-US" altLang="zh-CN" sz="2400" dirty="0" smtClean="0">
                <a:latin typeface="Menlo Regular"/>
                <a:cs typeface="Menlo Regular"/>
              </a:rPr>
              <a:t>)</a:t>
            </a:r>
          </a:p>
          <a:p>
            <a:r>
              <a:rPr lang="en-US" altLang="zh-CN" sz="2400" dirty="0" smtClean="0">
                <a:latin typeface="Menlo Regular"/>
                <a:cs typeface="Menlo Regular"/>
              </a:rPr>
              <a:t>protected </a:t>
            </a:r>
            <a:r>
              <a:rPr lang="en-US" altLang="zh-CN" sz="2400" dirty="0">
                <a:latin typeface="Menlo Regular"/>
                <a:cs typeface="Menlo Regular"/>
              </a:rPr>
              <a:t>void </a:t>
            </a:r>
            <a:r>
              <a:rPr lang="en-US" altLang="zh-CN" sz="2400" dirty="0" err="1">
                <a:latin typeface="Menlo Regular"/>
                <a:cs typeface="Menlo Regular"/>
              </a:rPr>
              <a:t>onPause</a:t>
            </a:r>
            <a:r>
              <a:rPr lang="en-US" altLang="zh-CN" sz="2400" dirty="0">
                <a:latin typeface="Menlo Regular"/>
                <a:cs typeface="Menlo Regular"/>
              </a:rPr>
              <a:t>() </a:t>
            </a:r>
          </a:p>
          <a:p>
            <a:r>
              <a:rPr lang="en-US" altLang="zh-CN" sz="2400" dirty="0">
                <a:latin typeface="Menlo Regular"/>
                <a:cs typeface="Menlo Regular"/>
              </a:rPr>
              <a:t>protected void </a:t>
            </a:r>
            <a:r>
              <a:rPr lang="en-US" altLang="zh-CN" sz="2400" dirty="0" err="1">
                <a:latin typeface="Menlo Regular"/>
                <a:cs typeface="Menlo Regular"/>
              </a:rPr>
              <a:t>onRestart</a:t>
            </a:r>
            <a:r>
              <a:rPr lang="en-US" altLang="zh-CN" sz="2400" dirty="0">
                <a:latin typeface="Menlo Regular"/>
                <a:cs typeface="Menlo Regular"/>
              </a:rPr>
              <a:t>() </a:t>
            </a:r>
            <a:endParaRPr lang="en-US" altLang="zh-CN" sz="2400" dirty="0" smtClean="0">
              <a:latin typeface="Menlo Regular"/>
              <a:cs typeface="Menlo Regular"/>
            </a:endParaRPr>
          </a:p>
          <a:p>
            <a:r>
              <a:rPr lang="en-US" altLang="zh-CN" sz="2400" dirty="0" smtClean="0">
                <a:latin typeface="Menlo Regular"/>
                <a:cs typeface="Menlo Regular"/>
              </a:rPr>
              <a:t>protected </a:t>
            </a:r>
            <a:r>
              <a:rPr lang="en-US" altLang="zh-CN" sz="2400" dirty="0">
                <a:latin typeface="Menlo Regular"/>
                <a:cs typeface="Menlo Regular"/>
              </a:rPr>
              <a:t>void </a:t>
            </a:r>
            <a:r>
              <a:rPr lang="en-US" altLang="zh-CN" sz="2400" dirty="0" err="1">
                <a:latin typeface="Menlo Regular"/>
                <a:cs typeface="Menlo Regular"/>
              </a:rPr>
              <a:t>onStop</a:t>
            </a:r>
            <a:r>
              <a:rPr lang="en-US" altLang="zh-CN" sz="2400" dirty="0">
                <a:latin typeface="Menlo Regular"/>
                <a:cs typeface="Menlo Regular"/>
              </a:rPr>
              <a:t>() </a:t>
            </a:r>
            <a:endParaRPr lang="en-US" altLang="zh-CN" sz="2400" dirty="0" smtClean="0">
              <a:latin typeface="Menlo Regular"/>
              <a:cs typeface="Menlo Regular"/>
            </a:endParaRPr>
          </a:p>
          <a:p>
            <a:r>
              <a:rPr lang="en-US" altLang="zh-CN" sz="2400" dirty="0" smtClean="0">
                <a:latin typeface="Menlo Regular"/>
                <a:cs typeface="Menlo Regular"/>
              </a:rPr>
              <a:t>protected </a:t>
            </a:r>
            <a:r>
              <a:rPr lang="en-US" altLang="zh-CN" sz="2400" dirty="0">
                <a:latin typeface="Menlo Regular"/>
                <a:cs typeface="Menlo Regular"/>
              </a:rPr>
              <a:t>void </a:t>
            </a:r>
            <a:r>
              <a:rPr lang="en-US" altLang="zh-CN" sz="2400" dirty="0" err="1">
                <a:latin typeface="Menlo Regular"/>
                <a:cs typeface="Menlo Regular"/>
              </a:rPr>
              <a:t>onDestroy</a:t>
            </a:r>
            <a:r>
              <a:rPr lang="en-US" altLang="zh-CN" sz="2400" dirty="0">
                <a:latin typeface="Menlo Regular"/>
                <a:cs typeface="Menlo Regular"/>
              </a:rPr>
              <a:t>() </a:t>
            </a:r>
          </a:p>
          <a:p>
            <a:endParaRPr kumimoji="1" lang="zh-CN" altLang="en-US" sz="2400" dirty="0">
              <a:latin typeface="Menlo Regular"/>
              <a:cs typeface="Menlo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3050226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进程优先级顺序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12875"/>
            <a:ext cx="5543550" cy="47180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100"/>
              <a:t>① </a:t>
            </a:r>
            <a:r>
              <a:rPr lang="zh-CN" altLang="en-US" sz="2100"/>
              <a:t>前台进程</a:t>
            </a:r>
            <a:r>
              <a:rPr lang="en-US" altLang="zh-CN" sz="2100"/>
              <a:t>(</a:t>
            </a:r>
            <a:r>
              <a:rPr lang="en-US" sz="2100"/>
              <a:t>Active Process</a:t>
            </a:r>
            <a:r>
              <a:rPr lang="en-US" altLang="zh-CN" sz="2100"/>
              <a:t>)</a:t>
            </a:r>
            <a:r>
              <a:rPr lang="zh-CN" altLang="en-US" sz="2100"/>
              <a:t>：</a:t>
            </a:r>
            <a:endParaRPr lang="en-US" altLang="zh-CN" sz="2100"/>
          </a:p>
          <a:p>
            <a:pPr lvl="1">
              <a:lnSpc>
                <a:spcPct val="90000"/>
              </a:lnSpc>
            </a:pPr>
            <a:r>
              <a:rPr lang="zh-CN" altLang="en-US" sz="2000"/>
              <a:t>前台</a:t>
            </a:r>
            <a:r>
              <a:rPr lang="en-US" altLang="zh-CN" sz="2000"/>
              <a:t>Activity</a:t>
            </a:r>
            <a:r>
              <a:rPr lang="zh-CN" altLang="en-US" sz="2000"/>
              <a:t>、包含正在运行的广播接收器、正在运行的服务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en-US" altLang="zh-CN" sz="2100"/>
              <a:t>② </a:t>
            </a:r>
            <a:r>
              <a:rPr lang="zh-CN" altLang="en-US" sz="2100"/>
              <a:t>可视进程</a:t>
            </a:r>
            <a:r>
              <a:rPr lang="en-US" altLang="zh-CN" sz="2100"/>
              <a:t>(</a:t>
            </a:r>
            <a:r>
              <a:rPr lang="en-US" sz="2100"/>
              <a:t>Visible Process</a:t>
            </a:r>
            <a:r>
              <a:rPr lang="en-US" altLang="zh-CN" sz="2100"/>
              <a:t>)</a:t>
            </a:r>
            <a:r>
              <a:rPr lang="zh-CN" altLang="en-US" sz="2100"/>
              <a:t>：</a:t>
            </a:r>
            <a:endParaRPr lang="en-US" altLang="zh-CN" sz="2100"/>
          </a:p>
          <a:p>
            <a:pPr lvl="1">
              <a:lnSpc>
                <a:spcPct val="90000"/>
              </a:lnSpc>
            </a:pPr>
            <a:r>
              <a:rPr lang="zh-CN" altLang="en-US" sz="2000"/>
              <a:t>包含一个可视化的</a:t>
            </a:r>
            <a:r>
              <a:rPr lang="en-US" altLang="zh-CN" sz="2000"/>
              <a:t>Activity</a:t>
            </a:r>
          </a:p>
          <a:p>
            <a:pPr>
              <a:lnSpc>
                <a:spcPct val="90000"/>
              </a:lnSpc>
            </a:pPr>
            <a:r>
              <a:rPr lang="en-US" altLang="zh-CN" sz="2100"/>
              <a:t>③ </a:t>
            </a:r>
            <a:r>
              <a:rPr lang="zh-CN" altLang="en-US" sz="2100"/>
              <a:t>服务进程</a:t>
            </a:r>
            <a:r>
              <a:rPr lang="en-US" altLang="zh-CN" sz="2100"/>
              <a:t>(</a:t>
            </a:r>
            <a:r>
              <a:rPr lang="en-US" sz="2100"/>
              <a:t>Started Service Process</a:t>
            </a:r>
            <a:r>
              <a:rPr lang="en-US" altLang="zh-CN" sz="2100"/>
              <a:t>)</a:t>
            </a:r>
            <a:r>
              <a:rPr lang="zh-CN" altLang="en-US" sz="2100"/>
              <a:t>：</a:t>
            </a:r>
            <a:endParaRPr lang="en-US" altLang="zh-CN" sz="2100"/>
          </a:p>
          <a:p>
            <a:pPr lvl="1">
              <a:lnSpc>
                <a:spcPct val="90000"/>
              </a:lnSpc>
            </a:pPr>
            <a:r>
              <a:rPr lang="zh-CN" altLang="en-US" sz="2000"/>
              <a:t>包含一个被开启的服务</a:t>
            </a:r>
            <a:r>
              <a:rPr lang="en-US" altLang="zh-CN" sz="2000"/>
              <a:t>(</a:t>
            </a:r>
            <a:r>
              <a:rPr lang="zh-CN" altLang="en-US" sz="2000"/>
              <a:t>处理服务，不是直接可视，例如媒体播放器，网络上传、下载</a:t>
            </a:r>
            <a:r>
              <a:rPr lang="en-US" altLang="zh-CN" sz="2000"/>
              <a:t>)</a:t>
            </a:r>
          </a:p>
          <a:p>
            <a:pPr>
              <a:lnSpc>
                <a:spcPct val="90000"/>
              </a:lnSpc>
            </a:pPr>
            <a:r>
              <a:rPr lang="en-US" altLang="zh-CN" sz="2100"/>
              <a:t>④ </a:t>
            </a:r>
            <a:r>
              <a:rPr lang="zh-CN" altLang="en-US" sz="2100"/>
              <a:t>后台进程</a:t>
            </a:r>
            <a:r>
              <a:rPr lang="en-US" altLang="zh-CN" sz="2100"/>
              <a:t>(</a:t>
            </a:r>
            <a:r>
              <a:rPr lang="en-US" sz="2100"/>
              <a:t>Background Process</a:t>
            </a:r>
            <a:r>
              <a:rPr lang="en-US" altLang="zh-CN" sz="2100"/>
              <a:t>)</a:t>
            </a:r>
            <a:r>
              <a:rPr lang="zh-CN" altLang="en-US" sz="2100"/>
              <a:t>：</a:t>
            </a:r>
            <a:endParaRPr lang="en-US" altLang="zh-CN" sz="2100"/>
          </a:p>
          <a:p>
            <a:pPr lvl="1">
              <a:lnSpc>
                <a:spcPct val="90000"/>
              </a:lnSpc>
            </a:pPr>
            <a:r>
              <a:rPr lang="zh-CN" altLang="en-US" sz="2000"/>
              <a:t>包含一个不可视的</a:t>
            </a:r>
            <a:r>
              <a:rPr lang="en-US" altLang="zh-CN" sz="2000"/>
              <a:t>Activity(</a:t>
            </a:r>
            <a:r>
              <a:rPr lang="zh-CN" altLang="en-US" sz="2000"/>
              <a:t>可以在任意时刻杀死该进程来回收内存</a:t>
            </a:r>
            <a:r>
              <a:rPr lang="en-US" altLang="zh-CN" sz="2000"/>
              <a:t>)</a:t>
            </a:r>
          </a:p>
          <a:p>
            <a:pPr>
              <a:lnSpc>
                <a:spcPct val="90000"/>
              </a:lnSpc>
            </a:pPr>
            <a:r>
              <a:rPr lang="en-US" altLang="zh-CN" sz="2100"/>
              <a:t>⑤ </a:t>
            </a:r>
            <a:r>
              <a:rPr lang="zh-CN" altLang="en-US" sz="2100"/>
              <a:t>空进程</a:t>
            </a:r>
            <a:r>
              <a:rPr lang="en-US" altLang="zh-CN" sz="2100"/>
              <a:t>(Empty Process)</a:t>
            </a:r>
            <a:r>
              <a:rPr lang="zh-CN" altLang="en-US" sz="2100"/>
              <a:t>：</a:t>
            </a:r>
            <a:endParaRPr lang="en-US" altLang="zh-CN" sz="2100"/>
          </a:p>
          <a:p>
            <a:pPr lvl="1">
              <a:lnSpc>
                <a:spcPct val="90000"/>
              </a:lnSpc>
            </a:pPr>
            <a:r>
              <a:rPr lang="zh-CN" altLang="en-US" sz="2000"/>
              <a:t>没有持有任何应用程序组件</a:t>
            </a:r>
          </a:p>
        </p:txBody>
      </p:sp>
      <p:pic>
        <p:nvPicPr>
          <p:cNvPr id="38916" name="Picture 4" descr="adr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1700213"/>
            <a:ext cx="2781300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4279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o</a:t>
            </a:r>
            <a:r>
              <a:rPr kumimoji="1" lang="en-US" altLang="zh-CN" dirty="0" err="1" smtClean="0"/>
              <a:t>nCreate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活动创建时被调用</a:t>
            </a:r>
            <a:endParaRPr lang="en-US" altLang="zh-CN" dirty="0" smtClean="0"/>
          </a:p>
          <a:p>
            <a:r>
              <a:rPr kumimoji="1" lang="zh-CN" altLang="en-US" dirty="0" smtClean="0"/>
              <a:t>设置初始状态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调用</a:t>
            </a:r>
            <a:r>
              <a:rPr lang="en-US" altLang="zh-CN" dirty="0" err="1" smtClean="0"/>
              <a:t>super.onCreate</a:t>
            </a:r>
            <a:r>
              <a:rPr lang="en-US" altLang="zh-CN" dirty="0" smtClean="0"/>
              <a:t>()</a:t>
            </a:r>
          </a:p>
          <a:p>
            <a:pPr lvl="1"/>
            <a:r>
              <a:rPr kumimoji="1" lang="zh-CN" altLang="en-US" dirty="0" smtClean="0"/>
              <a:t>设置活动的内容视图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获取界面相应的</a:t>
            </a:r>
            <a:r>
              <a:rPr lang="en-US" altLang="zh-CN" dirty="0" smtClean="0"/>
              <a:t>view</a:t>
            </a:r>
          </a:p>
          <a:p>
            <a:pPr lvl="1"/>
            <a:r>
              <a:rPr kumimoji="1" lang="zh-CN" altLang="en-US" dirty="0" smtClean="0"/>
              <a:t>根据需要对界面进行调整、配置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7898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onRestart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当活动已经</a:t>
            </a:r>
            <a:r>
              <a:rPr kumimoji="1" lang="en-US" altLang="zh-CN" dirty="0" smtClean="0"/>
              <a:t>stopped</a:t>
            </a:r>
            <a:r>
              <a:rPr kumimoji="1" lang="zh-CN" altLang="en-US" dirty="0" smtClean="0"/>
              <a:t>，并且准备再次运行时</a:t>
            </a:r>
            <a:endParaRPr kumimoji="1" lang="en-US" altLang="zh-CN" dirty="0" smtClean="0"/>
          </a:p>
          <a:p>
            <a:r>
              <a:rPr lang="zh-CN" altLang="en-US" dirty="0" smtClean="0"/>
              <a:t>通常做法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为停止后的动作添加所需的特殊处理。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89539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onStart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活动即将可见时调用</a:t>
            </a:r>
            <a:endParaRPr kumimoji="1" lang="en-US" altLang="zh-CN" dirty="0" smtClean="0"/>
          </a:p>
          <a:p>
            <a:r>
              <a:rPr lang="zh-CN" altLang="en-US" dirty="0" smtClean="0"/>
              <a:t>通常做法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开始执行「程序可见时」需要执行的动作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加载持久化的应用程序状态</a:t>
            </a:r>
            <a:endParaRPr lang="en-US" altLang="zh-CN" dirty="0" smtClean="0"/>
          </a:p>
          <a:p>
            <a:pPr lvl="1"/>
            <a:endParaRPr kumimoji="1" lang="en-US" altLang="zh-CN" dirty="0" smtClean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00593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onResume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程序可见，并且即将开始用户交互</a:t>
            </a:r>
            <a:endParaRPr kumimoji="1" lang="en-US" altLang="zh-CN" dirty="0" smtClean="0"/>
          </a:p>
          <a:p>
            <a:r>
              <a:rPr lang="zh-CN" altLang="en-US" dirty="0" smtClean="0"/>
              <a:t>通常做法：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开始执行「变成前景程序时」所需的行为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86820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onPause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焦点即将转移到其它应用</a:t>
            </a:r>
            <a:endParaRPr kumimoji="1" lang="en-US" altLang="zh-CN" dirty="0" smtClean="0"/>
          </a:p>
          <a:p>
            <a:r>
              <a:rPr kumimoji="1" lang="zh-CN" altLang="en-US" dirty="0" smtClean="0"/>
              <a:t>通常做法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关闭「前景时才需要的」行为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保存持久化状态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24791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onStop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程序不再对用户可见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或许稍后会被重启</a:t>
            </a:r>
            <a:endParaRPr lang="en-US" altLang="zh-CN" dirty="0" smtClean="0"/>
          </a:p>
          <a:p>
            <a:r>
              <a:rPr kumimoji="1" lang="zh-CN" altLang="en-US" dirty="0" smtClean="0"/>
              <a:t>通常做法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缓存状态</a:t>
            </a:r>
            <a:endParaRPr lang="en-US" altLang="zh-CN" dirty="0" smtClean="0"/>
          </a:p>
          <a:p>
            <a:r>
              <a:rPr kumimoji="1" lang="zh-CN" altLang="en-US" dirty="0" smtClean="0"/>
              <a:t>当</a:t>
            </a:r>
            <a:r>
              <a:rPr kumimoji="1" lang="en-US" altLang="zh-CN" dirty="0" smtClean="0"/>
              <a:t>Android</a:t>
            </a:r>
            <a:r>
              <a:rPr kumimoji="1" lang="zh-CN" altLang="en-US" dirty="0" smtClean="0"/>
              <a:t>杀死进程时，该方法可能不被调用</a:t>
            </a:r>
            <a:endParaRPr kumimoji="1" lang="en-US" altLang="zh-CN" dirty="0" smtClean="0"/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4470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onDestroy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活动即将被销毁</a:t>
            </a:r>
            <a:endParaRPr lang="en-US" altLang="zh-CN" dirty="0" smtClean="0"/>
          </a:p>
          <a:p>
            <a:r>
              <a:rPr kumimoji="1" lang="zh-CN" altLang="en-US" dirty="0" smtClean="0"/>
              <a:t>通常做法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释放活动资源</a:t>
            </a:r>
            <a:endParaRPr lang="en-US" altLang="zh-CN" dirty="0" smtClean="0"/>
          </a:p>
          <a:p>
            <a:r>
              <a:rPr lang="zh-CN" altLang="en-US" dirty="0"/>
              <a:t>当</a:t>
            </a:r>
            <a:r>
              <a:rPr lang="en-US" altLang="zh-CN" dirty="0"/>
              <a:t>Android</a:t>
            </a:r>
            <a:r>
              <a:rPr lang="zh-CN" altLang="en-US" dirty="0"/>
              <a:t>杀死进程时，该方法可能不被调用</a:t>
            </a:r>
            <a:endParaRPr lang="en-US" altLang="zh-CN" dirty="0"/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2764031"/>
      </p:ext>
    </p:extLst>
  </p:cSld>
  <p:clrMapOvr>
    <a:masterClrMapping/>
  </p:clrMapOvr>
</p:sld>
</file>

<file path=ppt/theme/theme1.xml><?xml version="1.0" encoding="utf-8"?>
<a:theme xmlns:a="http://schemas.openxmlformats.org/drawingml/2006/main" name="Android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Android.thmx</Template>
  <TotalTime>418</TotalTime>
  <Words>635</Words>
  <Application>Microsoft Macintosh PowerPoint</Application>
  <PresentationFormat>全屏显示(4:3)</PresentationFormat>
  <Paragraphs>163</Paragraphs>
  <Slides>38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39" baseType="lpstr">
      <vt:lpstr>Android</vt:lpstr>
      <vt:lpstr>应用程序基础</vt:lpstr>
      <vt:lpstr>PowerPoint 演示文稿</vt:lpstr>
      <vt:lpstr>课程内容</vt:lpstr>
      <vt:lpstr>应用程序的组成部分</vt:lpstr>
      <vt:lpstr>应用程序的组成部分</vt:lpstr>
      <vt:lpstr>Activity（活动）</vt:lpstr>
      <vt:lpstr>Service（服务）</vt:lpstr>
      <vt:lpstr>Service（服务）</vt:lpstr>
      <vt:lpstr>Broadcast receiver（广播接收器）</vt:lpstr>
      <vt:lpstr>Broadcast receiver（广播接收器）</vt:lpstr>
      <vt:lpstr>Content provider</vt:lpstr>
      <vt:lpstr>构建应用程序 – 环境搭建</vt:lpstr>
      <vt:lpstr>构建应用程序 – 开发</vt:lpstr>
      <vt:lpstr>构建应用程序 – 调试、测试</vt:lpstr>
      <vt:lpstr>构建应用程序 – 发布</vt:lpstr>
      <vt:lpstr>构建应用程序</vt:lpstr>
      <vt:lpstr>构建应用程序</vt:lpstr>
      <vt:lpstr>定义资源</vt:lpstr>
      <vt:lpstr>字符串资源</vt:lpstr>
      <vt:lpstr>布局资源</vt:lpstr>
      <vt:lpstr>R.java</vt:lpstr>
      <vt:lpstr>实现类</vt:lpstr>
      <vt:lpstr>打包应用程序</vt:lpstr>
      <vt:lpstr>安装、运行</vt:lpstr>
      <vt:lpstr>Activity</vt:lpstr>
      <vt:lpstr>Activity</vt:lpstr>
      <vt:lpstr>Activity的变换</vt:lpstr>
      <vt:lpstr>Activity的生命周期</vt:lpstr>
      <vt:lpstr>PowerPoint 演示文稿</vt:lpstr>
      <vt:lpstr>Activity生命周期相应方法</vt:lpstr>
      <vt:lpstr>进程优先级顺序</vt:lpstr>
      <vt:lpstr>onCreate</vt:lpstr>
      <vt:lpstr>onRestart</vt:lpstr>
      <vt:lpstr>onStart</vt:lpstr>
      <vt:lpstr>onResume</vt:lpstr>
      <vt:lpstr>onPause</vt:lpstr>
      <vt:lpstr>onStop</vt:lpstr>
      <vt:lpstr>onDestroy</vt:lpstr>
    </vt:vector>
  </TitlesOfParts>
  <Company>zjgsu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</dc:title>
  <dc:creator>建伟 韩</dc:creator>
  <cp:lastModifiedBy>韩 建伟</cp:lastModifiedBy>
  <cp:revision>100</cp:revision>
  <dcterms:created xsi:type="dcterms:W3CDTF">2012-10-30T02:32:23Z</dcterms:created>
  <dcterms:modified xsi:type="dcterms:W3CDTF">2014-03-05T15:34:27Z</dcterms:modified>
</cp:coreProperties>
</file>