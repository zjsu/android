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sldIdLst>
    <p:sldId id="256" r:id="rId2"/>
    <p:sldId id="257" r:id="rId3"/>
    <p:sldId id="290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1pPr>
    <a:lvl2pPr marL="4572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2pPr>
    <a:lvl3pPr marL="9144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3pPr>
    <a:lvl4pPr marL="13716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4pPr>
    <a:lvl5pPr marL="1828800" algn="l" rtl="0" fontAlgn="base">
      <a:spcBef>
        <a:spcPct val="0"/>
      </a:spcBef>
      <a:spcAft>
        <a:spcPct val="0"/>
      </a:spcAft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5pPr>
    <a:lvl6pPr marL="2286000" algn="l" defTabSz="457200" rtl="0" eaLnBrk="1" latinLnBrk="0" hangingPunct="1"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6pPr>
    <a:lvl7pPr marL="2743200" algn="l" defTabSz="457200" rtl="0" eaLnBrk="1" latinLnBrk="0" hangingPunct="1"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7pPr>
    <a:lvl8pPr marL="3200400" algn="l" defTabSz="457200" rtl="0" eaLnBrk="1" latinLnBrk="0" hangingPunct="1"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8pPr>
    <a:lvl9pPr marL="3657600" algn="l" defTabSz="457200" rtl="0" eaLnBrk="1" latinLnBrk="0" hangingPunct="1">
      <a:defRPr b="1" kern="1200">
        <a:solidFill>
          <a:schemeClr val="tx1"/>
        </a:solidFill>
        <a:latin typeface="Arial" charset="0"/>
        <a:ea typeface="宋体" charset="0"/>
        <a:cs typeface="宋体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5" d="100"/>
          <a:sy n="55" d="100"/>
        </p:scale>
        <p:origin x="-1024" y="-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printerSettings" Target="printerSettings/printerSettings1.bin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2"/>
          <p:cNvSpPr>
            <a:spLocks noChangeShapeType="1"/>
          </p:cNvSpPr>
          <p:nvPr/>
        </p:nvSpPr>
        <p:spPr bwMode="auto">
          <a:xfrm>
            <a:off x="7315200" y="1066800"/>
            <a:ext cx="0" cy="449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grpSp>
        <p:nvGrpSpPr>
          <p:cNvPr id="5" name="Group 8"/>
          <p:cNvGrpSpPr>
            <a:grpSpLocks/>
          </p:cNvGrpSpPr>
          <p:nvPr/>
        </p:nvGrpSpPr>
        <p:grpSpPr bwMode="auto">
          <a:xfrm>
            <a:off x="7493000" y="2992438"/>
            <a:ext cx="1338263" cy="2189162"/>
            <a:chOff x="4704" y="1885"/>
            <a:chExt cx="843" cy="1379"/>
          </a:xfrm>
        </p:grpSpPr>
        <p:sp>
          <p:nvSpPr>
            <p:cNvPr id="6" name="Oval 9"/>
            <p:cNvSpPr>
              <a:spLocks noChangeArrowheads="1"/>
            </p:cNvSpPr>
            <p:nvPr/>
          </p:nvSpPr>
          <p:spPr bwMode="auto">
            <a:xfrm>
              <a:off x="4704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7" name="Oval 10"/>
            <p:cNvSpPr>
              <a:spLocks noChangeArrowheads="1"/>
            </p:cNvSpPr>
            <p:nvPr/>
          </p:nvSpPr>
          <p:spPr bwMode="auto">
            <a:xfrm>
              <a:off x="4883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8" name="Oval 11"/>
            <p:cNvSpPr>
              <a:spLocks noChangeArrowheads="1"/>
            </p:cNvSpPr>
            <p:nvPr/>
          </p:nvSpPr>
          <p:spPr bwMode="auto">
            <a:xfrm>
              <a:off x="5062" y="1885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9" name="Oval 12"/>
            <p:cNvSpPr>
              <a:spLocks noChangeArrowheads="1"/>
            </p:cNvSpPr>
            <p:nvPr/>
          </p:nvSpPr>
          <p:spPr bwMode="auto">
            <a:xfrm>
              <a:off x="4704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" name="Oval 13"/>
            <p:cNvSpPr>
              <a:spLocks noChangeArrowheads="1"/>
            </p:cNvSpPr>
            <p:nvPr/>
          </p:nvSpPr>
          <p:spPr bwMode="auto">
            <a:xfrm>
              <a:off x="4883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1" name="Oval 14"/>
            <p:cNvSpPr>
              <a:spLocks noChangeArrowheads="1"/>
            </p:cNvSpPr>
            <p:nvPr/>
          </p:nvSpPr>
          <p:spPr bwMode="auto">
            <a:xfrm>
              <a:off x="5062" y="2064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2" name="Oval 15"/>
            <p:cNvSpPr>
              <a:spLocks noChangeArrowheads="1"/>
            </p:cNvSpPr>
            <p:nvPr/>
          </p:nvSpPr>
          <p:spPr bwMode="auto">
            <a:xfrm>
              <a:off x="5241" y="2064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3" name="Oval 16"/>
            <p:cNvSpPr>
              <a:spLocks noChangeArrowheads="1"/>
            </p:cNvSpPr>
            <p:nvPr/>
          </p:nvSpPr>
          <p:spPr bwMode="auto">
            <a:xfrm>
              <a:off x="4704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4" name="Oval 17"/>
            <p:cNvSpPr>
              <a:spLocks noChangeArrowheads="1"/>
            </p:cNvSpPr>
            <p:nvPr/>
          </p:nvSpPr>
          <p:spPr bwMode="auto">
            <a:xfrm>
              <a:off x="4883" y="2243"/>
              <a:ext cx="127" cy="12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5" name="Oval 18"/>
            <p:cNvSpPr>
              <a:spLocks noChangeArrowheads="1"/>
            </p:cNvSpPr>
            <p:nvPr/>
          </p:nvSpPr>
          <p:spPr bwMode="auto">
            <a:xfrm>
              <a:off x="5062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6" name="Oval 19"/>
            <p:cNvSpPr>
              <a:spLocks noChangeArrowheads="1"/>
            </p:cNvSpPr>
            <p:nvPr/>
          </p:nvSpPr>
          <p:spPr bwMode="auto">
            <a:xfrm>
              <a:off x="5241" y="2243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7" name="Oval 20"/>
            <p:cNvSpPr>
              <a:spLocks noChangeArrowheads="1"/>
            </p:cNvSpPr>
            <p:nvPr/>
          </p:nvSpPr>
          <p:spPr bwMode="auto">
            <a:xfrm>
              <a:off x="5420" y="2243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8" name="Oval 21"/>
            <p:cNvSpPr>
              <a:spLocks noChangeArrowheads="1"/>
            </p:cNvSpPr>
            <p:nvPr/>
          </p:nvSpPr>
          <p:spPr bwMode="auto">
            <a:xfrm>
              <a:off x="4704" y="2421"/>
              <a:ext cx="127" cy="12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9" name="Oval 22"/>
            <p:cNvSpPr>
              <a:spLocks noChangeArrowheads="1"/>
            </p:cNvSpPr>
            <p:nvPr/>
          </p:nvSpPr>
          <p:spPr bwMode="auto">
            <a:xfrm>
              <a:off x="4883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0" name="Oval 23"/>
            <p:cNvSpPr>
              <a:spLocks noChangeArrowheads="1"/>
            </p:cNvSpPr>
            <p:nvPr/>
          </p:nvSpPr>
          <p:spPr bwMode="auto">
            <a:xfrm>
              <a:off x="5062" y="2421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1" name="Oval 24"/>
            <p:cNvSpPr>
              <a:spLocks noChangeArrowheads="1"/>
            </p:cNvSpPr>
            <p:nvPr/>
          </p:nvSpPr>
          <p:spPr bwMode="auto">
            <a:xfrm>
              <a:off x="5241" y="2421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2" name="Oval 25"/>
            <p:cNvSpPr>
              <a:spLocks noChangeArrowheads="1"/>
            </p:cNvSpPr>
            <p:nvPr/>
          </p:nvSpPr>
          <p:spPr bwMode="auto">
            <a:xfrm>
              <a:off x="4704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3" name="Oval 26"/>
            <p:cNvSpPr>
              <a:spLocks noChangeArrowheads="1"/>
            </p:cNvSpPr>
            <p:nvPr/>
          </p:nvSpPr>
          <p:spPr bwMode="auto">
            <a:xfrm>
              <a:off x="4883" y="2600"/>
              <a:ext cx="127" cy="12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4" name="Oval 27"/>
            <p:cNvSpPr>
              <a:spLocks noChangeArrowheads="1"/>
            </p:cNvSpPr>
            <p:nvPr/>
          </p:nvSpPr>
          <p:spPr bwMode="auto">
            <a:xfrm>
              <a:off x="5062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5" name="Oval 28"/>
            <p:cNvSpPr>
              <a:spLocks noChangeArrowheads="1"/>
            </p:cNvSpPr>
            <p:nvPr/>
          </p:nvSpPr>
          <p:spPr bwMode="auto">
            <a:xfrm>
              <a:off x="5241" y="2600"/>
              <a:ext cx="127" cy="12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6" name="Oval 29"/>
            <p:cNvSpPr>
              <a:spLocks noChangeArrowheads="1"/>
            </p:cNvSpPr>
            <p:nvPr/>
          </p:nvSpPr>
          <p:spPr bwMode="auto">
            <a:xfrm>
              <a:off x="5420" y="2600"/>
              <a:ext cx="127" cy="128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7" name="Oval 30"/>
            <p:cNvSpPr>
              <a:spLocks noChangeArrowheads="1"/>
            </p:cNvSpPr>
            <p:nvPr/>
          </p:nvSpPr>
          <p:spPr bwMode="auto">
            <a:xfrm>
              <a:off x="4704" y="2779"/>
              <a:ext cx="127" cy="12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8" name="Oval 31"/>
            <p:cNvSpPr>
              <a:spLocks noChangeArrowheads="1"/>
            </p:cNvSpPr>
            <p:nvPr/>
          </p:nvSpPr>
          <p:spPr bwMode="auto">
            <a:xfrm>
              <a:off x="4883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29" name="Oval 32"/>
            <p:cNvSpPr>
              <a:spLocks noChangeArrowheads="1"/>
            </p:cNvSpPr>
            <p:nvPr/>
          </p:nvSpPr>
          <p:spPr bwMode="auto">
            <a:xfrm>
              <a:off x="5062" y="2779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0" name="Oval 33"/>
            <p:cNvSpPr>
              <a:spLocks noChangeArrowheads="1"/>
            </p:cNvSpPr>
            <p:nvPr/>
          </p:nvSpPr>
          <p:spPr bwMode="auto">
            <a:xfrm>
              <a:off x="5241" y="2779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1" name="Oval 34"/>
            <p:cNvSpPr>
              <a:spLocks noChangeArrowheads="1"/>
            </p:cNvSpPr>
            <p:nvPr/>
          </p:nvSpPr>
          <p:spPr bwMode="auto">
            <a:xfrm>
              <a:off x="4704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2" name="Oval 35"/>
            <p:cNvSpPr>
              <a:spLocks noChangeArrowheads="1"/>
            </p:cNvSpPr>
            <p:nvPr/>
          </p:nvSpPr>
          <p:spPr bwMode="auto">
            <a:xfrm>
              <a:off x="4883" y="2958"/>
              <a:ext cx="127" cy="1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3" name="Oval 36"/>
            <p:cNvSpPr>
              <a:spLocks noChangeArrowheads="1"/>
            </p:cNvSpPr>
            <p:nvPr/>
          </p:nvSpPr>
          <p:spPr bwMode="auto">
            <a:xfrm>
              <a:off x="5062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4" name="Oval 37"/>
            <p:cNvSpPr>
              <a:spLocks noChangeArrowheads="1"/>
            </p:cNvSpPr>
            <p:nvPr/>
          </p:nvSpPr>
          <p:spPr bwMode="auto">
            <a:xfrm>
              <a:off x="5241" y="2958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5" name="Oval 38"/>
            <p:cNvSpPr>
              <a:spLocks noChangeArrowheads="1"/>
            </p:cNvSpPr>
            <p:nvPr/>
          </p:nvSpPr>
          <p:spPr bwMode="auto">
            <a:xfrm>
              <a:off x="4883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36" name="Oval 39"/>
            <p:cNvSpPr>
              <a:spLocks noChangeArrowheads="1"/>
            </p:cNvSpPr>
            <p:nvPr/>
          </p:nvSpPr>
          <p:spPr bwMode="auto">
            <a:xfrm>
              <a:off x="5241" y="3137"/>
              <a:ext cx="127" cy="127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  <p:sp>
        <p:nvSpPr>
          <p:cNvPr id="37" name="Line 40"/>
          <p:cNvSpPr>
            <a:spLocks noChangeShapeType="1"/>
          </p:cNvSpPr>
          <p:nvPr/>
        </p:nvSpPr>
        <p:spPr bwMode="auto">
          <a:xfrm>
            <a:off x="304800" y="2819400"/>
            <a:ext cx="82296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315913" y="466725"/>
            <a:ext cx="6781800" cy="2133600"/>
          </a:xfrm>
        </p:spPr>
        <p:txBody>
          <a:bodyPr/>
          <a:lstStyle>
            <a:lvl1pPr algn="r">
              <a:defRPr sz="4800"/>
            </a:lvl1pPr>
          </a:lstStyle>
          <a:p>
            <a:r>
              <a:rPr lang="en-US" altLang="en-US" smtClean="0"/>
              <a:t>单击此处编辑母版标题样式</a:t>
            </a:r>
            <a:endParaRPr lang="en-US" altLang="en-US" dirty="0"/>
          </a:p>
        </p:txBody>
      </p:sp>
      <p:sp>
        <p:nvSpPr>
          <p:cNvPr id="3277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849313" y="3049588"/>
            <a:ext cx="6248400" cy="2362200"/>
          </a:xfrm>
        </p:spPr>
        <p:txBody>
          <a:bodyPr/>
          <a:lstStyle>
            <a:lvl1pPr marL="0" indent="0" algn="r">
              <a:buFont typeface="Wingdings" pitchFamily="2" charset="2"/>
              <a:buNone/>
              <a:defRPr sz="3200"/>
            </a:lvl1pPr>
          </a:lstStyle>
          <a:p>
            <a:r>
              <a:rPr lang="en-US" altLang="en-US" smtClean="0"/>
              <a:t>单击此处编辑母版副标题样式</a:t>
            </a:r>
            <a:endParaRPr lang="en-US" altLang="en-US" dirty="0"/>
          </a:p>
        </p:txBody>
      </p:sp>
      <p:sp>
        <p:nvSpPr>
          <p:cNvPr id="38" name="Rectangle 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" name="Rectangle 6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" name="Rectangle 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752788E-920F-CE45-A42C-2912AE95BD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41" name="Picture 14" descr="http://www.proxware.com/images/androids.gif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4150" y="5257800"/>
            <a:ext cx="3879850" cy="140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2" name="图片 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632200"/>
            <a:ext cx="3225800" cy="322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3724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://www.pslweb.org/liberationnews/assets/images/website/android-logo-peeking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6238" y="4648200"/>
            <a:ext cx="1147762" cy="2209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3A2631-CD88-3F4A-A679-6755E9B602B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567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8B64A71-A839-6C46-B23C-C4A01541587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398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BDA287B-F597-C34A-B53D-3745A3ADFA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246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CF63020-8294-4E49-8846-1859E6958C3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593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67AAE4-C7DD-954E-A038-5FD024DDB74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179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0B447B-4A0C-9443-8659-011B4ECC18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85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0AE71B0-91E5-124F-89E5-BE92CA8A133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23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CN" altLang="en-US" noProof="0" smtClean="0"/>
              <a:t>将图片拖动到占位符，或单击添加图标</a:t>
            </a:r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B73A310-F2CC-9C41-9D10-9057A6081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0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E0B01D-A8D8-AB4F-BBEC-64EF1CE1DA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165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22238"/>
            <a:ext cx="2057400" cy="600868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22238"/>
            <a:ext cx="6019800" cy="600868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32FFE2-9D2F-7045-9357-FC3B5939334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847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、文本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2238"/>
            <a:ext cx="7543800" cy="1295400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719263"/>
            <a:ext cx="4038600" cy="441166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804EAB-3125-634C-8117-D2D3864A31A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329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2"/>
          <p:cNvSpPr>
            <a:spLocks noChangeShapeType="1"/>
          </p:cNvSpPr>
          <p:nvPr/>
        </p:nvSpPr>
        <p:spPr bwMode="auto">
          <a:xfrm>
            <a:off x="7962900" y="152400"/>
            <a:ext cx="0" cy="1524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122238"/>
            <a:ext cx="7543800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en-US" altLang="zh-CN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719263"/>
            <a:ext cx="8229600" cy="4411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二级</a:t>
            </a:r>
          </a:p>
          <a:p>
            <a:pPr lvl="2"/>
            <a:r>
              <a:rPr lang="zh-CN" altLang="en-US" smtClean="0"/>
              <a:t>三级</a:t>
            </a:r>
          </a:p>
          <a:p>
            <a:pPr lvl="3"/>
            <a:r>
              <a:rPr lang="zh-CN" altLang="en-US" smtClean="0"/>
              <a:t>四级</a:t>
            </a:r>
          </a:p>
          <a:p>
            <a:pPr lvl="4"/>
            <a:r>
              <a:rPr lang="zh-CN" altLang="en-US" smtClean="0"/>
              <a:t>五级</a:t>
            </a:r>
            <a:endParaRPr lang="en-US" altLang="zh-CN"/>
          </a:p>
        </p:txBody>
      </p:sp>
      <p:sp>
        <p:nvSpPr>
          <p:cNvPr id="31749" name="Rectangle 5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 smtClean="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1750" name="Rectangle 6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 smtClean="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1751" name="Rectangle 7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 smtClean="0">
                <a:cs typeface="+mn-cs"/>
              </a:defRPr>
            </a:lvl1pPr>
          </a:lstStyle>
          <a:p>
            <a:pPr>
              <a:defRPr/>
            </a:pPr>
            <a:fld id="{8E3EC168-5257-474A-932D-F55C0BD912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grpSp>
        <p:nvGrpSpPr>
          <p:cNvPr id="1032" name="Group 8"/>
          <p:cNvGrpSpPr>
            <a:grpSpLocks/>
          </p:cNvGrpSpPr>
          <p:nvPr/>
        </p:nvGrpSpPr>
        <p:grpSpPr bwMode="auto">
          <a:xfrm>
            <a:off x="8153400" y="152400"/>
            <a:ext cx="792163" cy="1295400"/>
            <a:chOff x="5136" y="960"/>
            <a:chExt cx="528" cy="864"/>
          </a:xfrm>
        </p:grpSpPr>
        <p:sp>
          <p:nvSpPr>
            <p:cNvPr id="1033" name="Oval 9"/>
            <p:cNvSpPr>
              <a:spLocks noChangeArrowheads="1"/>
            </p:cNvSpPr>
            <p:nvPr/>
          </p:nvSpPr>
          <p:spPr bwMode="auto">
            <a:xfrm>
              <a:off x="5136" y="960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34" name="Oval 10"/>
            <p:cNvSpPr>
              <a:spLocks noChangeArrowheads="1"/>
            </p:cNvSpPr>
            <p:nvPr/>
          </p:nvSpPr>
          <p:spPr bwMode="auto">
            <a:xfrm>
              <a:off x="5248" y="960"/>
              <a:ext cx="79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35" name="Oval 11"/>
            <p:cNvSpPr>
              <a:spLocks noChangeArrowheads="1"/>
            </p:cNvSpPr>
            <p:nvPr/>
          </p:nvSpPr>
          <p:spPr bwMode="auto">
            <a:xfrm>
              <a:off x="5360" y="960"/>
              <a:ext cx="76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36" name="Oval 12"/>
            <p:cNvSpPr>
              <a:spLocks noChangeArrowheads="1"/>
            </p:cNvSpPr>
            <p:nvPr/>
          </p:nvSpPr>
          <p:spPr bwMode="auto">
            <a:xfrm>
              <a:off x="5136" y="1072"/>
              <a:ext cx="80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37" name="Oval 13"/>
            <p:cNvSpPr>
              <a:spLocks noChangeArrowheads="1"/>
            </p:cNvSpPr>
            <p:nvPr/>
          </p:nvSpPr>
          <p:spPr bwMode="auto">
            <a:xfrm>
              <a:off x="5248" y="1072"/>
              <a:ext cx="79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38" name="Oval 14"/>
            <p:cNvSpPr>
              <a:spLocks noChangeArrowheads="1"/>
            </p:cNvSpPr>
            <p:nvPr/>
          </p:nvSpPr>
          <p:spPr bwMode="auto">
            <a:xfrm>
              <a:off x="5360" y="1072"/>
              <a:ext cx="76" cy="7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39" name="Oval 15"/>
            <p:cNvSpPr>
              <a:spLocks noChangeArrowheads="1"/>
            </p:cNvSpPr>
            <p:nvPr/>
          </p:nvSpPr>
          <p:spPr bwMode="auto">
            <a:xfrm>
              <a:off x="5472" y="1072"/>
              <a:ext cx="73" cy="7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0" name="Oval 16"/>
            <p:cNvSpPr>
              <a:spLocks noChangeArrowheads="1"/>
            </p:cNvSpPr>
            <p:nvPr/>
          </p:nvSpPr>
          <p:spPr bwMode="auto">
            <a:xfrm>
              <a:off x="5136" y="1184"/>
              <a:ext cx="80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1" name="Oval 17"/>
            <p:cNvSpPr>
              <a:spLocks noChangeArrowheads="1"/>
            </p:cNvSpPr>
            <p:nvPr/>
          </p:nvSpPr>
          <p:spPr bwMode="auto">
            <a:xfrm>
              <a:off x="5248" y="1184"/>
              <a:ext cx="79" cy="7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2" name="Oval 18"/>
            <p:cNvSpPr>
              <a:spLocks noChangeArrowheads="1"/>
            </p:cNvSpPr>
            <p:nvPr/>
          </p:nvSpPr>
          <p:spPr bwMode="auto">
            <a:xfrm>
              <a:off x="5360" y="1184"/>
              <a:ext cx="76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3" name="Oval 19"/>
            <p:cNvSpPr>
              <a:spLocks noChangeArrowheads="1"/>
            </p:cNvSpPr>
            <p:nvPr/>
          </p:nvSpPr>
          <p:spPr bwMode="auto">
            <a:xfrm>
              <a:off x="5472" y="1184"/>
              <a:ext cx="73" cy="7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4" name="Oval 20"/>
            <p:cNvSpPr>
              <a:spLocks noChangeArrowheads="1"/>
            </p:cNvSpPr>
            <p:nvPr/>
          </p:nvSpPr>
          <p:spPr bwMode="auto">
            <a:xfrm>
              <a:off x="5584" y="1184"/>
              <a:ext cx="80" cy="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5" name="Oval 21"/>
            <p:cNvSpPr>
              <a:spLocks noChangeArrowheads="1"/>
            </p:cNvSpPr>
            <p:nvPr/>
          </p:nvSpPr>
          <p:spPr bwMode="auto">
            <a:xfrm>
              <a:off x="5136" y="1296"/>
              <a:ext cx="80" cy="8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6" name="Oval 22"/>
            <p:cNvSpPr>
              <a:spLocks noChangeArrowheads="1"/>
            </p:cNvSpPr>
            <p:nvPr/>
          </p:nvSpPr>
          <p:spPr bwMode="auto">
            <a:xfrm>
              <a:off x="5248" y="1296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7" name="Oval 23"/>
            <p:cNvSpPr>
              <a:spLocks noChangeArrowheads="1"/>
            </p:cNvSpPr>
            <p:nvPr/>
          </p:nvSpPr>
          <p:spPr bwMode="auto">
            <a:xfrm>
              <a:off x="5360" y="1296"/>
              <a:ext cx="76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8" name="Oval 24"/>
            <p:cNvSpPr>
              <a:spLocks noChangeArrowheads="1"/>
            </p:cNvSpPr>
            <p:nvPr/>
          </p:nvSpPr>
          <p:spPr bwMode="auto">
            <a:xfrm>
              <a:off x="5472" y="1296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49" name="Oval 25"/>
            <p:cNvSpPr>
              <a:spLocks noChangeArrowheads="1"/>
            </p:cNvSpPr>
            <p:nvPr/>
          </p:nvSpPr>
          <p:spPr bwMode="auto">
            <a:xfrm>
              <a:off x="5136" y="1408"/>
              <a:ext cx="80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0" name="Oval 26"/>
            <p:cNvSpPr>
              <a:spLocks noChangeArrowheads="1"/>
            </p:cNvSpPr>
            <p:nvPr/>
          </p:nvSpPr>
          <p:spPr bwMode="auto">
            <a:xfrm>
              <a:off x="5248" y="1408"/>
              <a:ext cx="79" cy="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1" name="Oval 27"/>
            <p:cNvSpPr>
              <a:spLocks noChangeArrowheads="1"/>
            </p:cNvSpPr>
            <p:nvPr/>
          </p:nvSpPr>
          <p:spPr bwMode="auto">
            <a:xfrm>
              <a:off x="5360" y="1408"/>
              <a:ext cx="76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2" name="Oval 28"/>
            <p:cNvSpPr>
              <a:spLocks noChangeArrowheads="1"/>
            </p:cNvSpPr>
            <p:nvPr/>
          </p:nvSpPr>
          <p:spPr bwMode="auto">
            <a:xfrm>
              <a:off x="5472" y="1408"/>
              <a:ext cx="73" cy="8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3" name="Oval 29"/>
            <p:cNvSpPr>
              <a:spLocks noChangeArrowheads="1"/>
            </p:cNvSpPr>
            <p:nvPr/>
          </p:nvSpPr>
          <p:spPr bwMode="auto">
            <a:xfrm>
              <a:off x="5584" y="1408"/>
              <a:ext cx="80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4" name="Oval 30"/>
            <p:cNvSpPr>
              <a:spLocks noChangeArrowheads="1"/>
            </p:cNvSpPr>
            <p:nvPr/>
          </p:nvSpPr>
          <p:spPr bwMode="auto">
            <a:xfrm>
              <a:off x="5136" y="1520"/>
              <a:ext cx="80" cy="7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5" name="Oval 31"/>
            <p:cNvSpPr>
              <a:spLocks noChangeArrowheads="1"/>
            </p:cNvSpPr>
            <p:nvPr/>
          </p:nvSpPr>
          <p:spPr bwMode="auto">
            <a:xfrm>
              <a:off x="5248" y="1520"/>
              <a:ext cx="79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6" name="Oval 32"/>
            <p:cNvSpPr>
              <a:spLocks noChangeArrowheads="1"/>
            </p:cNvSpPr>
            <p:nvPr/>
          </p:nvSpPr>
          <p:spPr bwMode="auto">
            <a:xfrm>
              <a:off x="5360" y="1520"/>
              <a:ext cx="76" cy="79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7" name="Oval 33"/>
            <p:cNvSpPr>
              <a:spLocks noChangeArrowheads="1"/>
            </p:cNvSpPr>
            <p:nvPr/>
          </p:nvSpPr>
          <p:spPr bwMode="auto">
            <a:xfrm>
              <a:off x="5472" y="1520"/>
              <a:ext cx="73" cy="79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8" name="Oval 34"/>
            <p:cNvSpPr>
              <a:spLocks noChangeArrowheads="1"/>
            </p:cNvSpPr>
            <p:nvPr/>
          </p:nvSpPr>
          <p:spPr bwMode="auto">
            <a:xfrm>
              <a:off x="5136" y="1632"/>
              <a:ext cx="80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59" name="Oval 35"/>
            <p:cNvSpPr>
              <a:spLocks noChangeArrowheads="1"/>
            </p:cNvSpPr>
            <p:nvPr/>
          </p:nvSpPr>
          <p:spPr bwMode="auto">
            <a:xfrm>
              <a:off x="5248" y="1632"/>
              <a:ext cx="79" cy="7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60" name="Oval 36"/>
            <p:cNvSpPr>
              <a:spLocks noChangeArrowheads="1"/>
            </p:cNvSpPr>
            <p:nvPr/>
          </p:nvSpPr>
          <p:spPr bwMode="auto">
            <a:xfrm>
              <a:off x="5360" y="1632"/>
              <a:ext cx="76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61" name="Oval 37"/>
            <p:cNvSpPr>
              <a:spLocks noChangeArrowheads="1"/>
            </p:cNvSpPr>
            <p:nvPr/>
          </p:nvSpPr>
          <p:spPr bwMode="auto">
            <a:xfrm>
              <a:off x="5472" y="1632"/>
              <a:ext cx="73" cy="75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62" name="Oval 38"/>
            <p:cNvSpPr>
              <a:spLocks noChangeArrowheads="1"/>
            </p:cNvSpPr>
            <p:nvPr/>
          </p:nvSpPr>
          <p:spPr bwMode="auto">
            <a:xfrm>
              <a:off x="5248" y="1744"/>
              <a:ext cx="79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  <p:sp>
          <p:nvSpPr>
            <p:cNvPr id="1063" name="Oval 39"/>
            <p:cNvSpPr>
              <a:spLocks noChangeArrowheads="1"/>
            </p:cNvSpPr>
            <p:nvPr/>
          </p:nvSpPr>
          <p:spPr bwMode="auto">
            <a:xfrm>
              <a:off x="5472" y="1744"/>
              <a:ext cx="73" cy="80"/>
            </a:xfrm>
            <a:prstGeom prst="ellipse">
              <a:avLst/>
            </a:prstGeom>
            <a:solidFill>
              <a:schemeClr val="folHlink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zh-CN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7" r:id="rId1"/>
    <p:sldLayoutId id="2147483938" r:id="rId2"/>
    <p:sldLayoutId id="2147483927" r:id="rId3"/>
    <p:sldLayoutId id="2147483928" r:id="rId4"/>
    <p:sldLayoutId id="2147483929" r:id="rId5"/>
    <p:sldLayoutId id="2147483930" r:id="rId6"/>
    <p:sldLayoutId id="2147483931" r:id="rId7"/>
    <p:sldLayoutId id="2147483932" r:id="rId8"/>
    <p:sldLayoutId id="2147483933" r:id="rId9"/>
    <p:sldLayoutId id="2147483934" r:id="rId10"/>
    <p:sldLayoutId id="2147483935" r:id="rId11"/>
    <p:sldLayoutId id="2147483936" r:id="rId12"/>
  </p:sldLayoutIdLst>
  <p:timing>
    <p:tnLst>
      <p:par>
        <p:cTn xmlns:p14="http://schemas.microsoft.com/office/powerpoint/2010/main" id="1" dur="indefinite" restart="never" nodeType="tmRoot"/>
      </p:par>
    </p:tnLst>
  </p:timing>
  <p:txStyles>
    <p:titleStyle>
      <a:lvl1pPr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/>
          <a:ea typeface="Kai"/>
          <a:cs typeface="Kai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Kai" charset="0"/>
          <a:ea typeface="Kai" charset="0"/>
          <a:cs typeface="Kai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9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70000"/>
        <a:buFont typeface="Wingdings" charset="0"/>
        <a:buChar char="l"/>
        <a:defRPr kumimoji="1" sz="3000">
          <a:solidFill>
            <a:schemeClr val="tx1"/>
          </a:solidFill>
          <a:latin typeface="Kai"/>
          <a:ea typeface="Kai"/>
          <a:cs typeface="Kai"/>
        </a:defRPr>
      </a:lvl1pPr>
      <a:lvl2pPr marL="692150" indent="-347663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charset="0"/>
        <a:buChar char="l"/>
        <a:defRPr kumimoji="1" sz="2600">
          <a:solidFill>
            <a:schemeClr val="tx1"/>
          </a:solidFill>
          <a:latin typeface="Kai"/>
          <a:ea typeface="Kai"/>
          <a:cs typeface="Kai"/>
        </a:defRPr>
      </a:lvl2pPr>
      <a:lvl3pPr marL="987425" indent="-293688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charset="0"/>
        <a:buChar char="l"/>
        <a:defRPr kumimoji="1" sz="2300">
          <a:solidFill>
            <a:schemeClr val="tx1"/>
          </a:solidFill>
          <a:latin typeface="Kai"/>
          <a:ea typeface="Kai"/>
          <a:cs typeface="Kai"/>
        </a:defRPr>
      </a:lvl3pPr>
      <a:lvl4pPr marL="1281113" indent="-2921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SzPct val="75000"/>
        <a:buFont typeface="Wingdings" charset="0"/>
        <a:buChar char="§"/>
        <a:defRPr kumimoji="1" sz="2000">
          <a:solidFill>
            <a:schemeClr val="tx1"/>
          </a:solidFill>
          <a:latin typeface="Kai"/>
          <a:ea typeface="Kai"/>
          <a:cs typeface="Kai"/>
        </a:defRPr>
      </a:lvl4pPr>
      <a:lvl5pPr marL="15986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charset="0"/>
        <a:buChar char="§"/>
        <a:defRPr kumimoji="1" sz="2000">
          <a:solidFill>
            <a:schemeClr val="tx1"/>
          </a:solidFill>
          <a:latin typeface="Kai"/>
          <a:ea typeface="Kai"/>
          <a:cs typeface="Kai"/>
        </a:defRPr>
      </a:lvl5pPr>
      <a:lvl6pPr marL="20558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130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29702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427413" indent="-315913" algn="l" rtl="0" eaLnBrk="1" fontAlgn="base" hangingPunct="1">
        <a:spcBef>
          <a:spcPct val="20000"/>
        </a:spcBef>
        <a:spcAft>
          <a:spcPct val="0"/>
        </a:spcAft>
        <a:buClr>
          <a:schemeClr val="folHlink"/>
        </a:buClr>
        <a:buSzPct val="80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zh-CN" altLang="en-US" dirty="0" smtClean="0"/>
              <a:t>活动（</a:t>
            </a:r>
            <a:r>
              <a:rPr kumimoji="1" lang="en-US" altLang="zh-CN" dirty="0" smtClean="0"/>
              <a:t>Activity</a:t>
            </a:r>
            <a:r>
              <a:rPr kumimoji="1" lang="zh-CN" altLang="en-US" dirty="0" smtClean="0"/>
              <a:t>）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6381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Intent</a:t>
            </a:r>
            <a:r>
              <a:rPr kumimoji="1" lang="zh-CN" altLang="en-US" dirty="0" smtClean="0"/>
              <a:t>（意图）</a:t>
            </a:r>
            <a:r>
              <a:rPr kumimoji="1" lang="en-US" altLang="zh-CN" dirty="0" smtClean="0"/>
              <a:t> </a:t>
            </a:r>
            <a:r>
              <a:rPr kumimoji="1" lang="zh-CN" altLang="en-US" dirty="0" smtClean="0"/>
              <a:t>类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即将执行的操作</a:t>
            </a:r>
            <a:endParaRPr kumimoji="1" lang="en-US" altLang="zh-CN" dirty="0" smtClean="0"/>
          </a:p>
          <a:p>
            <a:pPr lvl="1"/>
            <a:r>
              <a:rPr lang="zh-CN" altLang="en-US" dirty="0" smtClean="0"/>
              <a:t>本节课的重点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用来启动一个</a:t>
            </a:r>
            <a:r>
              <a:rPr kumimoji="1" lang="en-US" altLang="zh-CN" dirty="0" smtClean="0"/>
              <a:t>Activity</a:t>
            </a:r>
          </a:p>
          <a:p>
            <a:r>
              <a:rPr lang="zh-CN" altLang="en-US" dirty="0" smtClean="0"/>
              <a:t>发生的事件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事件通知（</a:t>
            </a:r>
            <a:r>
              <a:rPr lang="en-US" altLang="zh-CN" dirty="0" err="1" smtClean="0"/>
              <a:t>BroadcastReceiver</a:t>
            </a:r>
            <a:r>
              <a:rPr lang="zh-CN" altLang="zh-CN" dirty="0"/>
              <a:t>）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95520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使用</a:t>
            </a:r>
            <a:r>
              <a:rPr kumimoji="1" lang="en-US" altLang="zh-CN" dirty="0" smtClean="0"/>
              <a:t>Intent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err="1" smtClean="0"/>
              <a:t>startActivity</a:t>
            </a:r>
            <a:r>
              <a:rPr kumimoji="1" lang="en-US" altLang="zh-CN" dirty="0" smtClean="0"/>
              <a:t>()</a:t>
            </a:r>
          </a:p>
          <a:p>
            <a:r>
              <a:rPr lang="en-US" altLang="zh-CN" dirty="0" err="1" smtClean="0"/>
              <a:t>startActivityForResult</a:t>
            </a:r>
            <a:r>
              <a:rPr lang="en-US" altLang="zh-CN" dirty="0" smtClean="0"/>
              <a:t>()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40133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用</a:t>
            </a:r>
            <a:r>
              <a:rPr kumimoji="1" lang="en-US" altLang="zh-CN" dirty="0" smtClean="0"/>
              <a:t> Intent </a:t>
            </a:r>
            <a:r>
              <a:rPr kumimoji="1" lang="zh-CN" altLang="en-US" dirty="0" smtClean="0"/>
              <a:t>执行操作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提供了一套灵活的方式，用于执行指定的操作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选择联系人</a:t>
            </a:r>
            <a:endParaRPr kumimoji="1" lang="en-US" altLang="zh-CN" dirty="0" smtClean="0"/>
          </a:p>
          <a:p>
            <a:pPr lvl="1"/>
            <a:r>
              <a:rPr lang="zh-CN" altLang="en-US" dirty="0" smtClean="0"/>
              <a:t>拍照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打电话</a:t>
            </a:r>
            <a:endParaRPr kumimoji="1" lang="en-US" altLang="zh-CN" dirty="0" smtClean="0"/>
          </a:p>
          <a:p>
            <a:pPr lvl="1"/>
            <a:r>
              <a:rPr lang="zh-CN" altLang="zh-CN" dirty="0"/>
              <a:t>…</a:t>
            </a:r>
            <a:r>
              <a:rPr lang="zh-CN" altLang="zh-CN" dirty="0" smtClean="0"/>
              <a:t>…</a:t>
            </a:r>
            <a:endParaRPr lang="en-US" altLang="zh-CN" dirty="0" smtClean="0"/>
          </a:p>
          <a:p>
            <a:r>
              <a:rPr kumimoji="1" lang="zh-CN" altLang="en-US" dirty="0" smtClean="0"/>
              <a:t>由需要完成操作的部件构建</a:t>
            </a:r>
            <a:endParaRPr kumimoji="1" lang="en-US" altLang="zh-CN" dirty="0" smtClean="0"/>
          </a:p>
          <a:p>
            <a:r>
              <a:rPr lang="zh-CN" altLang="en-US" dirty="0" smtClean="0"/>
              <a:t>由具体执行操作的</a:t>
            </a:r>
            <a:r>
              <a:rPr lang="en-US" altLang="zh-CN" dirty="0" smtClean="0"/>
              <a:t>Activity</a:t>
            </a:r>
            <a:r>
              <a:rPr lang="zh-CN" altLang="en-US" dirty="0" smtClean="0"/>
              <a:t>接收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53093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Intent </a:t>
            </a:r>
            <a:r>
              <a:rPr kumimoji="1" lang="zh-CN" altLang="en-US" dirty="0" smtClean="0"/>
              <a:t>字段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Action</a:t>
            </a:r>
          </a:p>
          <a:p>
            <a:r>
              <a:rPr lang="en-US" altLang="zh-CN" dirty="0" smtClean="0"/>
              <a:t>Data</a:t>
            </a:r>
          </a:p>
          <a:p>
            <a:r>
              <a:rPr kumimoji="1" lang="en-US" altLang="zh-CN" dirty="0" smtClean="0"/>
              <a:t>Category</a:t>
            </a:r>
          </a:p>
          <a:p>
            <a:r>
              <a:rPr lang="en-US" altLang="zh-CN" dirty="0" smtClean="0"/>
              <a:t>Type</a:t>
            </a:r>
          </a:p>
          <a:p>
            <a:r>
              <a:rPr kumimoji="1" lang="en-US" altLang="zh-CN" dirty="0" smtClean="0"/>
              <a:t>Component</a:t>
            </a:r>
          </a:p>
          <a:p>
            <a:r>
              <a:rPr lang="en-US" altLang="zh-CN" dirty="0" smtClean="0"/>
              <a:t>Extras</a:t>
            </a:r>
          </a:p>
          <a:p>
            <a:r>
              <a:rPr kumimoji="1" lang="en-US" altLang="zh-CN" dirty="0" smtClean="0"/>
              <a:t>Flags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95529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Action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表示目标操作的字符串</a:t>
            </a:r>
            <a:endParaRPr kumimoji="1" lang="en-US" altLang="zh-CN" dirty="0" smtClean="0"/>
          </a:p>
          <a:p>
            <a:pPr lvl="1"/>
            <a:r>
              <a:rPr lang="en-US" altLang="zh-CN" dirty="0" smtClean="0"/>
              <a:t>ACTION_DIAL</a:t>
            </a:r>
          </a:p>
          <a:p>
            <a:pPr lvl="2"/>
            <a:r>
              <a:rPr kumimoji="1" lang="zh-CN" altLang="en-US" dirty="0" smtClean="0"/>
              <a:t>拨打电话</a:t>
            </a:r>
            <a:endParaRPr kumimoji="1" lang="en-US" altLang="zh-CN" dirty="0" smtClean="0"/>
          </a:p>
          <a:p>
            <a:pPr lvl="1"/>
            <a:r>
              <a:rPr lang="en-US" altLang="zh-CN" dirty="0" smtClean="0"/>
              <a:t>ACTION_EDIT</a:t>
            </a:r>
          </a:p>
          <a:p>
            <a:pPr lvl="2"/>
            <a:r>
              <a:rPr kumimoji="1" lang="zh-CN" altLang="en-US" dirty="0" smtClean="0"/>
              <a:t>显示要编辑的数据</a:t>
            </a:r>
            <a:endParaRPr kumimoji="1" lang="en-US" altLang="zh-CN" dirty="0" smtClean="0"/>
          </a:p>
          <a:p>
            <a:pPr lvl="1"/>
            <a:r>
              <a:rPr lang="en-US" altLang="zh-CN" dirty="0" smtClean="0"/>
              <a:t>ACTION_SYNC</a:t>
            </a:r>
          </a:p>
          <a:p>
            <a:pPr lvl="2"/>
            <a:r>
              <a:rPr lang="zh-CN" altLang="en-US" dirty="0" smtClean="0"/>
              <a:t>和服务器同步设备数据</a:t>
            </a:r>
            <a:endParaRPr lang="en-US" altLang="zh-CN" dirty="0" smtClean="0"/>
          </a:p>
          <a:p>
            <a:pPr lvl="1"/>
            <a:r>
              <a:rPr kumimoji="1" lang="en-US" altLang="zh-CN" dirty="0" smtClean="0"/>
              <a:t>ACTION_MAIN</a:t>
            </a:r>
          </a:p>
          <a:p>
            <a:pPr lvl="2"/>
            <a:r>
              <a:rPr lang="zh-CN" altLang="en-US" dirty="0" smtClean="0"/>
              <a:t>作为</a:t>
            </a:r>
            <a:r>
              <a:rPr lang="en-US" altLang="zh-CN" dirty="0" smtClean="0"/>
              <a:t>App</a:t>
            </a:r>
            <a:r>
              <a:rPr lang="zh-CN" altLang="en-US" dirty="0" smtClean="0"/>
              <a:t>的初始</a:t>
            </a:r>
            <a:r>
              <a:rPr lang="en-US" altLang="zh-CN" dirty="0" smtClean="0"/>
              <a:t>Activity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77728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设置</a:t>
            </a:r>
            <a:r>
              <a:rPr kumimoji="1" lang="en-US" altLang="zh-CN" dirty="0"/>
              <a:t> </a:t>
            </a:r>
            <a:r>
              <a:rPr kumimoji="1" lang="en-US" altLang="zh-CN" dirty="0" smtClean="0"/>
              <a:t>Intent Action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Intent(</a:t>
            </a:r>
            <a:r>
              <a:rPr lang="en-US" altLang="zh-CN" sz="2000" dirty="0" err="1">
                <a:latin typeface="Consolas"/>
                <a:cs typeface="Consolas"/>
              </a:rPr>
              <a:t>Intent.ACTION_DIAL</a:t>
            </a:r>
            <a:r>
              <a:rPr lang="en-US" altLang="zh-CN" sz="2000" dirty="0">
                <a:latin typeface="Consolas"/>
                <a:cs typeface="Consolas"/>
              </a:rPr>
              <a:t>)</a:t>
            </a:r>
            <a:r>
              <a:rPr lang="en-US" altLang="zh-CN" sz="2000" dirty="0" smtClean="0">
                <a:latin typeface="Consolas"/>
                <a:cs typeface="Consolas"/>
              </a:rPr>
              <a:t>;</a:t>
            </a:r>
          </a:p>
          <a:p>
            <a:pPr marL="0" indent="0">
              <a:buNone/>
            </a:pPr>
            <a:endParaRPr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zh-CN" altLang="en-US" sz="2000" dirty="0" smtClean="0">
                <a:latin typeface="Consolas"/>
                <a:cs typeface="Consolas"/>
              </a:rPr>
              <a:t>或者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endParaRPr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Intent(); </a:t>
            </a:r>
            <a:r>
              <a:rPr lang="en-US" altLang="zh-CN" sz="2000" dirty="0" err="1">
                <a:latin typeface="Consolas"/>
                <a:cs typeface="Consolas"/>
              </a:rPr>
              <a:t>newInt.setAction</a:t>
            </a:r>
            <a:r>
              <a:rPr lang="en-US" altLang="zh-CN" sz="2000" dirty="0">
                <a:latin typeface="Consolas"/>
                <a:cs typeface="Consolas"/>
              </a:rPr>
              <a:t>(</a:t>
            </a:r>
            <a:r>
              <a:rPr lang="en-US" altLang="zh-CN" sz="2000" dirty="0" err="1">
                <a:latin typeface="Consolas"/>
                <a:cs typeface="Consolas"/>
              </a:rPr>
              <a:t>Intent.ACTION_DIAL</a:t>
            </a:r>
            <a:r>
              <a:rPr lang="en-US" altLang="zh-CN" sz="2000" dirty="0">
                <a:latin typeface="Consolas"/>
                <a:cs typeface="Consolas"/>
              </a:rPr>
              <a:t>);</a:t>
            </a:r>
          </a:p>
          <a:p>
            <a:pPr marL="0" indent="0">
              <a:buNone/>
            </a:pP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9488701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Data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和</a:t>
            </a:r>
            <a:r>
              <a:rPr lang="en-US" altLang="zh-CN" dirty="0" smtClean="0"/>
              <a:t>Intent</a:t>
            </a:r>
            <a:r>
              <a:rPr lang="zh-CN" altLang="en-US" dirty="0" smtClean="0"/>
              <a:t>相关联的数据</a:t>
            </a:r>
            <a:endParaRPr lang="en-US" altLang="zh-CN" dirty="0" smtClean="0"/>
          </a:p>
          <a:p>
            <a:pPr lvl="1"/>
            <a:r>
              <a:rPr lang="en-US" altLang="zh-CN" dirty="0" smtClean="0"/>
              <a:t>URI</a:t>
            </a:r>
            <a:r>
              <a:rPr lang="zh-CN" altLang="en-US" dirty="0" smtClean="0"/>
              <a:t>格式表示</a:t>
            </a:r>
            <a:endParaRPr lang="en-US" altLang="zh-CN" dirty="0"/>
          </a:p>
          <a:p>
            <a:r>
              <a:rPr lang="zh-CN" altLang="en-US" dirty="0" smtClean="0"/>
              <a:t>在地图上显示的数据</a:t>
            </a:r>
            <a:endParaRPr lang="en-US" altLang="zh-CN" dirty="0" smtClean="0"/>
          </a:p>
          <a:p>
            <a:pPr marL="0" indent="0">
              <a:buNone/>
            </a:pPr>
            <a:endParaRPr kumimoji="1"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000" dirty="0" err="1" smtClean="0">
                <a:latin typeface="Consolas"/>
                <a:cs typeface="Consolas"/>
              </a:rPr>
              <a:t>Uri.parse</a:t>
            </a:r>
            <a:r>
              <a:rPr kumimoji="1" lang="en-US" altLang="zh-CN" sz="2000" dirty="0" smtClean="0">
                <a:latin typeface="Consolas"/>
                <a:cs typeface="Consolas"/>
              </a:rPr>
              <a:t>(“geo:0,0?q=</a:t>
            </a:r>
            <a:r>
              <a:rPr kumimoji="1" lang="en-US" altLang="zh-CN" sz="2000" dirty="0" err="1" smtClean="0">
                <a:latin typeface="Consolas"/>
                <a:cs typeface="Consolas"/>
              </a:rPr>
              <a:t>zhejiang+gongshang+university+xiasha</a:t>
            </a:r>
            <a:r>
              <a:rPr kumimoji="1" lang="en-US" altLang="zh-CN" sz="2000" dirty="0" smtClean="0">
                <a:latin typeface="Consolas"/>
                <a:cs typeface="Consolas"/>
              </a:rPr>
              <a:t>”)</a:t>
            </a:r>
          </a:p>
          <a:p>
            <a:pPr marL="0" indent="0">
              <a:buNone/>
            </a:pPr>
            <a:endParaRPr kumimoji="1" lang="en-US" altLang="zh-CN" sz="2000" dirty="0" smtClean="0">
              <a:latin typeface="Consolas"/>
              <a:cs typeface="Consolas"/>
            </a:endParaRPr>
          </a:p>
          <a:p>
            <a:r>
              <a:rPr lang="zh-CN" altLang="en-US" dirty="0" smtClean="0"/>
              <a:t>要拨打的号码</a:t>
            </a:r>
            <a:endParaRPr lang="en-US" altLang="zh-CN" dirty="0" smtClean="0"/>
          </a:p>
          <a:p>
            <a:pPr marL="0" indent="0">
              <a:buNone/>
            </a:pPr>
            <a:endParaRPr kumimoji="1"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kumimoji="1" lang="en-US" altLang="zh-CN" sz="2000" dirty="0" err="1" smtClean="0">
                <a:latin typeface="Consolas"/>
                <a:cs typeface="Consolas"/>
              </a:rPr>
              <a:t>Uri.parse</a:t>
            </a:r>
            <a:r>
              <a:rPr kumimoji="1" lang="en-US" altLang="zh-CN" sz="2000" dirty="0" smtClean="0">
                <a:latin typeface="Consolas"/>
                <a:cs typeface="Consolas"/>
              </a:rPr>
              <a:t>(“</a:t>
            </a:r>
            <a:r>
              <a:rPr kumimoji="1" lang="en-US" altLang="zh-CN" sz="2000" dirty="0" err="1" smtClean="0">
                <a:latin typeface="Consolas"/>
                <a:cs typeface="Consolas"/>
              </a:rPr>
              <a:t>tel</a:t>
            </a:r>
            <a:r>
              <a:rPr kumimoji="1" lang="en-US" altLang="zh-CN" sz="2000" dirty="0" smtClean="0">
                <a:latin typeface="Consolas"/>
                <a:cs typeface="Consolas"/>
              </a:rPr>
              <a:t>:+8613705710000”)</a:t>
            </a: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91947732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设置</a:t>
            </a:r>
            <a:r>
              <a:rPr kumimoji="1" lang="en-US" altLang="zh-CN" dirty="0" smtClean="0"/>
              <a:t>Intent Data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Intent(</a:t>
            </a:r>
            <a:r>
              <a:rPr lang="en-US" altLang="zh-CN" sz="2000" dirty="0" err="1">
                <a:latin typeface="Consolas"/>
                <a:cs typeface="Consolas"/>
              </a:rPr>
              <a:t>Intent.ACTION_DIAL</a:t>
            </a:r>
            <a:r>
              <a:rPr lang="en-US" altLang="zh-CN" sz="2000" dirty="0">
                <a:latin typeface="Consolas"/>
                <a:cs typeface="Consolas"/>
              </a:rPr>
              <a:t>," </a:t>
            </a:r>
            <a:r>
              <a:rPr lang="en-US" altLang="zh-CN" sz="2000" dirty="0" err="1">
                <a:latin typeface="Consolas"/>
                <a:cs typeface="Consolas"/>
              </a:rPr>
              <a:t>Uri.parse</a:t>
            </a:r>
            <a:r>
              <a:rPr lang="en-US" altLang="zh-CN" sz="2000" dirty="0">
                <a:latin typeface="Consolas"/>
                <a:cs typeface="Consolas"/>
              </a:rPr>
              <a:t>("</a:t>
            </a:r>
            <a:r>
              <a:rPr lang="en-US" altLang="zh-CN" sz="2000" dirty="0" err="1">
                <a:latin typeface="Consolas"/>
                <a:cs typeface="Consolas"/>
              </a:rPr>
              <a:t>tel</a:t>
            </a:r>
            <a:r>
              <a:rPr lang="en-US" altLang="zh-CN" sz="2000" dirty="0">
                <a:latin typeface="Consolas"/>
                <a:cs typeface="Consolas"/>
              </a:rPr>
              <a:t>:+15555555555"));</a:t>
            </a:r>
            <a:r>
              <a:rPr lang="en-US" altLang="zh-CN" dirty="0"/>
              <a:t> </a:t>
            </a:r>
          </a:p>
          <a:p>
            <a:pPr marL="0" indent="0">
              <a:buNone/>
            </a:pPr>
            <a:endParaRPr lang="en-US" altLang="zh-CN" dirty="0" smtClean="0"/>
          </a:p>
          <a:p>
            <a:pPr marL="0" indent="0">
              <a:buNone/>
            </a:pPr>
            <a:r>
              <a:rPr lang="zh-CN" altLang="en-US" dirty="0" smtClean="0"/>
              <a:t>或者</a:t>
            </a:r>
            <a:endParaRPr lang="en-US" altLang="zh-CN" dirty="0"/>
          </a:p>
          <a:p>
            <a:pPr marL="0" indent="0">
              <a:buNone/>
            </a:pP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2000" dirty="0" smtClean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Intent(</a:t>
            </a:r>
            <a:r>
              <a:rPr lang="en-US" altLang="zh-CN" sz="2000" dirty="0" err="1">
                <a:latin typeface="Consolas"/>
                <a:cs typeface="Consolas"/>
              </a:rPr>
              <a:t>Intent.ACTION_DIAL</a:t>
            </a:r>
            <a:r>
              <a:rPr lang="en-US" altLang="zh-CN" sz="2000" dirty="0">
                <a:latin typeface="Consolas"/>
                <a:cs typeface="Consolas"/>
              </a:rPr>
              <a:t>); </a:t>
            </a:r>
            <a:r>
              <a:rPr lang="en-US" altLang="zh-CN" sz="2000" dirty="0" err="1">
                <a:latin typeface="Consolas"/>
                <a:cs typeface="Consolas"/>
              </a:rPr>
              <a:t>newInt.setData</a:t>
            </a:r>
            <a:r>
              <a:rPr lang="en-US" altLang="zh-CN" sz="2000" dirty="0">
                <a:latin typeface="Consolas"/>
                <a:cs typeface="Consolas"/>
              </a:rPr>
              <a:t>(</a:t>
            </a:r>
            <a:r>
              <a:rPr lang="en-US" altLang="zh-CN" sz="2000" dirty="0" err="1">
                <a:latin typeface="Consolas"/>
                <a:cs typeface="Consolas"/>
              </a:rPr>
              <a:t>Uri.parse</a:t>
            </a:r>
            <a:r>
              <a:rPr lang="en-US" altLang="zh-CN" sz="2000" dirty="0">
                <a:latin typeface="Consolas"/>
                <a:cs typeface="Consolas"/>
              </a:rPr>
              <a:t>("</a:t>
            </a:r>
            <a:r>
              <a:rPr lang="en-US" altLang="zh-CN" sz="2000" dirty="0" err="1">
                <a:latin typeface="Consolas"/>
                <a:cs typeface="Consolas"/>
              </a:rPr>
              <a:t>tel</a:t>
            </a:r>
            <a:r>
              <a:rPr lang="en-US" altLang="zh-CN" sz="2000" dirty="0">
                <a:latin typeface="Consolas"/>
                <a:cs typeface="Consolas"/>
              </a:rPr>
              <a:t>:+15555555555")); </a:t>
            </a:r>
          </a:p>
          <a:p>
            <a:pPr marL="0" indent="0">
              <a:buNone/>
            </a:pP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633660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Category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能够处理该</a:t>
            </a:r>
            <a:r>
              <a:rPr lang="en-US" altLang="zh-CN" dirty="0" smtClean="0"/>
              <a:t>Intent</a:t>
            </a:r>
            <a:r>
              <a:rPr lang="zh-CN" altLang="en-US" dirty="0" smtClean="0"/>
              <a:t>部件的附加信息</a:t>
            </a:r>
            <a:endParaRPr lang="en-US" altLang="zh-CN" dirty="0" smtClean="0"/>
          </a:p>
          <a:p>
            <a:r>
              <a:rPr kumimoji="1" lang="en-US" altLang="zh-CN" dirty="0" smtClean="0"/>
              <a:t>CATEGORY_BROWSABLE</a:t>
            </a:r>
          </a:p>
          <a:p>
            <a:pPr lvl="1"/>
            <a:r>
              <a:rPr lang="zh-CN" altLang="en-US" dirty="0" smtClean="0"/>
              <a:t>能够通过浏览器显示</a:t>
            </a:r>
            <a:r>
              <a:rPr lang="en-US" altLang="zh-CN" dirty="0" smtClean="0"/>
              <a:t>URI</a:t>
            </a:r>
            <a:r>
              <a:rPr lang="zh-CN" altLang="en-US" dirty="0" smtClean="0"/>
              <a:t>所指向的数据</a:t>
            </a:r>
            <a:endParaRPr lang="en-US" altLang="zh-CN" dirty="0" smtClean="0"/>
          </a:p>
          <a:p>
            <a:r>
              <a:rPr kumimoji="1" lang="en-US" altLang="zh-CN" dirty="0" smtClean="0"/>
              <a:t>CATEGORY_LAUNCHER</a:t>
            </a:r>
          </a:p>
          <a:p>
            <a:pPr lvl="1"/>
            <a:r>
              <a:rPr lang="zh-CN" altLang="en-US" dirty="0" smtClean="0"/>
              <a:t>任务的初始</a:t>
            </a:r>
            <a:r>
              <a:rPr lang="en-US" altLang="zh-CN" dirty="0" smtClean="0"/>
              <a:t>Activity</a:t>
            </a:r>
            <a:r>
              <a:rPr lang="zh-CN" altLang="en-US" dirty="0" smtClean="0"/>
              <a:t>，被列在顶层</a:t>
            </a:r>
            <a:r>
              <a:rPr lang="en-US" altLang="zh-CN" dirty="0" smtClean="0"/>
              <a:t>App</a:t>
            </a:r>
            <a:r>
              <a:rPr lang="zh-CN" altLang="en-US" dirty="0" smtClean="0"/>
              <a:t>起动器中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09022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Type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指定</a:t>
            </a:r>
            <a:r>
              <a:rPr lang="en-US" altLang="zh-CN" dirty="0" smtClean="0"/>
              <a:t>Intent</a:t>
            </a:r>
            <a:r>
              <a:rPr lang="zh-CN" altLang="en-US" dirty="0" smtClean="0"/>
              <a:t>数据的</a:t>
            </a:r>
            <a:r>
              <a:rPr lang="en-US" altLang="zh-CN" dirty="0" smtClean="0"/>
              <a:t>MIME Type</a:t>
            </a:r>
          </a:p>
          <a:p>
            <a:pPr lvl="1"/>
            <a:r>
              <a:rPr kumimoji="1" lang="en-US" altLang="zh-CN" dirty="0" smtClean="0"/>
              <a:t>IMAGE/*, IMAGE/PNG, IMAGE/JPG</a:t>
            </a:r>
          </a:p>
          <a:p>
            <a:pPr lvl="1"/>
            <a:r>
              <a:rPr lang="en-US" altLang="zh-CN" dirty="0" smtClean="0"/>
              <a:t>TEXT/PLAIN, TEXT/HTML</a:t>
            </a:r>
          </a:p>
          <a:p>
            <a:r>
              <a:rPr kumimoji="1" lang="zh-CN" altLang="en-US" dirty="0" smtClean="0"/>
              <a:t>如果未指定，</a:t>
            </a:r>
            <a:r>
              <a:rPr kumimoji="1" lang="en-US" altLang="zh-CN" dirty="0" smtClean="0"/>
              <a:t>Android</a:t>
            </a:r>
            <a:r>
              <a:rPr kumimoji="1" lang="zh-CN" altLang="en-US" dirty="0" smtClean="0"/>
              <a:t>会自行推断类型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01893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设置</a:t>
            </a:r>
            <a:r>
              <a:rPr kumimoji="1" lang="en-US" altLang="zh-CN" dirty="0" smtClean="0"/>
              <a:t>Type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000" dirty="0" err="1">
                <a:latin typeface="Consolas"/>
                <a:cs typeface="Consolas"/>
              </a:rPr>
              <a:t>Intent.setType</a:t>
            </a:r>
            <a:r>
              <a:rPr lang="en-US" altLang="zh-CN" sz="2000" dirty="0">
                <a:latin typeface="Consolas"/>
                <a:cs typeface="Consolas"/>
              </a:rPr>
              <a:t>(String type) </a:t>
            </a:r>
          </a:p>
          <a:p>
            <a:pPr marL="0" indent="0">
              <a:buNone/>
            </a:pPr>
            <a:endParaRPr lang="en-US" altLang="zh-CN" dirty="0" smtClean="0"/>
          </a:p>
          <a:p>
            <a:pPr marL="0" indent="0">
              <a:buNone/>
            </a:pPr>
            <a:r>
              <a:rPr lang="zh-CN" altLang="en-US" dirty="0" smtClean="0"/>
              <a:t>或者</a:t>
            </a:r>
            <a:endParaRPr lang="en-US" altLang="zh-CN" dirty="0"/>
          </a:p>
          <a:p>
            <a:pPr marL="0" indent="0">
              <a:buNone/>
            </a:pP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Intent.setDataAndType</a:t>
            </a:r>
            <a:r>
              <a:rPr lang="en-US" altLang="zh-CN" sz="2000" dirty="0">
                <a:latin typeface="Consolas"/>
                <a:cs typeface="Consolas"/>
              </a:rPr>
              <a:t>(Uri data, String type) </a:t>
            </a:r>
          </a:p>
          <a:p>
            <a:pPr marL="0" indent="0">
              <a:buNone/>
            </a:pPr>
            <a:endParaRPr kumimoji="1"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136497805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Component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接收该</a:t>
            </a:r>
            <a:r>
              <a:rPr kumimoji="1" lang="en-US" altLang="zh-CN" dirty="0" smtClean="0"/>
              <a:t>Intent</a:t>
            </a:r>
            <a:r>
              <a:rPr kumimoji="1" lang="zh-CN" altLang="en-US" dirty="0" smtClean="0"/>
              <a:t>的部件</a:t>
            </a:r>
            <a:endParaRPr kumimoji="1" lang="en-US" altLang="zh-CN" dirty="0" smtClean="0"/>
          </a:p>
          <a:p>
            <a:r>
              <a:rPr lang="zh-CN" altLang="en-US" dirty="0" smtClean="0"/>
              <a:t>当只有一个部件接收</a:t>
            </a:r>
            <a:r>
              <a:rPr lang="en-US" altLang="zh-CN" dirty="0" smtClean="0"/>
              <a:t>Intent</a:t>
            </a:r>
            <a:r>
              <a:rPr lang="zh-CN" altLang="en-US" dirty="0" smtClean="0"/>
              <a:t>时使用</a:t>
            </a:r>
            <a:endParaRPr lang="en-US" altLang="zh-CN" dirty="0" smtClean="0"/>
          </a:p>
          <a:p>
            <a:endParaRPr kumimoji="1" lang="en-US" altLang="zh-CN" dirty="0"/>
          </a:p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</a:t>
            </a:r>
            <a:r>
              <a:rPr lang="en-US" altLang="zh-CN" sz="2000" dirty="0" smtClean="0">
                <a:latin typeface="Consolas"/>
                <a:cs typeface="Consolas"/>
              </a:rPr>
              <a:t>Intent</a:t>
            </a:r>
            <a:r>
              <a:rPr lang="en-US" altLang="zh-CN" sz="2000" dirty="0">
                <a:latin typeface="Consolas"/>
                <a:cs typeface="Consolas"/>
              </a:rPr>
              <a:t>(Context </a:t>
            </a:r>
            <a:r>
              <a:rPr lang="en-US" altLang="zh-CN" sz="2000" dirty="0" err="1">
                <a:latin typeface="Consolas"/>
                <a:cs typeface="Consolas"/>
              </a:rPr>
              <a:t>packageContext</a:t>
            </a:r>
            <a:r>
              <a:rPr lang="en-US" altLang="zh-CN" sz="2000" dirty="0">
                <a:latin typeface="Consolas"/>
                <a:cs typeface="Consolas"/>
              </a:rPr>
              <a:t>, Class&lt;?&gt; </a:t>
            </a:r>
            <a:r>
              <a:rPr lang="en-US" altLang="zh-CN" sz="2000" dirty="0" err="1">
                <a:latin typeface="Consolas"/>
                <a:cs typeface="Consolas"/>
              </a:rPr>
              <a:t>cls</a:t>
            </a:r>
            <a:r>
              <a:rPr lang="en-US" altLang="zh-CN" sz="2000" dirty="0">
                <a:latin typeface="Consolas"/>
                <a:cs typeface="Consolas"/>
              </a:rPr>
              <a:t>); 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endParaRPr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zh-CN" altLang="en-US" sz="2000" dirty="0" smtClean="0">
                <a:latin typeface="Consolas"/>
                <a:cs typeface="Consolas"/>
              </a:rPr>
              <a:t>或者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 ();</a:t>
            </a:r>
            <a:br>
              <a:rPr lang="en-US" altLang="zh-CN" sz="2000" dirty="0">
                <a:latin typeface="Consolas"/>
                <a:cs typeface="Consolas"/>
              </a:rPr>
            </a:br>
            <a:r>
              <a:rPr lang="zh-CN" altLang="en-US" sz="2000" dirty="0" smtClean="0"/>
              <a:t>然后，使用下列方法之一</a:t>
            </a:r>
            <a:r>
              <a:rPr lang="en-US" altLang="zh-CN" sz="2000" dirty="0" smtClean="0"/>
              <a:t>:</a:t>
            </a:r>
            <a:r>
              <a:rPr lang="en-US" altLang="zh-CN" sz="2000" dirty="0"/>
              <a:t/>
            </a:r>
            <a:br>
              <a:rPr lang="en-US" altLang="zh-CN" sz="2000" dirty="0"/>
            </a:br>
            <a:r>
              <a:rPr lang="en-US" altLang="zh-CN" sz="2000" dirty="0" err="1">
                <a:latin typeface="Consolas"/>
                <a:cs typeface="Consolas"/>
              </a:rPr>
              <a:t>setComponent</a:t>
            </a:r>
            <a:r>
              <a:rPr lang="en-US" altLang="zh-CN" sz="2000" dirty="0">
                <a:latin typeface="Consolas"/>
                <a:cs typeface="Consolas"/>
              </a:rPr>
              <a:t>(), </a:t>
            </a:r>
            <a:r>
              <a:rPr lang="en-US" altLang="zh-CN" sz="2000" dirty="0" err="1">
                <a:latin typeface="Consolas"/>
                <a:cs typeface="Consolas"/>
              </a:rPr>
              <a:t>setClass</a:t>
            </a:r>
            <a:r>
              <a:rPr lang="en-US" altLang="zh-CN" sz="2000" dirty="0">
                <a:latin typeface="Consolas"/>
                <a:cs typeface="Consolas"/>
              </a:rPr>
              <a:t>(), or </a:t>
            </a:r>
            <a:r>
              <a:rPr lang="en-US" altLang="zh-CN" sz="2000" dirty="0" err="1">
                <a:latin typeface="Consolas"/>
                <a:cs typeface="Consolas"/>
              </a:rPr>
              <a:t>setClassName</a:t>
            </a:r>
            <a:r>
              <a:rPr lang="en-US" altLang="zh-CN" sz="2000" dirty="0">
                <a:latin typeface="Consolas"/>
                <a:cs typeface="Consolas"/>
              </a:rPr>
              <a:t>() </a:t>
            </a:r>
          </a:p>
          <a:p>
            <a:pPr marL="0" indent="0">
              <a:buNone/>
            </a:pPr>
            <a:endParaRPr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endParaRPr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9090217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Extras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未</a:t>
            </a:r>
            <a:r>
              <a:rPr lang="en-US" altLang="zh-CN" dirty="0" smtClean="0"/>
              <a:t>Intent</a:t>
            </a:r>
            <a:r>
              <a:rPr lang="zh-CN" altLang="en-US" dirty="0" smtClean="0"/>
              <a:t>添加额外信息</a:t>
            </a:r>
            <a:endParaRPr lang="en-US" altLang="zh-CN" dirty="0" smtClean="0"/>
          </a:p>
          <a:p>
            <a:pPr lvl="1"/>
            <a:r>
              <a:rPr kumimoji="1" lang="zh-CN" altLang="en-US" dirty="0" smtClean="0"/>
              <a:t>作为</a:t>
            </a:r>
            <a:r>
              <a:rPr kumimoji="1" lang="en-US" altLang="zh-CN" dirty="0" smtClean="0"/>
              <a:t>Map</a:t>
            </a:r>
            <a:r>
              <a:rPr kumimoji="1" lang="zh-CN" altLang="en-US" dirty="0" smtClean="0"/>
              <a:t>（</a:t>
            </a:r>
            <a:r>
              <a:rPr kumimoji="1" lang="en-US" altLang="zh-CN" dirty="0" smtClean="0"/>
              <a:t>Key-value</a:t>
            </a:r>
            <a:r>
              <a:rPr lang="zh-CN" altLang="en-US" dirty="0" smtClean="0"/>
              <a:t>对</a:t>
            </a:r>
            <a:r>
              <a:rPr kumimoji="1" lang="zh-CN" altLang="en-US" dirty="0" smtClean="0"/>
              <a:t>）</a:t>
            </a:r>
            <a:endParaRPr kumimoji="1" lang="en-US" altLang="zh-CN" dirty="0" smtClean="0"/>
          </a:p>
          <a:p>
            <a:pPr lvl="1"/>
            <a:r>
              <a:rPr lang="en-US" altLang="zh-CN" dirty="0" err="1" smtClean="0"/>
              <a:t>putExtra</a:t>
            </a:r>
            <a:r>
              <a:rPr lang="en-US" altLang="zh-CN" dirty="0" smtClean="0"/>
              <a:t>: </a:t>
            </a:r>
            <a:r>
              <a:rPr lang="zh-CN" altLang="en-US" dirty="0" smtClean="0"/>
              <a:t>根据数据类型有不同的形式</a:t>
            </a:r>
            <a:endParaRPr kumimoji="1" lang="en-US" altLang="zh-CN" dirty="0" smtClean="0"/>
          </a:p>
          <a:p>
            <a:pPr lvl="1"/>
            <a:endParaRPr kumimoji="1" lang="en-US" altLang="zh-CN" dirty="0" smtClean="0"/>
          </a:p>
          <a:p>
            <a:pPr marL="0" indent="0">
              <a:buNone/>
            </a:pPr>
            <a:r>
              <a:rPr lang="en-US" altLang="zh-CN" sz="2000" dirty="0" smtClean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Intent(</a:t>
            </a:r>
            <a:r>
              <a:rPr lang="en-US" altLang="zh-CN" sz="2000" dirty="0" err="1">
                <a:latin typeface="Consolas"/>
                <a:cs typeface="Consolas"/>
              </a:rPr>
              <a:t>Intent.ACTION_SEND</a:t>
            </a:r>
            <a:r>
              <a:rPr lang="en-US" altLang="zh-CN" sz="2000" dirty="0">
                <a:latin typeface="Consolas"/>
                <a:cs typeface="Consolas"/>
              </a:rPr>
              <a:t>); 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endParaRPr lang="en-US" altLang="zh-CN" sz="20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2000" dirty="0" err="1">
                <a:latin typeface="Consolas"/>
                <a:cs typeface="Consolas"/>
              </a:rPr>
              <a:t>newInt.putExtra</a:t>
            </a:r>
            <a:r>
              <a:rPr lang="en-US" altLang="zh-CN" sz="2000" dirty="0">
                <a:latin typeface="Consolas"/>
                <a:cs typeface="Consolas"/>
              </a:rPr>
              <a:t>(</a:t>
            </a:r>
            <a:r>
              <a:rPr lang="en-US" altLang="zh-CN" sz="2000" dirty="0" err="1">
                <a:latin typeface="Consolas"/>
                <a:cs typeface="Consolas"/>
              </a:rPr>
              <a:t>android.content.Intent.EXTRA_EMAIL</a:t>
            </a:r>
            <a:r>
              <a:rPr lang="en-US" altLang="zh-CN" sz="2000" dirty="0">
                <a:latin typeface="Consolas"/>
                <a:cs typeface="Consolas"/>
              </a:rPr>
              <a:t>, </a:t>
            </a:r>
          </a:p>
          <a:p>
            <a:pPr marL="349250" lvl="1" indent="0">
              <a:buNone/>
            </a:pPr>
            <a:r>
              <a:rPr lang="en-US" altLang="zh-CN" sz="1600" dirty="0">
                <a:latin typeface="Consolas"/>
                <a:cs typeface="Consolas"/>
              </a:rPr>
              <a:t>new String[]</a:t>
            </a:r>
            <a:r>
              <a:rPr lang="en-US" altLang="zh-CN" sz="1600" dirty="0" smtClean="0">
                <a:latin typeface="Consolas"/>
                <a:cs typeface="Consolas"/>
              </a:rPr>
              <a:t>{</a:t>
            </a:r>
          </a:p>
          <a:p>
            <a:pPr marL="349250" lvl="1" indent="0">
              <a:buNone/>
            </a:pPr>
            <a:r>
              <a:rPr lang="en-US" altLang="zh-CN" sz="1600" dirty="0">
                <a:latin typeface="Consolas"/>
                <a:cs typeface="Consolas"/>
              </a:rPr>
              <a:t> </a:t>
            </a:r>
            <a:r>
              <a:rPr lang="en-US" altLang="zh-CN" sz="1600" dirty="0" smtClean="0">
                <a:latin typeface="Consolas"/>
                <a:cs typeface="Consolas"/>
              </a:rPr>
              <a:t>   “</a:t>
            </a:r>
            <a:r>
              <a:rPr lang="en-US" altLang="zh-CN" sz="1600" dirty="0" err="1">
                <a:latin typeface="Consolas"/>
                <a:cs typeface="Consolas"/>
              </a:rPr>
              <a:t>aporter@cs.umd.edu</a:t>
            </a:r>
            <a:r>
              <a:rPr lang="en-US" altLang="zh-CN" sz="1600" dirty="0">
                <a:latin typeface="Consolas"/>
                <a:cs typeface="Consolas"/>
              </a:rPr>
              <a:t>”, </a:t>
            </a:r>
            <a:r>
              <a:rPr lang="en-US" altLang="zh-CN" sz="1600" dirty="0" smtClean="0">
                <a:latin typeface="Consolas"/>
                <a:cs typeface="Consolas"/>
              </a:rPr>
              <a:t>“</a:t>
            </a:r>
            <a:r>
              <a:rPr lang="en-US" altLang="zh-CN" sz="1600" dirty="0" err="1" smtClean="0">
                <a:latin typeface="Consolas"/>
                <a:cs typeface="Consolas"/>
              </a:rPr>
              <a:t>ceo</a:t>
            </a:r>
            <a:r>
              <a:rPr lang="en-US" altLang="zh-CN" sz="1600" dirty="0" err="1">
                <a:latin typeface="Consolas"/>
                <a:cs typeface="Consolas"/>
              </a:rPr>
              <a:t>@</a:t>
            </a:r>
            <a:r>
              <a:rPr lang="en-US" altLang="zh-CN" sz="1600" dirty="0" err="1" smtClean="0">
                <a:latin typeface="Consolas"/>
                <a:cs typeface="Consolas"/>
              </a:rPr>
              <a:t>microsoft.com</a:t>
            </a:r>
            <a:r>
              <a:rPr lang="en-US" altLang="zh-CN" sz="1600" dirty="0" smtClean="0">
                <a:latin typeface="Consolas"/>
                <a:cs typeface="Consolas"/>
              </a:rPr>
              <a:t>”,</a:t>
            </a:r>
            <a:endParaRPr lang="en-US" altLang="zh-CN" sz="1600" dirty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1600" dirty="0" smtClean="0">
                <a:latin typeface="Consolas"/>
                <a:cs typeface="Consolas"/>
              </a:rPr>
              <a:t>    “</a:t>
            </a:r>
            <a:r>
              <a:rPr lang="en-US" altLang="zh-CN" sz="1600" dirty="0" err="1" smtClean="0">
                <a:latin typeface="Consolas"/>
                <a:cs typeface="Consolas"/>
              </a:rPr>
              <a:t>potus</a:t>
            </a:r>
            <a:r>
              <a:rPr lang="en-US" altLang="zh-CN" sz="1600" dirty="0" err="1">
                <a:latin typeface="Consolas"/>
                <a:cs typeface="Consolas"/>
              </a:rPr>
              <a:t>@</a:t>
            </a:r>
            <a:r>
              <a:rPr lang="en-US" altLang="zh-CN" sz="1600" dirty="0" err="1" smtClean="0">
                <a:latin typeface="Consolas"/>
                <a:cs typeface="Consolas"/>
              </a:rPr>
              <a:t>whitehouse.gov</a:t>
            </a:r>
            <a:r>
              <a:rPr lang="en-US" altLang="zh-CN" sz="1600" dirty="0" smtClean="0">
                <a:latin typeface="Consolas"/>
                <a:cs typeface="Consolas"/>
              </a:rPr>
              <a:t>”, “</a:t>
            </a:r>
            <a:r>
              <a:rPr lang="en-US" altLang="zh-CN" sz="1600" dirty="0" err="1" smtClean="0">
                <a:latin typeface="Consolas"/>
                <a:cs typeface="Consolas"/>
              </a:rPr>
              <a:t>mozart</a:t>
            </a:r>
            <a:r>
              <a:rPr lang="en-US" altLang="zh-CN" sz="1600" dirty="0" err="1">
                <a:latin typeface="Consolas"/>
                <a:cs typeface="Consolas"/>
              </a:rPr>
              <a:t>@</a:t>
            </a:r>
            <a:r>
              <a:rPr lang="en-US" altLang="zh-CN" sz="1600" dirty="0" err="1" smtClean="0">
                <a:latin typeface="Consolas"/>
                <a:cs typeface="Consolas"/>
              </a:rPr>
              <a:t>musician.org</a:t>
            </a:r>
            <a:r>
              <a:rPr lang="en-US" altLang="zh-CN" sz="1600" dirty="0" smtClean="0">
                <a:latin typeface="Consolas"/>
                <a:cs typeface="Consolas"/>
              </a:rPr>
              <a:t>”</a:t>
            </a:r>
          </a:p>
          <a:p>
            <a:pPr marL="349250" lvl="1" indent="0">
              <a:buNone/>
            </a:pPr>
            <a:r>
              <a:rPr lang="en-US" altLang="zh-CN" sz="1600" dirty="0" smtClean="0">
                <a:latin typeface="Consolas"/>
                <a:cs typeface="Consolas"/>
              </a:rPr>
              <a:t>} </a:t>
            </a:r>
            <a:endParaRPr lang="en-US" altLang="zh-CN" sz="1600" dirty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); </a:t>
            </a:r>
          </a:p>
          <a:p>
            <a:pPr marL="344487" lvl="1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7720013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Flags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指定</a:t>
            </a:r>
            <a:r>
              <a:rPr kumimoji="1" lang="en-US" altLang="zh-CN" dirty="0" smtClean="0"/>
              <a:t>Intent</a:t>
            </a:r>
            <a:r>
              <a:rPr kumimoji="1" lang="zh-CN" altLang="en-US" dirty="0" smtClean="0"/>
              <a:t>应该被如何处理</a:t>
            </a:r>
            <a:endParaRPr kumimoji="1" lang="en-US" altLang="zh-CN" dirty="0" smtClean="0"/>
          </a:p>
          <a:p>
            <a:r>
              <a:rPr lang="en-US" altLang="zh-CN" dirty="0"/>
              <a:t>FLAG_ACTIVITY_NO_HISTORY </a:t>
            </a:r>
          </a:p>
          <a:p>
            <a:pPr lvl="1"/>
            <a:r>
              <a:rPr lang="zh-CN" altLang="en-US" dirty="0" smtClean="0"/>
              <a:t>不要把</a:t>
            </a:r>
            <a:r>
              <a:rPr lang="en-US" altLang="zh-CN" dirty="0" smtClean="0"/>
              <a:t>Activity</a:t>
            </a:r>
            <a:r>
              <a:rPr lang="zh-CN" altLang="en-US" dirty="0" smtClean="0"/>
              <a:t>放到历史栈</a:t>
            </a:r>
            <a:r>
              <a:rPr lang="en-US" altLang="zh-CN" dirty="0" smtClean="0"/>
              <a:t> </a:t>
            </a:r>
            <a:endParaRPr lang="en-US" altLang="zh-CN" dirty="0"/>
          </a:p>
          <a:p>
            <a:r>
              <a:rPr lang="en-US" altLang="zh-CN" dirty="0"/>
              <a:t>FLAG_DEBUG_LOG_RESOLUTION </a:t>
            </a:r>
          </a:p>
          <a:p>
            <a:pPr lvl="1"/>
            <a:r>
              <a:rPr kumimoji="1" lang="zh-CN" altLang="en-US" dirty="0" smtClean="0"/>
              <a:t>当</a:t>
            </a:r>
            <a:r>
              <a:rPr kumimoji="1" lang="en-US" altLang="zh-CN" dirty="0" smtClean="0"/>
              <a:t>Intent</a:t>
            </a:r>
            <a:r>
              <a:rPr kumimoji="1" lang="zh-CN" altLang="en-US" dirty="0" smtClean="0"/>
              <a:t>被处理时，打印额外的日志信息</a:t>
            </a:r>
            <a:endParaRPr kumimoji="1" lang="en-US" altLang="zh-CN" dirty="0" smtClean="0"/>
          </a:p>
          <a:p>
            <a:pPr lvl="1"/>
            <a:endParaRPr kumimoji="1" lang="en-US" altLang="zh-CN" dirty="0" smtClean="0"/>
          </a:p>
          <a:p>
            <a:pPr marL="0" indent="-4763">
              <a:buNone/>
            </a:pPr>
            <a:r>
              <a:rPr lang="en-US" altLang="zh-CN" sz="2000" dirty="0">
                <a:latin typeface="Consolas"/>
                <a:cs typeface="Consolas"/>
              </a:rPr>
              <a:t>Intent </a:t>
            </a:r>
            <a:r>
              <a:rPr lang="en-US" altLang="zh-CN" sz="2000" dirty="0" err="1">
                <a:latin typeface="Consolas"/>
                <a:cs typeface="Consolas"/>
              </a:rPr>
              <a:t>newInt</a:t>
            </a:r>
            <a:r>
              <a:rPr lang="en-US" altLang="zh-CN" sz="2000" dirty="0">
                <a:latin typeface="Consolas"/>
                <a:cs typeface="Consolas"/>
              </a:rPr>
              <a:t> = new Intent(</a:t>
            </a:r>
            <a:r>
              <a:rPr lang="en-US" altLang="zh-CN" sz="2000" dirty="0" err="1">
                <a:latin typeface="Consolas"/>
                <a:cs typeface="Consolas"/>
              </a:rPr>
              <a:t>Intent.ACTION_SEND</a:t>
            </a:r>
            <a:r>
              <a:rPr lang="en-US" altLang="zh-CN" sz="2000" dirty="0">
                <a:latin typeface="Consolas"/>
                <a:cs typeface="Consolas"/>
              </a:rPr>
              <a:t>); </a:t>
            </a:r>
            <a:r>
              <a:rPr lang="en-US" altLang="zh-CN" sz="2000" dirty="0" err="1">
                <a:latin typeface="Consolas"/>
                <a:cs typeface="Consolas"/>
              </a:rPr>
              <a:t>newInt.setFlags</a:t>
            </a:r>
            <a:r>
              <a:rPr lang="en-US" altLang="zh-CN" sz="2000" dirty="0">
                <a:latin typeface="Consolas"/>
                <a:cs typeface="Consolas"/>
              </a:rPr>
              <a:t>(</a:t>
            </a:r>
            <a:r>
              <a:rPr lang="en-US" altLang="zh-CN" sz="2000" dirty="0" err="1">
                <a:latin typeface="Consolas"/>
                <a:cs typeface="Consolas"/>
              </a:rPr>
              <a:t>Intent.FLAG_ACTIVITY_NO_HISTORY</a:t>
            </a:r>
            <a:r>
              <a:rPr lang="en-US" altLang="zh-CN" sz="2000" dirty="0">
                <a:latin typeface="Consolas"/>
                <a:cs typeface="Consolas"/>
              </a:rPr>
              <a:t>); </a:t>
            </a:r>
          </a:p>
          <a:p>
            <a:pPr lvl="1"/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981480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用</a:t>
            </a:r>
            <a:r>
              <a:rPr kumimoji="1" lang="en-US" altLang="zh-CN" dirty="0" smtClean="0"/>
              <a:t>Intent</a:t>
            </a:r>
            <a:r>
              <a:rPr kumimoji="1" lang="zh-CN" altLang="en-US" dirty="0" smtClean="0"/>
              <a:t>启动</a:t>
            </a:r>
            <a:r>
              <a:rPr kumimoji="1" lang="en-US" altLang="zh-CN" dirty="0" smtClean="0"/>
              <a:t>Activity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>
                <a:latin typeface="Consolas"/>
                <a:cs typeface="Consolas"/>
              </a:rPr>
              <a:t>startActivity</a:t>
            </a:r>
            <a:r>
              <a:rPr lang="en-US" altLang="zh-CN" dirty="0">
                <a:latin typeface="Consolas"/>
                <a:cs typeface="Consolas"/>
              </a:rPr>
              <a:t>(Intent intent,...) </a:t>
            </a:r>
            <a:endParaRPr lang="en-US" altLang="zh-CN" dirty="0" smtClean="0">
              <a:latin typeface="Consolas"/>
              <a:cs typeface="Consolas"/>
            </a:endParaRPr>
          </a:p>
          <a:p>
            <a:pPr marL="0" indent="0">
              <a:buNone/>
            </a:pPr>
            <a:endParaRPr lang="en-US" altLang="zh-CN" sz="2000" dirty="0" smtClean="0">
              <a:latin typeface="Consolas"/>
              <a:cs typeface="Consolas"/>
            </a:endParaRPr>
          </a:p>
          <a:p>
            <a:r>
              <a:rPr lang="en-US" altLang="zh-CN" dirty="0" err="1" smtClean="0">
                <a:latin typeface="Consolas"/>
                <a:cs typeface="Consolas"/>
              </a:rPr>
              <a:t>startActivityForResult</a:t>
            </a:r>
            <a:r>
              <a:rPr lang="en-US" altLang="zh-CN" dirty="0">
                <a:latin typeface="Consolas"/>
                <a:cs typeface="Consolas"/>
              </a:rPr>
              <a:t>(Intent intent, ...) </a:t>
            </a:r>
            <a:endParaRPr lang="en-US" altLang="zh-CN" dirty="0" smtClean="0">
              <a:latin typeface="Consolas"/>
              <a:cs typeface="Consolas"/>
            </a:endParaRPr>
          </a:p>
          <a:p>
            <a:pPr lvl="1"/>
            <a:r>
              <a:rPr lang="zh-CN" altLang="en-US" dirty="0" smtClean="0">
                <a:latin typeface="Consolas"/>
                <a:cs typeface="Consolas"/>
              </a:rPr>
              <a:t>当调用的</a:t>
            </a:r>
            <a:r>
              <a:rPr lang="en-US" altLang="zh-CN" dirty="0" smtClean="0">
                <a:latin typeface="Consolas"/>
                <a:cs typeface="Consolas"/>
              </a:rPr>
              <a:t>Activity</a:t>
            </a:r>
            <a:r>
              <a:rPr lang="zh-CN" altLang="en-US" dirty="0" smtClean="0">
                <a:latin typeface="Consolas"/>
                <a:cs typeface="Consolas"/>
              </a:rPr>
              <a:t>结束返回结果时，调用一个回调函数。</a:t>
            </a:r>
            <a:endParaRPr lang="en-US" altLang="zh-CN" dirty="0" smtClean="0">
              <a:latin typeface="Consolas"/>
              <a:cs typeface="Consolas"/>
            </a:endParaRPr>
          </a:p>
          <a:p>
            <a:pPr lvl="1"/>
            <a:r>
              <a:rPr lang="en-US" altLang="zh-CN" dirty="0" err="1" smtClean="0">
                <a:latin typeface="Consolas"/>
                <a:cs typeface="Consolas"/>
              </a:rPr>
              <a:t>Activity.setResult</a:t>
            </a:r>
            <a:r>
              <a:rPr lang="en-US" altLang="zh-CN" dirty="0" smtClean="0">
                <a:latin typeface="Consolas"/>
                <a:cs typeface="Consolas"/>
              </a:rPr>
              <a:t>()</a:t>
            </a:r>
          </a:p>
          <a:p>
            <a:pPr lvl="1"/>
            <a:r>
              <a:rPr lang="en-US" altLang="zh-CN" dirty="0" err="1" smtClean="0">
                <a:latin typeface="Consolas"/>
                <a:cs typeface="Consolas"/>
              </a:rPr>
              <a:t>onActivityResult</a:t>
            </a:r>
            <a:r>
              <a:rPr lang="en-US" altLang="zh-CN" dirty="0" smtClean="0">
                <a:latin typeface="Consolas"/>
                <a:cs typeface="Consolas"/>
              </a:rPr>
              <a:t>()</a:t>
            </a:r>
            <a:endParaRPr lang="en-US" altLang="zh-CN" dirty="0">
              <a:latin typeface="Consolas"/>
              <a:cs typeface="Consolas"/>
            </a:endParaRPr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67832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目标</a:t>
            </a:r>
            <a:r>
              <a:rPr kumimoji="1" lang="en-US" altLang="zh-CN" dirty="0" smtClean="0"/>
              <a:t>Activity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显示设定：指定</a:t>
            </a:r>
            <a:r>
              <a:rPr lang="en-US" altLang="zh-CN" dirty="0" smtClean="0"/>
              <a:t>Intent</a:t>
            </a:r>
            <a:r>
              <a:rPr lang="zh-CN" altLang="en-US" dirty="0" smtClean="0"/>
              <a:t>中的</a:t>
            </a:r>
            <a:r>
              <a:rPr lang="en-US" altLang="zh-CN" dirty="0" smtClean="0"/>
              <a:t>component</a:t>
            </a:r>
          </a:p>
          <a:p>
            <a:r>
              <a:rPr lang="zh-CN" altLang="en-US" dirty="0" smtClean="0"/>
              <a:t>隐式设定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93490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显示设定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例子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210162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隐式设定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当目标</a:t>
            </a:r>
            <a:r>
              <a:rPr kumimoji="1" lang="en-US" altLang="zh-CN" dirty="0" smtClean="0"/>
              <a:t>Activity</a:t>
            </a:r>
            <a:r>
              <a:rPr lang="zh-CN" altLang="en-US" dirty="0" smtClean="0"/>
              <a:t>没有明确指定时，</a:t>
            </a:r>
            <a:r>
              <a:rPr lang="en-US" altLang="zh-CN" dirty="0" smtClean="0"/>
              <a:t>Android</a:t>
            </a:r>
            <a:r>
              <a:rPr lang="zh-CN" altLang="en-US" dirty="0" smtClean="0"/>
              <a:t>会找到匹配的</a:t>
            </a:r>
            <a:r>
              <a:rPr lang="en-US" altLang="zh-CN" dirty="0" smtClean="0"/>
              <a:t>Activity</a:t>
            </a:r>
          </a:p>
          <a:p>
            <a:r>
              <a:rPr kumimoji="1" lang="zh-CN" altLang="en-US" dirty="0" smtClean="0"/>
              <a:t>该过程称为「</a:t>
            </a:r>
            <a:r>
              <a:rPr kumimoji="1" lang="en-US" altLang="zh-CN" dirty="0" smtClean="0"/>
              <a:t>Intent Resolution</a:t>
            </a:r>
            <a:r>
              <a:rPr kumimoji="1" lang="zh-CN" altLang="en-US" dirty="0" smtClean="0"/>
              <a:t>」</a:t>
            </a:r>
            <a:endParaRPr kumimoji="1" lang="en-US" altLang="zh-CN" dirty="0" smtClean="0"/>
          </a:p>
          <a:p>
            <a:pPr lvl="1"/>
            <a:r>
              <a:rPr lang="en-US" altLang="zh-CN" dirty="0" smtClean="0"/>
              <a:t>Intent filter</a:t>
            </a:r>
            <a:r>
              <a:rPr lang="zh-CN" altLang="en-US" dirty="0" smtClean="0"/>
              <a:t>用来指定</a:t>
            </a:r>
            <a:r>
              <a:rPr lang="en-US" altLang="zh-CN" dirty="0" smtClean="0"/>
              <a:t>Activity</a:t>
            </a:r>
            <a:r>
              <a:rPr lang="zh-CN" altLang="en-US" dirty="0" smtClean="0"/>
              <a:t>所能处理的操作</a:t>
            </a:r>
            <a:endParaRPr lang="en-US" altLang="zh-CN" dirty="0" smtClean="0"/>
          </a:p>
          <a:p>
            <a:pPr lvl="1"/>
            <a:r>
              <a:rPr kumimoji="1" lang="en-US" altLang="zh-CN" dirty="0" err="1" smtClean="0"/>
              <a:t>AndroidManifest.xml</a:t>
            </a:r>
            <a:r>
              <a:rPr kumimoji="1" lang="zh-CN" altLang="en-US" dirty="0" smtClean="0"/>
              <a:t>中指定</a:t>
            </a:r>
            <a:r>
              <a:rPr lang="zh-CN" altLang="en-US" dirty="0" smtClean="0"/>
              <a:t>或编程指定</a:t>
            </a:r>
            <a:endParaRPr kumimoji="1"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1858343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Intent Resolution</a:t>
            </a:r>
            <a:r>
              <a:rPr kumimoji="1" lang="zh-CN" altLang="en-US" dirty="0" smtClean="0"/>
              <a:t>数据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Action</a:t>
            </a:r>
          </a:p>
          <a:p>
            <a:r>
              <a:rPr lang="en-US" altLang="zh-CN" dirty="0" smtClean="0"/>
              <a:t>Data (URI &amp; Type)</a:t>
            </a:r>
          </a:p>
          <a:p>
            <a:r>
              <a:rPr kumimoji="1" lang="en-US" altLang="zh-CN" dirty="0" smtClean="0"/>
              <a:t>Category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27476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设置</a:t>
            </a:r>
            <a:r>
              <a:rPr kumimoji="1" lang="en-US" altLang="zh-CN" dirty="0" smtClean="0"/>
              <a:t>Intent filter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&lt;activity ...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&lt;</a:t>
            </a:r>
            <a:r>
              <a:rPr lang="en-US" altLang="zh-CN" sz="2400" dirty="0">
                <a:latin typeface="Consolas"/>
                <a:cs typeface="Consolas"/>
              </a:rPr>
              <a:t>intent-filter ...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  <a:endParaRPr lang="en-US" altLang="zh-CN" sz="2400" dirty="0">
              <a:latin typeface="Consolas"/>
              <a:cs typeface="Consolas"/>
            </a:endParaRPr>
          </a:p>
          <a:p>
            <a:pPr marL="644525" lvl="2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...</a:t>
            </a:r>
            <a:br>
              <a:rPr lang="en-US" altLang="zh-CN" sz="2400" dirty="0">
                <a:latin typeface="Consolas"/>
                <a:cs typeface="Consolas"/>
              </a:rPr>
            </a:br>
            <a:r>
              <a:rPr lang="en-US" altLang="zh-CN" sz="2400" dirty="0">
                <a:latin typeface="Consolas"/>
                <a:cs typeface="Consolas"/>
              </a:rPr>
              <a:t>&lt;action </a:t>
            </a:r>
            <a:r>
              <a:rPr lang="en-US" altLang="zh-CN" sz="2400" dirty="0" err="1">
                <a:latin typeface="Consolas"/>
                <a:cs typeface="Consolas"/>
              </a:rPr>
              <a:t>android:name</a:t>
            </a:r>
            <a:r>
              <a:rPr lang="en-US" altLang="zh-CN" sz="2400" dirty="0" smtClean="0">
                <a:latin typeface="Consolas"/>
                <a:cs typeface="Consolas"/>
              </a:rPr>
              <a:t>=“</a:t>
            </a:r>
            <a:r>
              <a:rPr lang="en-US" altLang="zh-CN" sz="2400" dirty="0" err="1" smtClean="0">
                <a:latin typeface="Consolas"/>
                <a:cs typeface="Consolas"/>
              </a:rPr>
              <a:t>actionName</a:t>
            </a:r>
            <a:r>
              <a:rPr lang="en-US" altLang="zh-CN" sz="2400" dirty="0" smtClean="0">
                <a:latin typeface="Consolas"/>
                <a:cs typeface="Consolas"/>
              </a:rPr>
              <a:t>” </a:t>
            </a:r>
            <a:r>
              <a:rPr lang="en-US" altLang="zh-CN" sz="2400" dirty="0">
                <a:latin typeface="Consolas"/>
                <a:cs typeface="Consolas"/>
              </a:rPr>
              <a:t>/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</a:p>
          <a:p>
            <a:pPr marL="644525" lvl="2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.</a:t>
            </a:r>
            <a:r>
              <a:rPr lang="en-US" altLang="zh-CN" sz="2400" dirty="0">
                <a:latin typeface="Consolas"/>
                <a:cs typeface="Consolas"/>
              </a:rPr>
              <a:t>.. </a:t>
            </a:r>
          </a:p>
          <a:p>
            <a:pPr marL="349250" lvl="1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&lt;/intent-filter&gt; ... </a:t>
            </a:r>
          </a:p>
          <a:p>
            <a:pPr marL="0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&lt;/activity&gt; 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609372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设置</a:t>
            </a:r>
            <a:r>
              <a:rPr kumimoji="1" lang="en-US" altLang="zh-CN" dirty="0" smtClean="0"/>
              <a:t>Intent filter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</a:t>
            </a:r>
            <a:r>
              <a:rPr lang="fr-FR" altLang="zh-CN" sz="2000" dirty="0" err="1">
                <a:latin typeface="Consolas"/>
                <a:cs typeface="Consolas"/>
              </a:rPr>
              <a:t>activity</a:t>
            </a:r>
            <a:r>
              <a:rPr lang="fr-FR" altLang="zh-CN" sz="2000" dirty="0">
                <a:latin typeface="Consolas"/>
                <a:cs typeface="Consolas"/>
              </a:rPr>
              <a:t> ...</a:t>
            </a:r>
            <a:r>
              <a:rPr lang="fr-FR" altLang="zh-CN" sz="20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fr-FR" altLang="zh-CN" sz="2000" dirty="0" smtClean="0">
                <a:latin typeface="Consolas"/>
                <a:cs typeface="Consolas"/>
              </a:rPr>
              <a:t>&lt;</a:t>
            </a:r>
            <a:r>
              <a:rPr lang="fr-FR" altLang="zh-CN" sz="2000" dirty="0" err="1">
                <a:latin typeface="Consolas"/>
                <a:cs typeface="Consolas"/>
              </a:rPr>
              <a:t>intent-filter</a:t>
            </a:r>
            <a:r>
              <a:rPr lang="fr-FR" altLang="zh-CN" sz="2000" dirty="0">
                <a:latin typeface="Consolas"/>
                <a:cs typeface="Consolas"/>
              </a:rPr>
              <a:t> ...&gt; </a:t>
            </a:r>
          </a:p>
          <a:p>
            <a:pPr marL="644525" lvl="2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...</a:t>
            </a:r>
            <a:br>
              <a:rPr lang="fr-FR" altLang="zh-CN" sz="2000" dirty="0">
                <a:latin typeface="Consolas"/>
                <a:cs typeface="Consolas"/>
              </a:rPr>
            </a:br>
            <a:r>
              <a:rPr lang="fr-FR" altLang="zh-CN" sz="2000" dirty="0">
                <a:latin typeface="Consolas"/>
                <a:cs typeface="Consolas"/>
              </a:rPr>
              <a:t>&lt;</a:t>
            </a:r>
            <a:r>
              <a:rPr lang="fr-FR" altLang="zh-CN" sz="2000" dirty="0" smtClean="0">
                <a:latin typeface="Consolas"/>
                <a:cs typeface="Consolas"/>
              </a:rPr>
              <a:t>action </a:t>
            </a:r>
            <a:r>
              <a:rPr lang="fr-FR" altLang="zh-CN" sz="2000" dirty="0" err="1" smtClean="0">
                <a:latin typeface="Consolas"/>
                <a:cs typeface="Consolas"/>
              </a:rPr>
              <a:t>android:name</a:t>
            </a:r>
            <a:r>
              <a:rPr lang="fr-FR" altLang="zh-CN" sz="2000" dirty="0">
                <a:latin typeface="Consolas"/>
                <a:cs typeface="Consolas"/>
              </a:rPr>
              <a:t>=”</a:t>
            </a:r>
            <a:r>
              <a:rPr lang="fr-FR" altLang="zh-CN" sz="2000" dirty="0" err="1">
                <a:latin typeface="Consolas"/>
                <a:cs typeface="Consolas"/>
              </a:rPr>
              <a:t>android.intent.action.DIAL</a:t>
            </a:r>
            <a:r>
              <a:rPr lang="fr-FR" altLang="zh-CN" sz="2000" dirty="0">
                <a:latin typeface="Consolas"/>
                <a:cs typeface="Consolas"/>
              </a:rPr>
              <a:t>" /</a:t>
            </a:r>
            <a:r>
              <a:rPr lang="fr-FR" altLang="zh-CN" sz="2000" dirty="0" smtClean="0">
                <a:latin typeface="Consolas"/>
                <a:cs typeface="Consolas"/>
              </a:rPr>
              <a:t>&gt;</a:t>
            </a:r>
          </a:p>
          <a:p>
            <a:pPr marL="644525" lvl="2" indent="0">
              <a:buNone/>
            </a:pPr>
            <a:r>
              <a:rPr lang="fr-FR" altLang="zh-CN" sz="2000" dirty="0" smtClean="0">
                <a:latin typeface="Consolas"/>
                <a:cs typeface="Consolas"/>
              </a:rPr>
              <a:t>.</a:t>
            </a:r>
            <a:r>
              <a:rPr lang="fr-FR" altLang="zh-CN" sz="2000" dirty="0">
                <a:latin typeface="Consolas"/>
                <a:cs typeface="Consolas"/>
              </a:rPr>
              <a:t>.. </a:t>
            </a:r>
          </a:p>
          <a:p>
            <a:pPr marL="349250" lvl="1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&lt;/</a:t>
            </a:r>
            <a:r>
              <a:rPr lang="fr-FR" altLang="zh-CN" sz="2000" dirty="0" err="1">
                <a:latin typeface="Consolas"/>
                <a:cs typeface="Consolas"/>
              </a:rPr>
              <a:t>intent-filter</a:t>
            </a:r>
            <a:r>
              <a:rPr lang="fr-FR" altLang="zh-CN" sz="2000" dirty="0" smtClean="0">
                <a:latin typeface="Consolas"/>
                <a:cs typeface="Consolas"/>
              </a:rPr>
              <a:t>&gt;</a:t>
            </a:r>
          </a:p>
          <a:p>
            <a:pPr marL="0" indent="0">
              <a:buNone/>
            </a:pPr>
            <a:r>
              <a:rPr lang="fr-FR" altLang="zh-CN" sz="2000" dirty="0" smtClean="0">
                <a:latin typeface="Consolas"/>
                <a:cs typeface="Consolas"/>
              </a:rPr>
              <a:t>.</a:t>
            </a:r>
            <a:r>
              <a:rPr lang="fr-FR" altLang="zh-CN" sz="2000" dirty="0">
                <a:latin typeface="Consolas"/>
                <a:cs typeface="Consolas"/>
              </a:rPr>
              <a:t>.. </a:t>
            </a:r>
          </a:p>
          <a:p>
            <a:pPr marL="0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&lt;/</a:t>
            </a:r>
            <a:r>
              <a:rPr lang="fr-FR" altLang="zh-CN" sz="2000" dirty="0" err="1">
                <a:latin typeface="Consolas"/>
                <a:cs typeface="Consolas"/>
              </a:rPr>
              <a:t>activity</a:t>
            </a:r>
            <a:r>
              <a:rPr lang="fr-FR" altLang="zh-CN" sz="2000" dirty="0">
                <a:latin typeface="Consolas"/>
                <a:cs typeface="Consolas"/>
              </a:rPr>
              <a:t>&gt; </a:t>
            </a:r>
          </a:p>
          <a:p>
            <a:pPr marL="0" indent="0">
              <a:buNone/>
            </a:pP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0765800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为</a:t>
            </a:r>
            <a:r>
              <a:rPr kumimoji="1" lang="en-US" altLang="zh-CN" dirty="0" smtClean="0"/>
              <a:t>Intent filter</a:t>
            </a:r>
            <a:r>
              <a:rPr kumimoji="1" lang="zh-CN" altLang="en-US" dirty="0" smtClean="0"/>
              <a:t>添加数据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&lt;intent-filter ...</a:t>
            </a:r>
            <a:r>
              <a:rPr lang="en-US" altLang="zh-CN" sz="20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en-US" altLang="zh-CN" sz="2000" dirty="0" smtClean="0">
                <a:latin typeface="Consolas"/>
                <a:cs typeface="Consolas"/>
              </a:rPr>
              <a:t>.</a:t>
            </a:r>
            <a:r>
              <a:rPr lang="en-US" altLang="zh-CN" sz="2000" dirty="0">
                <a:latin typeface="Consolas"/>
                <a:cs typeface="Consolas"/>
              </a:rPr>
              <a:t>.. </a:t>
            </a:r>
          </a:p>
          <a:p>
            <a:pPr marL="349250" lvl="1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</a:t>
            </a:r>
            <a:r>
              <a:rPr lang="en-US" altLang="zh-CN" sz="2000" dirty="0" smtClean="0">
                <a:latin typeface="Consolas"/>
                <a:cs typeface="Consolas"/>
              </a:rPr>
              <a:t>data</a:t>
            </a: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android:mimeType</a:t>
            </a:r>
            <a:r>
              <a:rPr lang="en-US" altLang="zh-CN" sz="2000" dirty="0">
                <a:latin typeface="Consolas"/>
                <a:cs typeface="Consolas"/>
              </a:rPr>
              <a:t>="</a:t>
            </a:r>
            <a:r>
              <a:rPr lang="en-US" altLang="zh-CN" sz="2000" dirty="0" smtClean="0">
                <a:latin typeface="Consolas"/>
                <a:cs typeface="Consolas"/>
              </a:rPr>
              <a:t>string</a:t>
            </a:r>
            <a:r>
              <a:rPr lang="en-US" altLang="zh-CN" sz="2000" dirty="0">
                <a:latin typeface="Consolas"/>
                <a:cs typeface="Consolas"/>
              </a:rPr>
              <a:t>"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android:scheme</a:t>
            </a:r>
            <a:r>
              <a:rPr lang="en-US" altLang="zh-CN" sz="2000" dirty="0">
                <a:latin typeface="Consolas"/>
                <a:cs typeface="Consolas"/>
              </a:rPr>
              <a:t>="</a:t>
            </a:r>
            <a:r>
              <a:rPr lang="en-US" altLang="zh-CN" sz="2000" dirty="0" smtClean="0">
                <a:latin typeface="Consolas"/>
                <a:cs typeface="Consolas"/>
              </a:rPr>
              <a:t>string" </a:t>
            </a: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android:host</a:t>
            </a:r>
            <a:r>
              <a:rPr lang="en-US" altLang="zh-CN" sz="2000" dirty="0">
                <a:latin typeface="Consolas"/>
                <a:cs typeface="Consolas"/>
              </a:rPr>
              <a:t>="string" 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android:port</a:t>
            </a:r>
            <a:r>
              <a:rPr lang="en-US" altLang="zh-CN" sz="2000" dirty="0">
                <a:latin typeface="Consolas"/>
                <a:cs typeface="Consolas"/>
              </a:rPr>
              <a:t>="string" 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android:path</a:t>
            </a:r>
            <a:r>
              <a:rPr lang="en-US" altLang="zh-CN" sz="2000" dirty="0">
                <a:latin typeface="Consolas"/>
                <a:cs typeface="Consolas"/>
              </a:rPr>
              <a:t>="string" 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android:pathPattern</a:t>
            </a:r>
            <a:r>
              <a:rPr lang="en-US" altLang="zh-CN" sz="2000" dirty="0">
                <a:latin typeface="Consolas"/>
                <a:cs typeface="Consolas"/>
              </a:rPr>
              <a:t>="string" </a:t>
            </a:r>
            <a:endParaRPr lang="en-US" altLang="zh-CN" sz="2000" dirty="0" smtClean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 err="1" smtClean="0">
                <a:latin typeface="Consolas"/>
                <a:cs typeface="Consolas"/>
              </a:rPr>
              <a:t>android:pathPrefix</a:t>
            </a:r>
            <a:r>
              <a:rPr lang="en-US" altLang="zh-CN" sz="2000" dirty="0">
                <a:latin typeface="Consolas"/>
                <a:cs typeface="Consolas"/>
              </a:rPr>
              <a:t>="string" </a:t>
            </a:r>
          </a:p>
          <a:p>
            <a:pPr marL="349250" lvl="1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/</a:t>
            </a:r>
            <a:r>
              <a:rPr lang="en-US" altLang="zh-CN" sz="20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en-US" altLang="zh-CN" sz="2000" dirty="0" smtClean="0">
                <a:latin typeface="Consolas"/>
                <a:cs typeface="Consolas"/>
              </a:rPr>
              <a:t>.</a:t>
            </a:r>
            <a:r>
              <a:rPr lang="en-US" altLang="zh-CN" sz="2000" dirty="0">
                <a:latin typeface="Consolas"/>
                <a:cs typeface="Consolas"/>
              </a:rPr>
              <a:t>.. </a:t>
            </a:r>
          </a:p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&lt;/intent-filter&gt; 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48548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处理地理信息数据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&lt;intent-filter ...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  <a:endParaRPr lang="en-US" altLang="zh-CN" sz="2400" dirty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.</a:t>
            </a:r>
            <a:r>
              <a:rPr lang="en-US" altLang="zh-CN" sz="2400" dirty="0">
                <a:latin typeface="Consolas"/>
                <a:cs typeface="Consolas"/>
              </a:rPr>
              <a:t>.. </a:t>
            </a:r>
          </a:p>
          <a:p>
            <a:pPr marL="349250" lvl="1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&lt;data </a:t>
            </a:r>
            <a:r>
              <a:rPr lang="en-US" altLang="zh-CN" sz="2400" dirty="0" err="1">
                <a:latin typeface="Consolas"/>
                <a:cs typeface="Consolas"/>
              </a:rPr>
              <a:t>android:scheme</a:t>
            </a:r>
            <a:r>
              <a:rPr lang="en-US" altLang="zh-CN" sz="2400" dirty="0" smtClean="0">
                <a:latin typeface="Consolas"/>
                <a:cs typeface="Consolas"/>
              </a:rPr>
              <a:t>=“geo” </a:t>
            </a:r>
            <a:r>
              <a:rPr lang="en-US" altLang="zh-CN" sz="2400" dirty="0">
                <a:latin typeface="Consolas"/>
                <a:cs typeface="Consolas"/>
              </a:rPr>
              <a:t>/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.</a:t>
            </a:r>
            <a:r>
              <a:rPr lang="en-US" altLang="zh-CN" sz="2400" dirty="0">
                <a:latin typeface="Consolas"/>
                <a:cs typeface="Consolas"/>
              </a:rPr>
              <a:t>.. </a:t>
            </a:r>
          </a:p>
          <a:p>
            <a:pPr marL="0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&lt;/intent-filter&gt; 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592903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在</a:t>
            </a:r>
            <a:r>
              <a:rPr kumimoji="1" lang="en-US" altLang="zh-CN" dirty="0" smtClean="0"/>
              <a:t>Intent filter</a:t>
            </a:r>
            <a:r>
              <a:rPr kumimoji="1" lang="zh-CN" altLang="en-US" dirty="0" smtClean="0"/>
              <a:t>中添加</a:t>
            </a:r>
            <a:r>
              <a:rPr kumimoji="1" lang="en-US" altLang="zh-CN" dirty="0" smtClean="0"/>
              <a:t>Category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&lt;intent-filter ...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.</a:t>
            </a:r>
            <a:r>
              <a:rPr lang="en-US" altLang="zh-CN" sz="2400" dirty="0">
                <a:latin typeface="Consolas"/>
                <a:cs typeface="Consolas"/>
              </a:rPr>
              <a:t>.. </a:t>
            </a:r>
          </a:p>
          <a:p>
            <a:pPr marL="349250" lvl="1" indent="0">
              <a:buNone/>
            </a:pPr>
            <a:r>
              <a:rPr lang="en-US" altLang="zh-CN" sz="2400" dirty="0">
                <a:latin typeface="Consolas"/>
                <a:cs typeface="Consolas"/>
              </a:rPr>
              <a:t>&lt;category </a:t>
            </a:r>
            <a:r>
              <a:rPr lang="en-US" altLang="zh-CN" sz="2400" dirty="0" err="1">
                <a:latin typeface="Consolas"/>
                <a:cs typeface="Consolas"/>
              </a:rPr>
              <a:t>android:name</a:t>
            </a:r>
            <a:r>
              <a:rPr lang="en-US" altLang="zh-CN" sz="2400" dirty="0">
                <a:latin typeface="Consolas"/>
                <a:cs typeface="Consolas"/>
              </a:rPr>
              <a:t>="string" /</a:t>
            </a:r>
            <a:r>
              <a:rPr lang="en-US" altLang="zh-CN" sz="2400" dirty="0" smtClean="0">
                <a:latin typeface="Consolas"/>
                <a:cs typeface="Consolas"/>
              </a:rPr>
              <a:t>&gt;</a:t>
            </a:r>
            <a:endParaRPr lang="en-US" altLang="zh-CN" sz="2400" dirty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...</a:t>
            </a:r>
          </a:p>
          <a:p>
            <a:pPr marL="0" indent="0">
              <a:buNone/>
            </a:pPr>
            <a:r>
              <a:rPr lang="en-US" altLang="zh-CN" sz="2400" dirty="0" smtClean="0">
                <a:latin typeface="Consolas"/>
                <a:cs typeface="Consolas"/>
              </a:rPr>
              <a:t>&lt;</a:t>
            </a:r>
            <a:r>
              <a:rPr lang="en-US" altLang="zh-CN" sz="2400" dirty="0">
                <a:latin typeface="Consolas"/>
                <a:cs typeface="Consolas"/>
              </a:rPr>
              <a:t>/intent-filter&gt; </a:t>
            </a:r>
          </a:p>
          <a:p>
            <a:pPr marL="0" indent="0">
              <a:buNone/>
            </a:pP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664029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例子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&lt;intent-filter ...</a:t>
            </a:r>
            <a:r>
              <a:rPr lang="en-US" altLang="zh-CN" sz="20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en-US" altLang="zh-CN" sz="2000" dirty="0" smtClean="0">
                <a:latin typeface="Consolas"/>
                <a:cs typeface="Consolas"/>
              </a:rPr>
              <a:t>&lt;</a:t>
            </a:r>
            <a:r>
              <a:rPr lang="en-US" altLang="zh-CN" sz="2000" dirty="0">
                <a:latin typeface="Consolas"/>
                <a:cs typeface="Consolas"/>
              </a:rPr>
              <a:t>action </a:t>
            </a:r>
            <a:r>
              <a:rPr lang="en-US" altLang="zh-CN" sz="2000" dirty="0" err="1">
                <a:latin typeface="Consolas"/>
                <a:cs typeface="Consolas"/>
              </a:rPr>
              <a:t>android:name</a:t>
            </a:r>
            <a:r>
              <a:rPr lang="en-US" altLang="zh-CN" sz="2000" dirty="0">
                <a:latin typeface="Consolas"/>
                <a:cs typeface="Consolas"/>
              </a:rPr>
              <a:t> = "</a:t>
            </a:r>
            <a:r>
              <a:rPr lang="en-US" altLang="zh-CN" sz="2000" dirty="0" err="1">
                <a:latin typeface="Consolas"/>
                <a:cs typeface="Consolas"/>
              </a:rPr>
              <a:t>android.intent.action.VIEW</a:t>
            </a:r>
            <a:r>
              <a:rPr lang="en-US" altLang="zh-CN" sz="2000" dirty="0">
                <a:latin typeface="Consolas"/>
                <a:cs typeface="Consolas"/>
              </a:rPr>
              <a:t>" /</a:t>
            </a:r>
            <a:r>
              <a:rPr lang="en-US" altLang="zh-CN" sz="2000" dirty="0" smtClean="0">
                <a:latin typeface="Consolas"/>
                <a:cs typeface="Consolas"/>
              </a:rPr>
              <a:t>&gt;</a:t>
            </a:r>
            <a:endParaRPr lang="en-US" altLang="zh-CN" sz="2000" dirty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>
                <a:solidFill>
                  <a:srgbClr val="FF0000"/>
                </a:solidFill>
                <a:latin typeface="Consolas"/>
                <a:cs typeface="Consolas"/>
              </a:rPr>
              <a:t>&lt;category </a:t>
            </a:r>
            <a:r>
              <a:rPr lang="en-US" altLang="zh-CN" sz="2000" dirty="0" err="1">
                <a:solidFill>
                  <a:srgbClr val="FF0000"/>
                </a:solidFill>
                <a:latin typeface="Consolas"/>
                <a:cs typeface="Consolas"/>
              </a:rPr>
              <a:t>android:name</a:t>
            </a:r>
            <a:r>
              <a:rPr lang="en-US" altLang="zh-CN" sz="2000" dirty="0">
                <a:solidFill>
                  <a:srgbClr val="FF0000"/>
                </a:solidFill>
                <a:latin typeface="Consolas"/>
                <a:cs typeface="Consolas"/>
              </a:rPr>
              <a:t> = </a:t>
            </a:r>
            <a:r>
              <a:rPr lang="en-US" altLang="zh-CN" sz="2000" dirty="0" smtClean="0">
                <a:solidFill>
                  <a:srgbClr val="FF0000"/>
                </a:solidFill>
                <a:latin typeface="Consolas"/>
                <a:cs typeface="Consolas"/>
              </a:rPr>
              <a:t>	"</a:t>
            </a:r>
            <a:r>
              <a:rPr lang="en-US" altLang="zh-CN" sz="2000" dirty="0" err="1">
                <a:solidFill>
                  <a:srgbClr val="FF0000"/>
                </a:solidFill>
                <a:latin typeface="Consolas"/>
                <a:cs typeface="Consolas"/>
              </a:rPr>
              <a:t>android.intent.category.DEFAULT</a:t>
            </a:r>
            <a:r>
              <a:rPr lang="en-US" altLang="zh-CN" sz="2000" dirty="0">
                <a:solidFill>
                  <a:srgbClr val="FF0000"/>
                </a:solidFill>
                <a:latin typeface="Consolas"/>
                <a:cs typeface="Consolas"/>
              </a:rPr>
              <a:t>" /</a:t>
            </a:r>
            <a:r>
              <a:rPr lang="en-US" altLang="zh-CN" sz="2000" dirty="0" smtClean="0">
                <a:solidFill>
                  <a:srgbClr val="FF0000"/>
                </a:solidFill>
                <a:latin typeface="Consolas"/>
                <a:cs typeface="Consolas"/>
              </a:rPr>
              <a:t>&gt;</a:t>
            </a:r>
            <a:endParaRPr lang="en-US" altLang="zh-CN" sz="2000" dirty="0">
              <a:solidFill>
                <a:srgbClr val="FF0000"/>
              </a:solidFill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&lt;category </a:t>
            </a:r>
            <a:r>
              <a:rPr lang="en-US" altLang="zh-CN" sz="2000" dirty="0" err="1">
                <a:latin typeface="Consolas"/>
                <a:cs typeface="Consolas"/>
              </a:rPr>
              <a:t>android:name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 smtClean="0">
                <a:latin typeface="Consolas"/>
                <a:cs typeface="Consolas"/>
              </a:rPr>
              <a:t>= 	"</a:t>
            </a:r>
            <a:r>
              <a:rPr lang="en-US" altLang="zh-CN" sz="2000" dirty="0" err="1" smtClean="0">
                <a:latin typeface="Consolas"/>
                <a:cs typeface="Consolas"/>
              </a:rPr>
              <a:t>android.intent.category.BROWSABLE</a:t>
            </a:r>
            <a:r>
              <a:rPr lang="en-US" altLang="zh-CN" sz="2000" dirty="0">
                <a:latin typeface="Consolas"/>
                <a:cs typeface="Consolas"/>
              </a:rPr>
              <a:t>"</a:t>
            </a:r>
            <a:r>
              <a:rPr lang="en-US" altLang="zh-CN" sz="2000" dirty="0" smtClean="0">
                <a:latin typeface="Consolas"/>
                <a:cs typeface="Consolas"/>
              </a:rPr>
              <a:t>/&gt;</a:t>
            </a:r>
            <a:endParaRPr lang="en-US" altLang="zh-CN" sz="2000" dirty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&lt;data </a:t>
            </a:r>
            <a:r>
              <a:rPr lang="en-US" altLang="zh-CN" sz="2000" dirty="0" err="1">
                <a:latin typeface="Consolas"/>
                <a:cs typeface="Consolas"/>
              </a:rPr>
              <a:t>android:scheme</a:t>
            </a:r>
            <a:r>
              <a:rPr lang="en-US" altLang="zh-CN" sz="2000" dirty="0">
                <a:latin typeface="Consolas"/>
                <a:cs typeface="Consolas"/>
              </a:rPr>
              <a:t> = "</a:t>
            </a:r>
            <a:r>
              <a:rPr lang="en-US" altLang="zh-CN" sz="2000" dirty="0" smtClean="0">
                <a:latin typeface="Consolas"/>
                <a:cs typeface="Consolas"/>
              </a:rPr>
              <a:t>geo</a:t>
            </a:r>
            <a:r>
              <a:rPr lang="en-US" altLang="zh-CN" sz="2000" dirty="0">
                <a:latin typeface="Consolas"/>
                <a:cs typeface="Consolas"/>
              </a:rPr>
              <a:t>"</a:t>
            </a:r>
            <a:r>
              <a:rPr lang="en-US" altLang="zh-CN" sz="2000" dirty="0" smtClean="0">
                <a:latin typeface="Consolas"/>
                <a:cs typeface="Consolas"/>
              </a:rPr>
              <a:t>/</a:t>
            </a:r>
            <a:r>
              <a:rPr lang="en-US" altLang="zh-CN" sz="2000" dirty="0">
                <a:latin typeface="Consolas"/>
                <a:cs typeface="Consolas"/>
              </a:rPr>
              <a:t>&gt; </a:t>
            </a:r>
          </a:p>
          <a:p>
            <a:pPr marL="0" indent="0">
              <a:buNone/>
            </a:pPr>
            <a:r>
              <a:rPr lang="en-US" altLang="zh-CN" sz="2000" dirty="0">
                <a:latin typeface="Consolas"/>
                <a:cs typeface="Consolas"/>
              </a:rPr>
              <a:t>&lt;/intent-filter&gt;" </a:t>
            </a:r>
          </a:p>
          <a:p>
            <a:pPr marL="0" indent="0">
              <a:buNone/>
            </a:pPr>
            <a:endParaRPr kumimoji="1" lang="en-US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zh-CN" altLang="en-US" sz="2000" dirty="0" smtClean="0">
                <a:latin typeface="Consolas"/>
                <a:cs typeface="Consolas"/>
              </a:rPr>
              <a:t>为了接收隐式</a:t>
            </a:r>
            <a:r>
              <a:rPr lang="en-US" altLang="zh-CN" sz="2000" dirty="0" smtClean="0">
                <a:latin typeface="Consolas"/>
                <a:cs typeface="Consolas"/>
              </a:rPr>
              <a:t>Intent</a:t>
            </a:r>
            <a:r>
              <a:rPr lang="zh-CN" altLang="en-US" sz="2000" dirty="0" smtClean="0">
                <a:latin typeface="Consolas"/>
                <a:cs typeface="Consolas"/>
              </a:rPr>
              <a:t>，</a:t>
            </a:r>
            <a:r>
              <a:rPr lang="en-US" altLang="zh-CN" sz="2000" dirty="0" smtClean="0">
                <a:latin typeface="Consolas"/>
                <a:cs typeface="Consolas"/>
              </a:rPr>
              <a:t>Activity</a:t>
            </a:r>
            <a:r>
              <a:rPr lang="zh-CN" altLang="en-US" sz="2000" dirty="0" smtClean="0">
                <a:latin typeface="Consolas"/>
                <a:cs typeface="Consolas"/>
              </a:rPr>
              <a:t>必须指定</a:t>
            </a:r>
            <a:r>
              <a:rPr lang="en-US" altLang="zh-CN" sz="2000" dirty="0" smtClean="0">
                <a:latin typeface="Consolas"/>
                <a:cs typeface="Consolas"/>
              </a:rPr>
              <a:t>Category</a:t>
            </a:r>
            <a:r>
              <a:rPr lang="zh-CN" altLang="en-US" sz="2000" dirty="0" smtClean="0">
                <a:latin typeface="Consolas"/>
                <a:cs typeface="Consolas"/>
              </a:rPr>
              <a:t>为</a:t>
            </a:r>
            <a:r>
              <a:rPr lang="en-US" altLang="zh-CN" sz="2000" smtClean="0">
                <a:latin typeface="Consolas"/>
                <a:cs typeface="Consolas"/>
              </a:rPr>
              <a:t>...DEFAULT</a:t>
            </a: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25101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Android</a:t>
            </a:r>
            <a:r>
              <a:rPr kumimoji="1" lang="zh-CN" altLang="en-US" dirty="0" smtClean="0"/>
              <a:t>通过权限来限制对资源和数据的访问</a:t>
            </a:r>
            <a:endParaRPr kumimoji="1" lang="en-US" altLang="zh-CN" dirty="0" smtClean="0"/>
          </a:p>
          <a:p>
            <a:r>
              <a:rPr kumimoji="1" lang="zh-CN" altLang="en-US" dirty="0" smtClean="0"/>
              <a:t>用字符串表示</a:t>
            </a:r>
            <a:endParaRPr kumimoji="1" lang="en-US" altLang="zh-CN" dirty="0" smtClean="0"/>
          </a:p>
          <a:p>
            <a:r>
              <a:rPr lang="zh-CN" altLang="en-US" dirty="0" smtClean="0"/>
              <a:t>在</a:t>
            </a:r>
            <a:r>
              <a:rPr lang="en-US" altLang="zh-CN" dirty="0" err="1" smtClean="0"/>
              <a:t>AndroidManifest.xml</a:t>
            </a:r>
            <a:r>
              <a:rPr lang="zh-CN" altLang="en-US" dirty="0" smtClean="0"/>
              <a:t>中声明权限</a:t>
            </a:r>
            <a:endParaRPr lang="en-US" altLang="zh-CN" dirty="0" smtClean="0"/>
          </a:p>
          <a:p>
            <a:r>
              <a:rPr kumimoji="1" lang="zh-CN" altLang="en-US" dirty="0" smtClean="0"/>
              <a:t>使用自身</a:t>
            </a:r>
            <a:endParaRPr kumimoji="1" lang="en-US" altLang="zh-CN" dirty="0" smtClean="0"/>
          </a:p>
          <a:p>
            <a:r>
              <a:rPr lang="zh-CN" altLang="en-US" dirty="0" smtClean="0"/>
              <a:t>使用其它部件</a:t>
            </a:r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254597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使用权限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用</a:t>
            </a:r>
            <a:r>
              <a:rPr kumimoji="1" lang="en-US" altLang="zh-CN" dirty="0" smtClean="0"/>
              <a:t>&lt;uses-permission&gt;</a:t>
            </a:r>
            <a:r>
              <a:rPr kumimoji="1" lang="zh-CN" altLang="en-US" dirty="0" smtClean="0"/>
              <a:t>指定所需权限</a:t>
            </a:r>
            <a:endParaRPr kumimoji="1" lang="en-US" altLang="zh-CN" dirty="0" smtClean="0"/>
          </a:p>
          <a:p>
            <a:r>
              <a:rPr lang="zh-CN" altLang="en-US" dirty="0" smtClean="0"/>
              <a:t>用户在安装程序时必须接受这些权限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84097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使用权限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</a:t>
            </a:r>
            <a:r>
              <a:rPr lang="fr-FR" altLang="zh-CN" sz="2000" dirty="0" err="1">
                <a:latin typeface="Consolas"/>
                <a:cs typeface="Consolas"/>
              </a:rPr>
              <a:t>manifest</a:t>
            </a:r>
            <a:r>
              <a:rPr lang="fr-FR" altLang="zh-CN" sz="2000" dirty="0">
                <a:latin typeface="Consolas"/>
                <a:cs typeface="Consolas"/>
              </a:rPr>
              <a:t> ... </a:t>
            </a:r>
            <a:r>
              <a:rPr lang="fr-FR" altLang="zh-CN" sz="2000" dirty="0" smtClean="0">
                <a:latin typeface="Consolas"/>
                <a:cs typeface="Consolas"/>
              </a:rPr>
              <a:t>&gt;</a:t>
            </a:r>
          </a:p>
          <a:p>
            <a:pPr marL="349250" lvl="1" indent="0">
              <a:buNone/>
            </a:pPr>
            <a:r>
              <a:rPr lang="fr-FR" altLang="zh-CN" sz="2000" dirty="0" smtClean="0">
                <a:latin typeface="Consolas"/>
                <a:cs typeface="Consolas"/>
              </a:rPr>
              <a:t>... </a:t>
            </a:r>
            <a:endParaRPr lang="fr-FR" altLang="zh-CN" sz="2000" dirty="0">
              <a:latin typeface="Consolas"/>
              <a:cs typeface="Consolas"/>
            </a:endParaRPr>
          </a:p>
          <a:p>
            <a:pPr marL="349250" lvl="1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&lt;uses-permission </a:t>
            </a:r>
            <a:r>
              <a:rPr lang="fr-FR" altLang="zh-CN" sz="2000" dirty="0" err="1">
                <a:latin typeface="Consolas"/>
                <a:cs typeface="Consolas"/>
              </a:rPr>
              <a:t>android:name</a:t>
            </a:r>
            <a:r>
              <a:rPr lang="fr-FR" altLang="zh-CN" sz="2000" dirty="0" smtClean="0">
                <a:latin typeface="Consolas"/>
                <a:cs typeface="Consolas"/>
              </a:rPr>
              <a:t>= 	"</a:t>
            </a:r>
            <a:r>
              <a:rPr lang="fr-FR" altLang="zh-CN" sz="2000" dirty="0" err="1" smtClean="0">
                <a:latin typeface="Consolas"/>
                <a:cs typeface="Consolas"/>
              </a:rPr>
              <a:t>android.permission.CAMERA</a:t>
            </a:r>
            <a:r>
              <a:rPr lang="fr-FR" altLang="zh-CN" sz="2000" dirty="0">
                <a:latin typeface="Consolas"/>
                <a:cs typeface="Consolas"/>
              </a:rPr>
              <a:t>"</a:t>
            </a:r>
            <a:r>
              <a:rPr lang="fr-FR" altLang="zh-CN" sz="2000" dirty="0" smtClean="0">
                <a:latin typeface="Consolas"/>
                <a:cs typeface="Consolas"/>
              </a:rPr>
              <a:t>/</a:t>
            </a:r>
            <a:r>
              <a:rPr lang="fr-FR" altLang="zh-CN" sz="2000" dirty="0">
                <a:latin typeface="Consolas"/>
                <a:cs typeface="Consolas"/>
              </a:rPr>
              <a:t>&gt; </a:t>
            </a:r>
          </a:p>
          <a:p>
            <a:pPr marL="349250" lvl="1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&lt;uses-permission </a:t>
            </a:r>
            <a:r>
              <a:rPr lang="fr-FR" altLang="zh-CN" sz="2000" dirty="0" err="1">
                <a:latin typeface="Consolas"/>
                <a:cs typeface="Consolas"/>
              </a:rPr>
              <a:t>android:name</a:t>
            </a:r>
            <a:r>
              <a:rPr lang="fr-FR" altLang="zh-CN" sz="2000" dirty="0" smtClean="0">
                <a:latin typeface="Consolas"/>
                <a:cs typeface="Consolas"/>
              </a:rPr>
              <a:t>= 	"</a:t>
            </a:r>
            <a:r>
              <a:rPr lang="fr-FR" altLang="zh-CN" sz="2000" dirty="0" err="1" smtClean="0">
                <a:latin typeface="Consolas"/>
                <a:cs typeface="Consolas"/>
              </a:rPr>
              <a:t>android.permission.INTERNET</a:t>
            </a:r>
            <a:r>
              <a:rPr lang="fr-FR" altLang="zh-CN" sz="2000" dirty="0">
                <a:latin typeface="Consolas"/>
                <a:cs typeface="Consolas"/>
              </a:rPr>
              <a:t>"</a:t>
            </a:r>
            <a:r>
              <a:rPr lang="fr-FR" altLang="zh-CN" sz="2000" dirty="0" smtClean="0">
                <a:latin typeface="Consolas"/>
                <a:cs typeface="Consolas"/>
              </a:rPr>
              <a:t>/</a:t>
            </a:r>
            <a:r>
              <a:rPr lang="fr-FR" altLang="zh-CN" sz="2000" dirty="0">
                <a:latin typeface="Consolas"/>
                <a:cs typeface="Consolas"/>
              </a:rPr>
              <a:t>&gt; </a:t>
            </a:r>
          </a:p>
          <a:p>
            <a:pPr marL="349250" lvl="1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&lt;uses-permission </a:t>
            </a:r>
            <a:r>
              <a:rPr lang="fr-FR" altLang="zh-CN" sz="2000" dirty="0" err="1">
                <a:latin typeface="Consolas"/>
                <a:cs typeface="Consolas"/>
              </a:rPr>
              <a:t>android:name</a:t>
            </a:r>
            <a:r>
              <a:rPr lang="fr-FR" altLang="zh-CN" sz="2000" dirty="0" smtClean="0">
                <a:latin typeface="Consolas"/>
                <a:cs typeface="Consolas"/>
              </a:rPr>
              <a:t>= 	"</a:t>
            </a:r>
            <a:r>
              <a:rPr lang="fr-FR" altLang="zh-CN" sz="2000" dirty="0" err="1" smtClean="0">
                <a:latin typeface="Consolas"/>
                <a:cs typeface="Consolas"/>
              </a:rPr>
              <a:t>android.permission.ACCESS_FINE_LOCATION</a:t>
            </a:r>
            <a:r>
              <a:rPr lang="fr-FR" altLang="zh-CN" sz="2000" dirty="0">
                <a:latin typeface="Consolas"/>
                <a:cs typeface="Consolas"/>
              </a:rPr>
              <a:t>"</a:t>
            </a:r>
            <a:r>
              <a:rPr lang="fr-FR" altLang="zh-CN" sz="2000" dirty="0" smtClean="0">
                <a:latin typeface="Consolas"/>
                <a:cs typeface="Consolas"/>
              </a:rPr>
              <a:t>/</a:t>
            </a:r>
            <a:r>
              <a:rPr lang="fr-FR" altLang="zh-CN" sz="2000" dirty="0">
                <a:latin typeface="Consolas"/>
                <a:cs typeface="Consolas"/>
              </a:rPr>
              <a:t>&gt; </a:t>
            </a:r>
          </a:p>
          <a:p>
            <a:pPr marL="349250" lvl="1" indent="0">
              <a:buNone/>
            </a:pPr>
            <a:r>
              <a:rPr lang="fr-FR" altLang="zh-CN" sz="2000" dirty="0">
                <a:latin typeface="Consolas"/>
                <a:cs typeface="Consolas"/>
              </a:rPr>
              <a:t>... </a:t>
            </a:r>
            <a:endParaRPr lang="fr-FR" altLang="zh-CN" sz="2000" dirty="0" smtClean="0">
              <a:latin typeface="Consolas"/>
              <a:cs typeface="Consolas"/>
            </a:endParaRPr>
          </a:p>
          <a:p>
            <a:pPr marL="0" indent="0">
              <a:buNone/>
            </a:pPr>
            <a:r>
              <a:rPr lang="fr-FR" altLang="zh-CN" sz="2000" dirty="0" smtClean="0">
                <a:latin typeface="Consolas"/>
                <a:cs typeface="Consolas"/>
              </a:rPr>
              <a:t>&lt;</a:t>
            </a:r>
            <a:r>
              <a:rPr lang="fr-FR" altLang="zh-CN" sz="2000" dirty="0">
                <a:latin typeface="Consolas"/>
                <a:cs typeface="Consolas"/>
              </a:rPr>
              <a:t>/</a:t>
            </a:r>
            <a:r>
              <a:rPr lang="fr-FR" altLang="zh-CN" sz="2000" dirty="0" err="1">
                <a:latin typeface="Consolas"/>
                <a:cs typeface="Consolas"/>
              </a:rPr>
              <a:t>manifest</a:t>
            </a:r>
            <a:r>
              <a:rPr lang="fr-FR" altLang="zh-CN" sz="2000" dirty="0">
                <a:latin typeface="Consolas"/>
                <a:cs typeface="Consolas"/>
              </a:rPr>
              <a:t> &gt; </a:t>
            </a:r>
          </a:p>
          <a:p>
            <a:pPr marL="0" indent="0">
              <a:buNone/>
            </a:pPr>
            <a:endParaRPr kumimoji="1" lang="zh-CN" altLang="en-US" sz="2000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7925672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定义权限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zh-CN" dirty="0" smtClean="0"/>
              <a:t>App</a:t>
            </a:r>
            <a:r>
              <a:rPr kumimoji="1" lang="zh-CN" altLang="en-US" dirty="0" smtClean="0"/>
              <a:t>可以定义和使用自己的权限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173759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部件权限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单独的部件可以设置自己的权限，限制其它部件访问自己</a:t>
            </a:r>
            <a:endParaRPr kumimoji="1" lang="en-US" altLang="zh-CN" dirty="0" smtClean="0"/>
          </a:p>
          <a:p>
            <a:r>
              <a:rPr lang="zh-CN" altLang="en-US" dirty="0" smtClean="0"/>
              <a:t>部件权限优先于应用程序层权限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765267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Activity</a:t>
            </a:r>
            <a:r>
              <a:rPr kumimoji="1" lang="zh-CN" altLang="en-US" dirty="0" smtClean="0"/>
              <a:t>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限制哪些部件能启动</a:t>
            </a:r>
            <a:r>
              <a:rPr kumimoji="1" lang="en-US" altLang="zh-CN" dirty="0" smtClean="0"/>
              <a:t>Activity</a:t>
            </a:r>
          </a:p>
          <a:p>
            <a:r>
              <a:rPr lang="zh-CN" altLang="en-US" dirty="0" smtClean="0"/>
              <a:t>在执行下列函数时检查</a:t>
            </a:r>
            <a:endParaRPr lang="en-US" altLang="zh-CN" dirty="0"/>
          </a:p>
          <a:p>
            <a:pPr lvl="1"/>
            <a:r>
              <a:rPr lang="en-US" altLang="zh-CN" dirty="0" err="1" smtClean="0"/>
              <a:t>startActivity</a:t>
            </a:r>
            <a:r>
              <a:rPr lang="en-US" altLang="zh-CN" dirty="0" smtClean="0"/>
              <a:t>()</a:t>
            </a:r>
            <a:endParaRPr lang="en-US" altLang="zh-CN" dirty="0"/>
          </a:p>
          <a:p>
            <a:pPr lvl="1"/>
            <a:r>
              <a:rPr lang="en-US" altLang="zh-CN" dirty="0" err="1" smtClean="0"/>
              <a:t>startActivityForResult</a:t>
            </a:r>
            <a:r>
              <a:rPr lang="en-US" altLang="zh-CN" dirty="0" smtClean="0"/>
              <a:t>()</a:t>
            </a:r>
          </a:p>
          <a:p>
            <a:r>
              <a:rPr kumimoji="1" lang="zh-CN" altLang="en-US" dirty="0" smtClean="0"/>
              <a:t>权限检查失败时，抛出</a:t>
            </a:r>
            <a:r>
              <a:rPr kumimoji="1" lang="en-US" altLang="zh-CN" dirty="0" err="1" smtClean="0"/>
              <a:t>SecurityException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82494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Service</a:t>
            </a:r>
            <a:r>
              <a:rPr kumimoji="1" lang="zh-CN" altLang="en-US" dirty="0" smtClean="0"/>
              <a:t>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限制哪些部件能够启动或绑定对应的服务</a:t>
            </a:r>
            <a:endParaRPr kumimoji="1" lang="en-US" altLang="zh-CN" dirty="0" smtClean="0"/>
          </a:p>
          <a:p>
            <a:r>
              <a:rPr lang="zh-CN" altLang="en-US" dirty="0" smtClean="0"/>
              <a:t>在执行下列函数时检查</a:t>
            </a:r>
            <a:endParaRPr lang="en-US" altLang="zh-CN" dirty="0" smtClean="0"/>
          </a:p>
          <a:p>
            <a:pPr lvl="1"/>
            <a:r>
              <a:rPr kumimoji="1" lang="en-US" altLang="zh-CN" dirty="0" err="1" smtClean="0"/>
              <a:t>Context.startService</a:t>
            </a:r>
            <a:r>
              <a:rPr kumimoji="1" lang="en-US" altLang="zh-CN" dirty="0" smtClean="0"/>
              <a:t>()</a:t>
            </a:r>
          </a:p>
          <a:p>
            <a:pPr lvl="1"/>
            <a:r>
              <a:rPr lang="en-US" altLang="zh-CN" dirty="0" err="1" smtClean="0"/>
              <a:t>Context.stopService</a:t>
            </a:r>
            <a:r>
              <a:rPr lang="en-US" altLang="zh-CN" dirty="0" smtClean="0"/>
              <a:t>()</a:t>
            </a:r>
          </a:p>
          <a:p>
            <a:pPr lvl="1"/>
            <a:r>
              <a:rPr kumimoji="1" lang="en-US" altLang="zh-CN" dirty="0" err="1" smtClean="0"/>
              <a:t>Context.bindService</a:t>
            </a:r>
            <a:r>
              <a:rPr kumimoji="1" lang="en-US" altLang="zh-CN" dirty="0" smtClean="0"/>
              <a:t>()</a:t>
            </a:r>
          </a:p>
          <a:p>
            <a:r>
              <a:rPr lang="zh-CN" altLang="en-US" dirty="0"/>
              <a:t>权限检查失败时，抛出</a:t>
            </a:r>
            <a:r>
              <a:rPr lang="en-US" altLang="zh-CN" dirty="0" err="1"/>
              <a:t>SecurityException</a:t>
            </a:r>
            <a:endParaRPr lang="zh-CN" altLang="en-US" dirty="0"/>
          </a:p>
          <a:p>
            <a:pPr lvl="1"/>
            <a:endParaRPr kumimoji="1" lang="en-US" altLang="zh-CN" dirty="0" smtClean="0"/>
          </a:p>
          <a:p>
            <a:pPr lvl="1"/>
            <a:endParaRPr kumimoji="1" lang="en-US" altLang="zh-CN" dirty="0" smtClean="0"/>
          </a:p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37517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BroadcastReceiver</a:t>
            </a:r>
            <a:r>
              <a:rPr kumimoji="1" lang="zh-CN" altLang="en-US" dirty="0" smtClean="0"/>
              <a:t>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限制哪些部件可以发送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接收广播</a:t>
            </a:r>
            <a:endParaRPr kumimoji="1" lang="en-US" altLang="zh-CN" dirty="0" smtClean="0"/>
          </a:p>
          <a:p>
            <a:r>
              <a:rPr lang="zh-CN" altLang="en-US" dirty="0" smtClean="0"/>
              <a:t>在多处进行检查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0646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ContentProvider</a:t>
            </a:r>
            <a:r>
              <a:rPr kumimoji="1" lang="zh-CN" altLang="en-US" dirty="0" smtClean="0"/>
              <a:t>权限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 dirty="0" smtClean="0"/>
              <a:t>限制哪些部件可以读</a:t>
            </a:r>
            <a:r>
              <a:rPr kumimoji="1" lang="en-US" altLang="zh-CN" dirty="0" smtClean="0"/>
              <a:t>/</a:t>
            </a:r>
            <a:r>
              <a:rPr kumimoji="1" lang="zh-CN" altLang="en-US" dirty="0" smtClean="0"/>
              <a:t>写</a:t>
            </a:r>
            <a:r>
              <a:rPr kumimoji="1" lang="en-US" altLang="zh-CN" dirty="0" err="1" smtClean="0"/>
              <a:t>ContentProvider</a:t>
            </a:r>
            <a:r>
              <a:rPr kumimoji="1" lang="zh-CN" altLang="en-US" dirty="0" smtClean="0"/>
              <a:t>中的数据</a:t>
            </a:r>
            <a:endParaRPr kumimoji="1" lang="en-US" altLang="zh-CN" dirty="0" smtClean="0"/>
          </a:p>
          <a:p>
            <a:pPr marL="0" indent="0">
              <a:buNone/>
            </a:pP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1177086"/>
      </p:ext>
    </p:extLst>
  </p:cSld>
  <p:clrMapOvr>
    <a:masterClrMapping/>
  </p:clrMapOvr>
</p:sld>
</file>

<file path=ppt/theme/theme1.xml><?xml version="1.0" encoding="utf-8"?>
<a:theme xmlns:a="http://schemas.openxmlformats.org/drawingml/2006/main" name="Android">
  <a:themeElements>
    <a:clrScheme name="Network 10">
      <a:dk1>
        <a:srgbClr val="000000"/>
      </a:dk1>
      <a:lt1>
        <a:srgbClr val="FFFFFF"/>
      </a:lt1>
      <a:dk2>
        <a:srgbClr val="330066"/>
      </a:dk2>
      <a:lt2>
        <a:srgbClr val="808080"/>
      </a:lt2>
      <a:accent1>
        <a:srgbClr val="CCCC00"/>
      </a:accent1>
      <a:accent2>
        <a:srgbClr val="669999"/>
      </a:accent2>
      <a:accent3>
        <a:srgbClr val="FFFFFF"/>
      </a:accent3>
      <a:accent4>
        <a:srgbClr val="000000"/>
      </a:accent4>
      <a:accent5>
        <a:srgbClr val="E2E2AA"/>
      </a:accent5>
      <a:accent6>
        <a:srgbClr val="5C8A8A"/>
      </a:accent6>
      <a:hlink>
        <a:srgbClr val="7E9CE8"/>
      </a:hlink>
      <a:folHlink>
        <a:srgbClr val="D8D8EC"/>
      </a:folHlink>
    </a:clrScheme>
    <a:fontScheme name="Networ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Network 1">
        <a:dk1>
          <a:srgbClr val="4F747B"/>
        </a:dk1>
        <a:lt1>
          <a:srgbClr val="FFFFFF"/>
        </a:lt1>
        <a:dk2>
          <a:srgbClr val="000000"/>
        </a:dk2>
        <a:lt2>
          <a:srgbClr val="C0C0C0"/>
        </a:lt2>
        <a:accent1>
          <a:srgbClr val="859868"/>
        </a:accent1>
        <a:accent2>
          <a:srgbClr val="5F5F5F"/>
        </a:accent2>
        <a:accent3>
          <a:srgbClr val="AAAAAA"/>
        </a:accent3>
        <a:accent4>
          <a:srgbClr val="DADADA"/>
        </a:accent4>
        <a:accent5>
          <a:srgbClr val="C2CAB9"/>
        </a:accent5>
        <a:accent6>
          <a:srgbClr val="555555"/>
        </a:accent6>
        <a:hlink>
          <a:srgbClr val="5F5F5F"/>
        </a:hlink>
        <a:folHlink>
          <a:srgbClr val="BA121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2">
        <a:dk1>
          <a:srgbClr val="3C0000"/>
        </a:dk1>
        <a:lt1>
          <a:srgbClr val="FFFFFF"/>
        </a:lt1>
        <a:dk2>
          <a:srgbClr val="4D0B0B"/>
        </a:dk2>
        <a:lt2>
          <a:srgbClr val="FFFFFF"/>
        </a:lt2>
        <a:accent1>
          <a:srgbClr val="666633"/>
        </a:accent1>
        <a:accent2>
          <a:srgbClr val="CC3300"/>
        </a:accent2>
        <a:accent3>
          <a:srgbClr val="B2AAAA"/>
        </a:accent3>
        <a:accent4>
          <a:srgbClr val="DADADA"/>
        </a:accent4>
        <a:accent5>
          <a:srgbClr val="B8B8AD"/>
        </a:accent5>
        <a:accent6>
          <a:srgbClr val="B92D00"/>
        </a:accent6>
        <a:hlink>
          <a:srgbClr val="CC9900"/>
        </a:hlink>
        <a:folHlink>
          <a:srgbClr val="CCCC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3">
        <a:dk1>
          <a:srgbClr val="666699"/>
        </a:dk1>
        <a:lt1>
          <a:srgbClr val="FFFFFF"/>
        </a:lt1>
        <a:dk2>
          <a:srgbClr val="15192B"/>
        </a:dk2>
        <a:lt2>
          <a:srgbClr val="CCCCFF"/>
        </a:lt2>
        <a:accent1>
          <a:srgbClr val="4F893D"/>
        </a:accent1>
        <a:accent2>
          <a:srgbClr val="666699"/>
        </a:accent2>
        <a:accent3>
          <a:srgbClr val="AAABAC"/>
        </a:accent3>
        <a:accent4>
          <a:srgbClr val="DADADA"/>
        </a:accent4>
        <a:accent5>
          <a:srgbClr val="B2C4AF"/>
        </a:accent5>
        <a:accent6>
          <a:srgbClr val="5C5C8A"/>
        </a:accent6>
        <a:hlink>
          <a:srgbClr val="CC9900"/>
        </a:hlink>
        <a:folHlink>
          <a:srgbClr val="4837C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4">
        <a:dk1>
          <a:srgbClr val="666699"/>
        </a:dk1>
        <a:lt1>
          <a:srgbClr val="FFFFFF"/>
        </a:lt1>
        <a:dk2>
          <a:srgbClr val="86001A"/>
        </a:dk2>
        <a:lt2>
          <a:srgbClr val="CCCC66"/>
        </a:lt2>
        <a:accent1>
          <a:srgbClr val="FF3300"/>
        </a:accent1>
        <a:accent2>
          <a:srgbClr val="FF6600"/>
        </a:accent2>
        <a:accent3>
          <a:srgbClr val="C3AAAB"/>
        </a:accent3>
        <a:accent4>
          <a:srgbClr val="DADADA"/>
        </a:accent4>
        <a:accent5>
          <a:srgbClr val="FFADAA"/>
        </a:accent5>
        <a:accent6>
          <a:srgbClr val="E75C00"/>
        </a:accent6>
        <a:hlink>
          <a:srgbClr val="CC9900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5">
        <a:dk1>
          <a:srgbClr val="666699"/>
        </a:dk1>
        <a:lt1>
          <a:srgbClr val="FFFFFF"/>
        </a:lt1>
        <a:dk2>
          <a:srgbClr val="000054"/>
        </a:dk2>
        <a:lt2>
          <a:srgbClr val="FFFFFF"/>
        </a:lt2>
        <a:accent1>
          <a:srgbClr val="3333FF"/>
        </a:accent1>
        <a:accent2>
          <a:srgbClr val="006699"/>
        </a:accent2>
        <a:accent3>
          <a:srgbClr val="AAAAB3"/>
        </a:accent3>
        <a:accent4>
          <a:srgbClr val="DADADA"/>
        </a:accent4>
        <a:accent5>
          <a:srgbClr val="ADADFF"/>
        </a:accent5>
        <a:accent6>
          <a:srgbClr val="005C8A"/>
        </a:accent6>
        <a:hlink>
          <a:srgbClr val="669900"/>
        </a:hlink>
        <a:folHlink>
          <a:srgbClr val="0000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6">
        <a:dk1>
          <a:srgbClr val="808080"/>
        </a:dk1>
        <a:lt1>
          <a:srgbClr val="FFFFFF"/>
        </a:lt1>
        <a:dk2>
          <a:srgbClr val="30054B"/>
        </a:dk2>
        <a:lt2>
          <a:srgbClr val="FFFFFF"/>
        </a:lt2>
        <a:accent1>
          <a:srgbClr val="797B9B"/>
        </a:accent1>
        <a:accent2>
          <a:srgbClr val="6B4FB1"/>
        </a:accent2>
        <a:accent3>
          <a:srgbClr val="ADAAB1"/>
        </a:accent3>
        <a:accent4>
          <a:srgbClr val="DADADA"/>
        </a:accent4>
        <a:accent5>
          <a:srgbClr val="BEBFCB"/>
        </a:accent5>
        <a:accent6>
          <a:srgbClr val="6047A0"/>
        </a:accent6>
        <a:hlink>
          <a:srgbClr val="7AACCE"/>
        </a:hlink>
        <a:folHlink>
          <a:srgbClr val="D8D8E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7">
        <a:dk1>
          <a:srgbClr val="808080"/>
        </a:dk1>
        <a:lt1>
          <a:srgbClr val="FFFFCC"/>
        </a:lt1>
        <a:dk2>
          <a:srgbClr val="29527B"/>
        </a:dk2>
        <a:lt2>
          <a:srgbClr val="FFFFFF"/>
        </a:lt2>
        <a:accent1>
          <a:srgbClr val="CCCC00"/>
        </a:accent1>
        <a:accent2>
          <a:srgbClr val="669999"/>
        </a:accent2>
        <a:accent3>
          <a:srgbClr val="ACB3BF"/>
        </a:accent3>
        <a:accent4>
          <a:srgbClr val="DADAAE"/>
        </a:accent4>
        <a:accent5>
          <a:srgbClr val="E2E2AA"/>
        </a:accent5>
        <a:accent6>
          <a:srgbClr val="5C8A8A"/>
        </a:accent6>
        <a:hlink>
          <a:srgbClr val="D8D8EC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8">
        <a:dk1>
          <a:srgbClr val="666699"/>
        </a:dk1>
        <a:lt1>
          <a:srgbClr val="FFFFFF"/>
        </a:lt1>
        <a:dk2>
          <a:srgbClr val="476949"/>
        </a:dk2>
        <a:lt2>
          <a:srgbClr val="FFFFFF"/>
        </a:lt2>
        <a:accent1>
          <a:srgbClr val="CC6600"/>
        </a:accent1>
        <a:accent2>
          <a:srgbClr val="CC9900"/>
        </a:accent2>
        <a:accent3>
          <a:srgbClr val="B1B9B1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452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work 9">
        <a:dk1>
          <a:srgbClr val="000000"/>
        </a:dk1>
        <a:lt1>
          <a:srgbClr val="FFFFFF"/>
        </a:lt1>
        <a:dk2>
          <a:srgbClr val="7C1302"/>
        </a:dk2>
        <a:lt2>
          <a:srgbClr val="CC9900"/>
        </a:lt2>
        <a:accent1>
          <a:srgbClr val="CC9900"/>
        </a:accent1>
        <a:accent2>
          <a:srgbClr val="CC3300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B92D00"/>
        </a:accent6>
        <a:hlink>
          <a:srgbClr val="808080"/>
        </a:hlink>
        <a:folHlink>
          <a:srgbClr val="CC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work 10">
        <a:dk1>
          <a:srgbClr val="000000"/>
        </a:dk1>
        <a:lt1>
          <a:srgbClr val="FFFFFF"/>
        </a:lt1>
        <a:dk2>
          <a:srgbClr val="330066"/>
        </a:dk2>
        <a:lt2>
          <a:srgbClr val="808080"/>
        </a:lt2>
        <a:accent1>
          <a:srgbClr val="CCCC00"/>
        </a:accent1>
        <a:accent2>
          <a:srgbClr val="669999"/>
        </a:accent2>
        <a:accent3>
          <a:srgbClr val="FFFFFF"/>
        </a:accent3>
        <a:accent4>
          <a:srgbClr val="000000"/>
        </a:accent4>
        <a:accent5>
          <a:srgbClr val="E2E2AA"/>
        </a:accent5>
        <a:accent6>
          <a:srgbClr val="5C8A8A"/>
        </a:accent6>
        <a:hlink>
          <a:srgbClr val="7E9CE8"/>
        </a:hlink>
        <a:folHlink>
          <a:srgbClr val="D8D8E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Android.thmx</Template>
  <TotalTime>457</TotalTime>
  <Words>789</Words>
  <Application>Microsoft Macintosh PowerPoint</Application>
  <PresentationFormat>全屏显示(4:3)</PresentationFormat>
  <Paragraphs>218</Paragraphs>
  <Slides>35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36" baseType="lpstr">
      <vt:lpstr>Android</vt:lpstr>
      <vt:lpstr>活动（Activity）</vt:lpstr>
      <vt:lpstr>Intent（意图） 类</vt:lpstr>
      <vt:lpstr>使用Intent</vt:lpstr>
      <vt:lpstr>用 Intent 执行操作</vt:lpstr>
      <vt:lpstr>Intent 字段</vt:lpstr>
      <vt:lpstr>Action</vt:lpstr>
      <vt:lpstr>设置 Intent Action</vt:lpstr>
      <vt:lpstr>Data</vt:lpstr>
      <vt:lpstr>设置Intent Data</vt:lpstr>
      <vt:lpstr>Category</vt:lpstr>
      <vt:lpstr>Type</vt:lpstr>
      <vt:lpstr>设置Type</vt:lpstr>
      <vt:lpstr>Component</vt:lpstr>
      <vt:lpstr>Extras</vt:lpstr>
      <vt:lpstr>Flags</vt:lpstr>
      <vt:lpstr>用Intent启动Activity</vt:lpstr>
      <vt:lpstr>目标Activity</vt:lpstr>
      <vt:lpstr>显示设定</vt:lpstr>
      <vt:lpstr>隐式设定</vt:lpstr>
      <vt:lpstr>Intent Resolution数据</vt:lpstr>
      <vt:lpstr>设置Intent filter</vt:lpstr>
      <vt:lpstr>设置Intent filter</vt:lpstr>
      <vt:lpstr>为Intent filter添加数据</vt:lpstr>
      <vt:lpstr>处理地理信息数据</vt:lpstr>
      <vt:lpstr>在Intent filter中添加Category</vt:lpstr>
      <vt:lpstr>例子</vt:lpstr>
      <vt:lpstr>权限</vt:lpstr>
      <vt:lpstr>使用权限</vt:lpstr>
      <vt:lpstr>使用权限</vt:lpstr>
      <vt:lpstr>定义权限</vt:lpstr>
      <vt:lpstr>部件权限</vt:lpstr>
      <vt:lpstr>Activity权限</vt:lpstr>
      <vt:lpstr>Service权限</vt:lpstr>
      <vt:lpstr>BroadcastReceiver权限</vt:lpstr>
      <vt:lpstr>ContentProvider权限</vt:lpstr>
    </vt:vector>
  </TitlesOfParts>
  <Company>zjgsu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高级界面开发技术</dc:title>
  <dc:creator>韩 建伟</dc:creator>
  <cp:lastModifiedBy>韩 建伟</cp:lastModifiedBy>
  <cp:revision>112</cp:revision>
  <dcterms:created xsi:type="dcterms:W3CDTF">2014-03-19T09:45:28Z</dcterms:created>
  <dcterms:modified xsi:type="dcterms:W3CDTF">2014-05-07T10:57:41Z</dcterms:modified>
</cp:coreProperties>
</file>