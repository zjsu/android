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256" r:id="rId2"/>
    <p:sldId id="257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4" d="100"/>
          <a:sy n="164" d="100"/>
        </p:scale>
        <p:origin x="-16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52788E-920F-CE45-A42C-2912AE95B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1" name="Picture 14" descr="http://www.proxware.com/images/androids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2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3A2631-CD88-3F4A-A679-6755E9B60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6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64A71-A839-6C46-B23C-C4A015415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9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A287B-F597-C34A-B53D-3745A3ADFA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63020-8294-4E49-8846-1859E6958C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9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7AAE4-C7DD-954E-A038-5FD024DDB7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7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B447B-4A0C-9443-8659-011B4ECC1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E71B0-91E5-124F-89E5-BE92CA8A13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3A310-F2CC-9C41-9D10-9057A6081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B01D-A8D8-AB4F-BBEC-64EF1CE1DA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2FFE2-9D2F-7045-9357-FC3B59393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04EAB-3125-634C-8117-D2D3864A3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2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smtClean="0">
                <a:cs typeface="+mn-cs"/>
              </a:defRPr>
            </a:lvl1pPr>
          </a:lstStyle>
          <a:p>
            <a:pPr>
              <a:defRPr/>
            </a:pPr>
            <a:fld id="{8E3EC168-5257-474A-932D-F55C0BD9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高级界面开发技术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8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（意图）</a:t>
            </a:r>
            <a:r>
              <a:rPr kumimoji="1" lang="en-US" altLang="zh-CN" dirty="0" smtClean="0"/>
              <a:t> </a:t>
            </a:r>
            <a:r>
              <a:rPr kumimoji="1" lang="zh-CN" altLang="en-US" dirty="0" smtClean="0"/>
              <a:t>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即将执行的操作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本节课的重点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用来启动一个</a:t>
            </a:r>
            <a:r>
              <a:rPr kumimoji="1" lang="en-US" altLang="zh-CN" dirty="0" smtClean="0"/>
              <a:t>Activity</a:t>
            </a:r>
          </a:p>
          <a:p>
            <a:r>
              <a:rPr lang="zh-CN" altLang="en-US" dirty="0" smtClean="0"/>
              <a:t>发生的事件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事件通知（</a:t>
            </a:r>
            <a:r>
              <a:rPr lang="en-US" altLang="zh-CN" dirty="0" err="1" smtClean="0"/>
              <a:t>BroadcastReceiver</a:t>
            </a:r>
            <a:r>
              <a:rPr lang="zh-CN" altLang="zh-CN" dirty="0"/>
              <a:t>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552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使用</a:t>
            </a:r>
            <a:r>
              <a:rPr kumimoji="1" lang="en-US" altLang="zh-CN" dirty="0" smtClean="0"/>
              <a:t>Intent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startActivity</a:t>
            </a:r>
            <a:r>
              <a:rPr kumimoji="1" lang="en-US" altLang="zh-CN" dirty="0" smtClean="0"/>
              <a:t>()</a:t>
            </a:r>
          </a:p>
          <a:p>
            <a:r>
              <a:rPr lang="en-US" altLang="zh-CN" dirty="0" err="1" smtClean="0"/>
              <a:t>startActivityForResult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1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 Intent </a:t>
            </a:r>
            <a:r>
              <a:rPr kumimoji="1" lang="zh-CN" altLang="en-US" dirty="0" smtClean="0"/>
              <a:t>执行操作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提供了一套灵活的方式，用于执行指定的操作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选择联系人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拍照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打电话</a:t>
            </a:r>
            <a:endParaRPr kumimoji="1" lang="en-US" altLang="zh-CN" dirty="0" smtClean="0"/>
          </a:p>
          <a:p>
            <a:pPr lvl="1"/>
            <a:r>
              <a:rPr lang="zh-CN" altLang="zh-CN" dirty="0"/>
              <a:t>…</a:t>
            </a:r>
            <a:r>
              <a:rPr lang="zh-CN" altLang="zh-CN" dirty="0" smtClean="0"/>
              <a:t>…</a:t>
            </a:r>
            <a:endParaRPr lang="en-US" altLang="zh-CN" dirty="0" smtClean="0"/>
          </a:p>
          <a:p>
            <a:r>
              <a:rPr kumimoji="1" lang="zh-CN" altLang="en-US" dirty="0" smtClean="0"/>
              <a:t>由需要完成操作的部件构建</a:t>
            </a:r>
            <a:endParaRPr kumimoji="1" lang="en-US" altLang="zh-CN" dirty="0" smtClean="0"/>
          </a:p>
          <a:p>
            <a:r>
              <a:rPr lang="zh-CN" altLang="en-US" dirty="0" smtClean="0"/>
              <a:t>由具体执行操作的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接收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309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Intent </a:t>
            </a:r>
            <a:r>
              <a:rPr kumimoji="1" lang="zh-CN" altLang="en-US" dirty="0" smtClean="0"/>
              <a:t>字段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Action</a:t>
            </a:r>
          </a:p>
          <a:p>
            <a:r>
              <a:rPr lang="en-US" altLang="zh-CN" dirty="0" smtClean="0"/>
              <a:t>Data</a:t>
            </a:r>
          </a:p>
          <a:p>
            <a:r>
              <a:rPr kumimoji="1" lang="en-US" altLang="zh-CN" dirty="0" smtClean="0"/>
              <a:t>Category</a:t>
            </a:r>
          </a:p>
          <a:p>
            <a:r>
              <a:rPr lang="en-US" altLang="zh-CN" dirty="0" smtClean="0"/>
              <a:t>Type</a:t>
            </a:r>
          </a:p>
          <a:p>
            <a:r>
              <a:rPr kumimoji="1" lang="en-US" altLang="zh-CN" dirty="0" smtClean="0"/>
              <a:t>Component</a:t>
            </a:r>
          </a:p>
          <a:p>
            <a:r>
              <a:rPr lang="en-US" altLang="zh-CN" dirty="0" smtClean="0"/>
              <a:t>Extras</a:t>
            </a:r>
          </a:p>
          <a:p>
            <a:r>
              <a:rPr kumimoji="1" lang="en-US" altLang="zh-CN" dirty="0" smtClean="0"/>
              <a:t>Flags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52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表示目标操作的字符串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ACTION_DIAL</a:t>
            </a:r>
          </a:p>
          <a:p>
            <a:pPr lvl="2"/>
            <a:r>
              <a:rPr kumimoji="1" lang="zh-CN" altLang="en-US" dirty="0" smtClean="0"/>
              <a:t>拨打电话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ACTION_EDIT</a:t>
            </a:r>
          </a:p>
          <a:p>
            <a:pPr lvl="2"/>
            <a:r>
              <a:rPr kumimoji="1" lang="zh-CN" altLang="en-US" dirty="0" smtClean="0"/>
              <a:t>显示要编辑的数据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ACTION_SYNC</a:t>
            </a:r>
          </a:p>
          <a:p>
            <a:pPr lvl="2"/>
            <a:r>
              <a:rPr lang="zh-CN" altLang="en-US" dirty="0" smtClean="0"/>
              <a:t>和服务器同步设备数据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ACTION_MAIN</a:t>
            </a:r>
          </a:p>
          <a:p>
            <a:pPr lvl="2"/>
            <a:r>
              <a:rPr lang="zh-CN" altLang="en-US" dirty="0" smtClean="0"/>
              <a:t>作为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的初始</a:t>
            </a:r>
            <a:r>
              <a:rPr lang="en-US" altLang="zh-CN" dirty="0" smtClean="0"/>
              <a:t>Activity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772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设置</a:t>
            </a:r>
            <a:r>
              <a:rPr kumimoji="1" lang="en-US" altLang="zh-CN" dirty="0"/>
              <a:t> </a:t>
            </a:r>
            <a:r>
              <a:rPr kumimoji="1" lang="en-US" altLang="zh-CN" dirty="0" smtClean="0"/>
              <a:t>Intent Action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</a:t>
            </a:r>
            <a:r>
              <a:rPr lang="en-US" altLang="zh-CN" sz="2000" dirty="0" err="1">
                <a:latin typeface="Consolas"/>
                <a:cs typeface="Consolas"/>
              </a:rPr>
              <a:t>Intent.ACTION_DIAL</a:t>
            </a:r>
            <a:r>
              <a:rPr lang="en-US" altLang="zh-CN" sz="2000" dirty="0">
                <a:latin typeface="Consolas"/>
                <a:cs typeface="Consolas"/>
              </a:rPr>
              <a:t>)</a:t>
            </a:r>
            <a:r>
              <a:rPr lang="en-US" altLang="zh-CN" sz="2000" dirty="0" smtClean="0">
                <a:latin typeface="Consolas"/>
                <a:cs typeface="Consolas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Consolas"/>
                <a:cs typeface="Consolas"/>
              </a:rPr>
              <a:t>或者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Intent(); </a:t>
            </a:r>
            <a:r>
              <a:rPr lang="en-US" altLang="zh-CN" sz="2000" dirty="0" err="1">
                <a:latin typeface="Consolas"/>
                <a:cs typeface="Consolas"/>
              </a:rPr>
              <a:t>newInt.setAction</a:t>
            </a:r>
            <a:r>
              <a:rPr lang="en-US" altLang="zh-CN" sz="2000" dirty="0">
                <a:latin typeface="Consolas"/>
                <a:cs typeface="Consolas"/>
              </a:rPr>
              <a:t>(</a:t>
            </a:r>
            <a:r>
              <a:rPr lang="en-US" altLang="zh-CN" sz="2000" dirty="0" err="1">
                <a:latin typeface="Consolas"/>
                <a:cs typeface="Consolas"/>
              </a:rPr>
              <a:t>Intent.ACTION_DIAL</a:t>
            </a:r>
            <a:r>
              <a:rPr lang="en-US" altLang="zh-CN" sz="2000" dirty="0">
                <a:latin typeface="Consolas"/>
                <a:cs typeface="Consolas"/>
              </a:rPr>
              <a:t>);</a:t>
            </a:r>
          </a:p>
          <a:p>
            <a:pPr marL="0" indent="0">
              <a:buNone/>
            </a:pP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48870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Data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和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相关联的数据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URI</a:t>
            </a:r>
            <a:r>
              <a:rPr lang="zh-CN" altLang="en-US" dirty="0" smtClean="0"/>
              <a:t>格式表示</a:t>
            </a:r>
            <a:endParaRPr lang="en-US" altLang="zh-CN" dirty="0"/>
          </a:p>
          <a:p>
            <a:r>
              <a:rPr lang="zh-CN" altLang="en-US" dirty="0" smtClean="0"/>
              <a:t>在地图上显示的数据</a:t>
            </a:r>
            <a:endParaRPr lang="en-US" altLang="zh-CN" dirty="0" smtClean="0"/>
          </a:p>
          <a:p>
            <a:pPr marL="0" indent="0">
              <a:buNone/>
            </a:pPr>
            <a:endParaRPr kumimoji="1"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000" dirty="0" err="1" smtClean="0">
                <a:latin typeface="Consolas"/>
                <a:cs typeface="Consolas"/>
              </a:rPr>
              <a:t>Uri.parse</a:t>
            </a:r>
            <a:r>
              <a:rPr kumimoji="1" lang="en-US" altLang="zh-CN" sz="2000" dirty="0" smtClean="0">
                <a:latin typeface="Consolas"/>
                <a:cs typeface="Consolas"/>
              </a:rPr>
              <a:t>(“geo:0,0?q=</a:t>
            </a:r>
            <a:r>
              <a:rPr kumimoji="1" lang="en-US" altLang="zh-CN" sz="2000" dirty="0" err="1" smtClean="0">
                <a:latin typeface="Consolas"/>
                <a:cs typeface="Consolas"/>
              </a:rPr>
              <a:t>zhejiang+gongshang+university+xiasha</a:t>
            </a:r>
            <a:r>
              <a:rPr kumimoji="1" lang="en-US" altLang="zh-CN" sz="2000" dirty="0" smtClean="0">
                <a:latin typeface="Consolas"/>
                <a:cs typeface="Consolas"/>
              </a:rPr>
              <a:t>”)</a:t>
            </a:r>
          </a:p>
          <a:p>
            <a:pPr marL="0" indent="0">
              <a:buNone/>
            </a:pPr>
            <a:endParaRPr kumimoji="1" lang="en-US" altLang="zh-CN" sz="2000" dirty="0" smtClean="0">
              <a:latin typeface="Consolas"/>
              <a:cs typeface="Consolas"/>
            </a:endParaRPr>
          </a:p>
          <a:p>
            <a:r>
              <a:rPr lang="zh-CN" altLang="en-US" dirty="0" smtClean="0"/>
              <a:t>要拨打的号码</a:t>
            </a:r>
            <a:endParaRPr lang="en-US" altLang="zh-CN" dirty="0" smtClean="0"/>
          </a:p>
          <a:p>
            <a:pPr marL="0" indent="0">
              <a:buNone/>
            </a:pPr>
            <a:endParaRPr kumimoji="1"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kumimoji="1" lang="en-US" altLang="zh-CN" sz="2000" dirty="0" err="1" smtClean="0">
                <a:latin typeface="Consolas"/>
                <a:cs typeface="Consolas"/>
              </a:rPr>
              <a:t>Uri.parse</a:t>
            </a:r>
            <a:r>
              <a:rPr kumimoji="1" lang="en-US" altLang="zh-CN" sz="2000" dirty="0" smtClean="0">
                <a:latin typeface="Consolas"/>
                <a:cs typeface="Consolas"/>
              </a:rPr>
              <a:t>(“</a:t>
            </a:r>
            <a:r>
              <a:rPr kumimoji="1" lang="en-US" altLang="zh-CN" sz="2000" dirty="0" err="1" smtClean="0">
                <a:latin typeface="Consolas"/>
                <a:cs typeface="Consolas"/>
              </a:rPr>
              <a:t>tel</a:t>
            </a:r>
            <a:r>
              <a:rPr kumimoji="1" lang="en-US" altLang="zh-CN" sz="2000" dirty="0" smtClean="0">
                <a:latin typeface="Consolas"/>
                <a:cs typeface="Consolas"/>
              </a:rPr>
              <a:t>:+8613705710000”)</a:t>
            </a: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19477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设置</a:t>
            </a:r>
            <a:r>
              <a:rPr kumimoji="1" lang="en-US" altLang="zh-CN" dirty="0" smtClean="0"/>
              <a:t>Intent Data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</a:t>
            </a:r>
            <a:r>
              <a:rPr lang="en-US" altLang="zh-CN" sz="2000" dirty="0" err="1">
                <a:latin typeface="Consolas"/>
                <a:cs typeface="Consolas"/>
              </a:rPr>
              <a:t>Intent.ACTION_DIAL</a:t>
            </a:r>
            <a:r>
              <a:rPr lang="en-US" altLang="zh-CN" sz="2000" dirty="0">
                <a:latin typeface="Consolas"/>
                <a:cs typeface="Consolas"/>
              </a:rPr>
              <a:t>," </a:t>
            </a:r>
            <a:r>
              <a:rPr lang="en-US" altLang="zh-CN" sz="2000" dirty="0" err="1">
                <a:latin typeface="Consolas"/>
                <a:cs typeface="Consolas"/>
              </a:rPr>
              <a:t>Uri.parse</a:t>
            </a:r>
            <a:r>
              <a:rPr lang="en-US" altLang="zh-CN" sz="2000" dirty="0">
                <a:latin typeface="Consolas"/>
                <a:cs typeface="Consolas"/>
              </a:rPr>
              <a:t>("</a:t>
            </a:r>
            <a:r>
              <a:rPr lang="en-US" altLang="zh-CN" sz="2000" dirty="0" err="1">
                <a:latin typeface="Consolas"/>
                <a:cs typeface="Consolas"/>
              </a:rPr>
              <a:t>tel</a:t>
            </a:r>
            <a:r>
              <a:rPr lang="en-US" altLang="zh-CN" sz="2000" dirty="0">
                <a:latin typeface="Consolas"/>
                <a:cs typeface="Consolas"/>
              </a:rPr>
              <a:t>:+15555555555"));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或者</a:t>
            </a:r>
            <a:endParaRPr lang="en-US" altLang="zh-CN" dirty="0"/>
          </a:p>
          <a:p>
            <a:pPr marL="0" indent="0">
              <a:buNone/>
            </a:pP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</a:t>
            </a:r>
            <a:r>
              <a:rPr lang="en-US" altLang="zh-CN" sz="2000" dirty="0" err="1">
                <a:latin typeface="Consolas"/>
                <a:cs typeface="Consolas"/>
              </a:rPr>
              <a:t>Intent.ACTION_DIAL</a:t>
            </a:r>
            <a:r>
              <a:rPr lang="en-US" altLang="zh-CN" sz="2000" dirty="0">
                <a:latin typeface="Consolas"/>
                <a:cs typeface="Consolas"/>
              </a:rPr>
              <a:t>); </a:t>
            </a:r>
            <a:r>
              <a:rPr lang="en-US" altLang="zh-CN" sz="2000" dirty="0" err="1">
                <a:latin typeface="Consolas"/>
                <a:cs typeface="Consolas"/>
              </a:rPr>
              <a:t>newInt.setData</a:t>
            </a:r>
            <a:r>
              <a:rPr lang="en-US" altLang="zh-CN" sz="2000" dirty="0">
                <a:latin typeface="Consolas"/>
                <a:cs typeface="Consolas"/>
              </a:rPr>
              <a:t>(</a:t>
            </a:r>
            <a:r>
              <a:rPr lang="en-US" altLang="zh-CN" sz="2000" dirty="0" err="1">
                <a:latin typeface="Consolas"/>
                <a:cs typeface="Consolas"/>
              </a:rPr>
              <a:t>Uri.parse</a:t>
            </a:r>
            <a:r>
              <a:rPr lang="en-US" altLang="zh-CN" sz="2000" dirty="0">
                <a:latin typeface="Consolas"/>
                <a:cs typeface="Consolas"/>
              </a:rPr>
              <a:t>("</a:t>
            </a:r>
            <a:r>
              <a:rPr lang="en-US" altLang="zh-CN" sz="2000" dirty="0" err="1">
                <a:latin typeface="Consolas"/>
                <a:cs typeface="Consolas"/>
              </a:rPr>
              <a:t>tel</a:t>
            </a:r>
            <a:r>
              <a:rPr lang="en-US" altLang="zh-CN" sz="2000" dirty="0">
                <a:latin typeface="Consolas"/>
                <a:cs typeface="Consolas"/>
              </a:rPr>
              <a:t>:+15555555555"));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3366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Category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能够处理该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部件的附加信息</a:t>
            </a:r>
            <a:endParaRPr lang="en-US" altLang="zh-CN" dirty="0" smtClean="0"/>
          </a:p>
          <a:p>
            <a:r>
              <a:rPr kumimoji="1" lang="en-US" altLang="zh-CN" dirty="0" smtClean="0"/>
              <a:t>CATEGORY_BROWSABLE</a:t>
            </a:r>
          </a:p>
          <a:p>
            <a:pPr lvl="1"/>
            <a:r>
              <a:rPr lang="zh-CN" altLang="en-US" dirty="0" smtClean="0"/>
              <a:t>能够通过浏览器显示</a:t>
            </a:r>
            <a:r>
              <a:rPr lang="en-US" altLang="zh-CN" dirty="0" smtClean="0"/>
              <a:t>URI</a:t>
            </a:r>
            <a:r>
              <a:rPr lang="zh-CN" altLang="en-US" dirty="0" smtClean="0"/>
              <a:t>所指向的数据</a:t>
            </a:r>
            <a:endParaRPr lang="en-US" altLang="zh-CN" dirty="0" smtClean="0"/>
          </a:p>
          <a:p>
            <a:r>
              <a:rPr kumimoji="1" lang="en-US" altLang="zh-CN" dirty="0" smtClean="0"/>
              <a:t>CATEGORY_LAUNCHER</a:t>
            </a:r>
          </a:p>
          <a:p>
            <a:pPr lvl="1"/>
            <a:r>
              <a:rPr lang="zh-CN" altLang="en-US" dirty="0" smtClean="0"/>
              <a:t>任务的初始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，被列在顶层</a:t>
            </a:r>
            <a:r>
              <a:rPr lang="en-US" altLang="zh-CN" dirty="0" smtClean="0"/>
              <a:t>App</a:t>
            </a:r>
            <a:r>
              <a:rPr lang="zh-CN" altLang="en-US" dirty="0" smtClean="0"/>
              <a:t>起动器中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090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Type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指定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数据的</a:t>
            </a:r>
            <a:r>
              <a:rPr lang="en-US" altLang="zh-CN" dirty="0" smtClean="0"/>
              <a:t>MIME Type</a:t>
            </a:r>
          </a:p>
          <a:p>
            <a:pPr lvl="1"/>
            <a:r>
              <a:rPr kumimoji="1" lang="en-US" altLang="zh-CN" dirty="0" smtClean="0"/>
              <a:t>IMAGE/*, IMAGE/PNG, IMAGE/JPG</a:t>
            </a:r>
          </a:p>
          <a:p>
            <a:pPr lvl="1"/>
            <a:r>
              <a:rPr lang="en-US" altLang="zh-CN" dirty="0" smtClean="0"/>
              <a:t>TEXT/PLAIN, TEXT/HTML</a:t>
            </a:r>
          </a:p>
          <a:p>
            <a:r>
              <a:rPr kumimoji="1" lang="zh-CN" altLang="en-US" dirty="0" smtClean="0"/>
              <a:t>如果未指定，</a:t>
            </a:r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会自行推断类型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189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设置</a:t>
            </a:r>
            <a:r>
              <a:rPr kumimoji="1" lang="en-US" altLang="zh-CN" dirty="0" smtClean="0"/>
              <a:t>Type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 err="1">
                <a:latin typeface="Consolas"/>
                <a:cs typeface="Consolas"/>
              </a:rPr>
              <a:t>Intent.setType</a:t>
            </a:r>
            <a:r>
              <a:rPr lang="en-US" altLang="zh-CN" sz="2000" dirty="0">
                <a:latin typeface="Consolas"/>
                <a:cs typeface="Consolas"/>
              </a:rPr>
              <a:t>(String type)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或者</a:t>
            </a:r>
            <a:endParaRPr lang="en-US" altLang="zh-CN" dirty="0"/>
          </a:p>
          <a:p>
            <a:pPr marL="0" indent="0">
              <a:buNone/>
            </a:pP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Intent.setDataAndType</a:t>
            </a:r>
            <a:r>
              <a:rPr lang="en-US" altLang="zh-CN" sz="2000" dirty="0">
                <a:latin typeface="Consolas"/>
                <a:cs typeface="Consolas"/>
              </a:rPr>
              <a:t>(Uri data, String type)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64978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Component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接收该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的部件</a:t>
            </a:r>
            <a:endParaRPr kumimoji="1" lang="en-US" altLang="zh-CN" dirty="0" smtClean="0"/>
          </a:p>
          <a:p>
            <a:r>
              <a:rPr lang="zh-CN" altLang="en-US" dirty="0" smtClean="0"/>
              <a:t>当只有一个部件接收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时使用</a:t>
            </a:r>
            <a:endParaRPr lang="en-US" altLang="zh-CN" dirty="0" smtClean="0"/>
          </a:p>
          <a:p>
            <a:endParaRPr kumimoji="1" lang="en-US" altLang="zh-CN" dirty="0"/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</a:t>
            </a:r>
            <a:r>
              <a:rPr lang="en-US" altLang="zh-CN" sz="2000" dirty="0" smtClean="0">
                <a:latin typeface="Consolas"/>
                <a:cs typeface="Consolas"/>
              </a:rPr>
              <a:t>Intent</a:t>
            </a:r>
            <a:r>
              <a:rPr lang="en-US" altLang="zh-CN" sz="2000" dirty="0">
                <a:latin typeface="Consolas"/>
                <a:cs typeface="Consolas"/>
              </a:rPr>
              <a:t>(Context </a:t>
            </a:r>
            <a:r>
              <a:rPr lang="en-US" altLang="zh-CN" sz="2000" dirty="0" err="1">
                <a:latin typeface="Consolas"/>
                <a:cs typeface="Consolas"/>
              </a:rPr>
              <a:t>packageContext</a:t>
            </a:r>
            <a:r>
              <a:rPr lang="en-US" altLang="zh-CN" sz="2000" dirty="0">
                <a:latin typeface="Consolas"/>
                <a:cs typeface="Consolas"/>
              </a:rPr>
              <a:t>, Class&lt;?&gt; </a:t>
            </a:r>
            <a:r>
              <a:rPr lang="en-US" altLang="zh-CN" sz="2000" dirty="0" err="1">
                <a:latin typeface="Consolas"/>
                <a:cs typeface="Consolas"/>
              </a:rPr>
              <a:t>cls</a:t>
            </a:r>
            <a:r>
              <a:rPr lang="en-US" altLang="zh-CN" sz="2000" dirty="0">
                <a:latin typeface="Consolas"/>
                <a:cs typeface="Consolas"/>
              </a:rPr>
              <a:t>);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Consolas"/>
                <a:cs typeface="Consolas"/>
              </a:rPr>
              <a:t>或者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 ();</a:t>
            </a:r>
            <a:br>
              <a:rPr lang="en-US" altLang="zh-CN" sz="2000" dirty="0">
                <a:latin typeface="Consolas"/>
                <a:cs typeface="Consolas"/>
              </a:rPr>
            </a:br>
            <a:r>
              <a:rPr lang="zh-CN" altLang="en-US" sz="2000" dirty="0" smtClean="0"/>
              <a:t>然后，使用下列方法之一</a:t>
            </a:r>
            <a:r>
              <a:rPr lang="en-US" altLang="zh-CN" sz="2000" dirty="0" smtClean="0"/>
              <a:t>:</a:t>
            </a: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 err="1">
                <a:latin typeface="Consolas"/>
                <a:cs typeface="Consolas"/>
              </a:rPr>
              <a:t>setComponent</a:t>
            </a:r>
            <a:r>
              <a:rPr lang="en-US" altLang="zh-CN" sz="2000" dirty="0">
                <a:latin typeface="Consolas"/>
                <a:cs typeface="Consolas"/>
              </a:rPr>
              <a:t>(), </a:t>
            </a:r>
            <a:r>
              <a:rPr lang="en-US" altLang="zh-CN" sz="2000" dirty="0" err="1">
                <a:latin typeface="Consolas"/>
                <a:cs typeface="Consolas"/>
              </a:rPr>
              <a:t>setClass</a:t>
            </a:r>
            <a:r>
              <a:rPr lang="en-US" altLang="zh-CN" sz="2000" dirty="0">
                <a:latin typeface="Consolas"/>
                <a:cs typeface="Consolas"/>
              </a:rPr>
              <a:t>(), or </a:t>
            </a:r>
            <a:r>
              <a:rPr lang="en-US" altLang="zh-CN" sz="2000" dirty="0" err="1">
                <a:latin typeface="Consolas"/>
                <a:cs typeface="Consolas"/>
              </a:rPr>
              <a:t>setClassName</a:t>
            </a:r>
            <a:r>
              <a:rPr lang="en-US" altLang="zh-CN" sz="2000" dirty="0">
                <a:latin typeface="Consolas"/>
                <a:cs typeface="Consolas"/>
              </a:rPr>
              <a:t>()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09021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Extras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未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添加额外信息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作为</a:t>
            </a:r>
            <a:r>
              <a:rPr kumimoji="1" lang="en-US" altLang="zh-CN" dirty="0" smtClean="0"/>
              <a:t>Map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Key-value</a:t>
            </a:r>
            <a:r>
              <a:rPr lang="zh-CN" altLang="en-US" dirty="0" smtClean="0"/>
              <a:t>对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putExtra</a:t>
            </a:r>
            <a:r>
              <a:rPr lang="en-US" altLang="zh-CN" dirty="0" smtClean="0"/>
              <a:t>: </a:t>
            </a:r>
            <a:r>
              <a:rPr lang="zh-CN" altLang="en-US" dirty="0" smtClean="0"/>
              <a:t>根据数据类型有不同的形式</a:t>
            </a:r>
            <a:endParaRPr kumimoji="1" lang="en-US" altLang="zh-CN" dirty="0" smtClean="0"/>
          </a:p>
          <a:p>
            <a:pPr lvl="1"/>
            <a:endParaRPr kumimoji="1" lang="en-US" altLang="zh-CN" dirty="0" smtClean="0"/>
          </a:p>
          <a:p>
            <a:pPr marL="0" indent="0">
              <a:buNone/>
            </a:pPr>
            <a:r>
              <a:rPr lang="en-US" altLang="zh-CN" sz="2000" dirty="0" smtClean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</a:t>
            </a:r>
            <a:r>
              <a:rPr lang="en-US" altLang="zh-CN" sz="2000" dirty="0" err="1">
                <a:latin typeface="Consolas"/>
                <a:cs typeface="Consolas"/>
              </a:rPr>
              <a:t>Intent.ACTION_SEND</a:t>
            </a:r>
            <a:r>
              <a:rPr lang="en-US" altLang="zh-CN" sz="2000" dirty="0">
                <a:latin typeface="Consolas"/>
                <a:cs typeface="Consolas"/>
              </a:rPr>
              <a:t>);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Consolas"/>
                <a:cs typeface="Consolas"/>
              </a:rPr>
              <a:t>newInt.putExtra</a:t>
            </a:r>
            <a:r>
              <a:rPr lang="en-US" altLang="zh-CN" sz="2000" dirty="0">
                <a:latin typeface="Consolas"/>
                <a:cs typeface="Consolas"/>
              </a:rPr>
              <a:t>(</a:t>
            </a:r>
            <a:r>
              <a:rPr lang="en-US" altLang="zh-CN" sz="2000" dirty="0" err="1">
                <a:latin typeface="Consolas"/>
                <a:cs typeface="Consolas"/>
              </a:rPr>
              <a:t>android.content.Intent.EXTRA_EMAIL</a:t>
            </a:r>
            <a:r>
              <a:rPr lang="en-US" altLang="zh-CN" sz="2000" dirty="0">
                <a:latin typeface="Consolas"/>
                <a:cs typeface="Consolas"/>
              </a:rPr>
              <a:t>, </a:t>
            </a:r>
            <a:endParaRPr lang="en-US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1600" dirty="0">
                <a:latin typeface="Consolas"/>
                <a:cs typeface="Consolas"/>
              </a:rPr>
              <a:t>new String[]</a:t>
            </a:r>
            <a:r>
              <a:rPr lang="en-US" altLang="zh-CN" sz="1600" dirty="0" smtClean="0">
                <a:latin typeface="Consolas"/>
                <a:cs typeface="Consolas"/>
              </a:rPr>
              <a:t>{</a:t>
            </a:r>
          </a:p>
          <a:p>
            <a:pPr marL="349250" lvl="1" indent="0">
              <a:buNone/>
            </a:pP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smtClean="0">
                <a:latin typeface="Consolas"/>
                <a:cs typeface="Consolas"/>
              </a:rPr>
              <a:t>   “</a:t>
            </a:r>
            <a:r>
              <a:rPr lang="en-US" altLang="zh-CN" sz="1600" dirty="0" err="1">
                <a:latin typeface="Consolas"/>
                <a:cs typeface="Consolas"/>
              </a:rPr>
              <a:t>aporter@cs.umd.edu</a:t>
            </a:r>
            <a:r>
              <a:rPr lang="en-US" altLang="zh-CN" sz="1600" dirty="0">
                <a:latin typeface="Consolas"/>
                <a:cs typeface="Consolas"/>
              </a:rPr>
              <a:t>”, </a:t>
            </a:r>
            <a:r>
              <a:rPr lang="en-US" altLang="zh-CN" sz="1600" dirty="0" smtClean="0">
                <a:latin typeface="Consolas"/>
                <a:cs typeface="Consolas"/>
              </a:rPr>
              <a:t>“</a:t>
            </a:r>
            <a:r>
              <a:rPr lang="en-US" altLang="zh-CN" sz="1600" dirty="0" err="1" smtClean="0">
                <a:latin typeface="Consolas"/>
                <a:cs typeface="Consolas"/>
              </a:rPr>
              <a:t>ceo</a:t>
            </a:r>
            <a:r>
              <a:rPr lang="en-US" altLang="zh-CN" sz="1600" dirty="0" err="1">
                <a:latin typeface="Consolas"/>
                <a:cs typeface="Consolas"/>
              </a:rPr>
              <a:t>@</a:t>
            </a:r>
            <a:r>
              <a:rPr lang="en-US" altLang="zh-CN" sz="1600" dirty="0" err="1" smtClean="0">
                <a:latin typeface="Consolas"/>
                <a:cs typeface="Consolas"/>
              </a:rPr>
              <a:t>microsoft.com</a:t>
            </a:r>
            <a:r>
              <a:rPr lang="en-US" altLang="zh-CN" sz="1600" dirty="0" smtClean="0">
                <a:latin typeface="Consolas"/>
                <a:cs typeface="Consolas"/>
              </a:rPr>
              <a:t>”,</a:t>
            </a:r>
            <a:endParaRPr lang="en-US" altLang="zh-CN" sz="16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1600" dirty="0" smtClean="0">
                <a:latin typeface="Consolas"/>
                <a:cs typeface="Consolas"/>
              </a:rPr>
              <a:t>    “</a:t>
            </a:r>
            <a:r>
              <a:rPr lang="en-US" altLang="zh-CN" sz="1600" dirty="0" err="1" smtClean="0">
                <a:latin typeface="Consolas"/>
                <a:cs typeface="Consolas"/>
              </a:rPr>
              <a:t>potus</a:t>
            </a:r>
            <a:r>
              <a:rPr lang="en-US" altLang="zh-CN" sz="1600" dirty="0" err="1">
                <a:latin typeface="Consolas"/>
                <a:cs typeface="Consolas"/>
              </a:rPr>
              <a:t>@</a:t>
            </a:r>
            <a:r>
              <a:rPr lang="en-US" altLang="zh-CN" sz="1600" dirty="0" err="1" smtClean="0">
                <a:latin typeface="Consolas"/>
                <a:cs typeface="Consolas"/>
              </a:rPr>
              <a:t>whitehouse.gov</a:t>
            </a:r>
            <a:r>
              <a:rPr lang="en-US" altLang="zh-CN" sz="1600" dirty="0" smtClean="0">
                <a:latin typeface="Consolas"/>
                <a:cs typeface="Consolas"/>
              </a:rPr>
              <a:t>”, “</a:t>
            </a:r>
            <a:r>
              <a:rPr lang="en-US" altLang="zh-CN" sz="1600" dirty="0" err="1" smtClean="0">
                <a:latin typeface="Consolas"/>
                <a:cs typeface="Consolas"/>
              </a:rPr>
              <a:t>mozart</a:t>
            </a:r>
            <a:r>
              <a:rPr lang="en-US" altLang="zh-CN" sz="1600" dirty="0" err="1">
                <a:latin typeface="Consolas"/>
                <a:cs typeface="Consolas"/>
              </a:rPr>
              <a:t>@</a:t>
            </a:r>
            <a:r>
              <a:rPr lang="en-US" altLang="zh-CN" sz="1600" dirty="0" err="1" smtClean="0">
                <a:latin typeface="Consolas"/>
                <a:cs typeface="Consolas"/>
              </a:rPr>
              <a:t>musician.org</a:t>
            </a:r>
            <a:r>
              <a:rPr lang="en-US" altLang="zh-CN" sz="1600" dirty="0" smtClean="0">
                <a:latin typeface="Consolas"/>
                <a:cs typeface="Consolas"/>
              </a:rPr>
              <a:t>”</a:t>
            </a:r>
          </a:p>
          <a:p>
            <a:pPr marL="349250" lvl="1" indent="0">
              <a:buNone/>
            </a:pPr>
            <a:r>
              <a:rPr lang="en-US" altLang="zh-CN" sz="1600" dirty="0" smtClean="0">
                <a:latin typeface="Consolas"/>
                <a:cs typeface="Consolas"/>
              </a:rPr>
              <a:t>} </a:t>
            </a:r>
            <a:endParaRPr lang="en-US" altLang="zh-CN" sz="16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); </a:t>
            </a:r>
            <a:endParaRPr lang="en-US" altLang="zh-CN" sz="2000" dirty="0">
              <a:latin typeface="Consolas"/>
              <a:cs typeface="Consolas"/>
            </a:endParaRPr>
          </a:p>
          <a:p>
            <a:pPr marL="344487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200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Flags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指定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应该被如何处理</a:t>
            </a:r>
            <a:endParaRPr kumimoji="1" lang="en-US" altLang="zh-CN" dirty="0" smtClean="0"/>
          </a:p>
          <a:p>
            <a:r>
              <a:rPr lang="en-US" altLang="zh-CN" dirty="0"/>
              <a:t>FLAG_ACTIVITY_NO_HISTORY </a:t>
            </a:r>
            <a:endParaRPr lang="en-US" altLang="zh-CN" dirty="0"/>
          </a:p>
          <a:p>
            <a:pPr lvl="1"/>
            <a:r>
              <a:rPr lang="zh-CN" altLang="en-US" dirty="0" smtClean="0"/>
              <a:t>不要把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放到历史栈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r>
              <a:rPr lang="en-US" altLang="zh-CN" dirty="0"/>
              <a:t>FLAG_DEBUG_LOG_RESOLUTION </a:t>
            </a:r>
            <a:endParaRPr lang="en-US" altLang="zh-CN" dirty="0"/>
          </a:p>
          <a:p>
            <a:pPr lvl="1"/>
            <a:r>
              <a:rPr kumimoji="1" lang="zh-CN" altLang="en-US" dirty="0" smtClean="0"/>
              <a:t>当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被处理时，打印额外的日志信息</a:t>
            </a:r>
            <a:endParaRPr kumimoji="1" lang="en-US" altLang="zh-CN" dirty="0" smtClean="0"/>
          </a:p>
          <a:p>
            <a:pPr lvl="1"/>
            <a:endParaRPr kumimoji="1" lang="en-US" altLang="zh-CN" dirty="0" smtClean="0"/>
          </a:p>
          <a:p>
            <a:pPr marL="0" indent="-4763">
              <a:buNone/>
            </a:pPr>
            <a:r>
              <a:rPr lang="en-US" altLang="zh-CN" sz="2000" dirty="0">
                <a:latin typeface="Consolas"/>
                <a:cs typeface="Consolas"/>
              </a:rPr>
              <a:t>Intent </a:t>
            </a:r>
            <a:r>
              <a:rPr lang="en-US" altLang="zh-CN" sz="2000" dirty="0" err="1">
                <a:latin typeface="Consolas"/>
                <a:cs typeface="Consolas"/>
              </a:rPr>
              <a:t>newInt</a:t>
            </a:r>
            <a:r>
              <a:rPr lang="en-US" altLang="zh-CN" sz="2000" dirty="0">
                <a:latin typeface="Consolas"/>
                <a:cs typeface="Consolas"/>
              </a:rPr>
              <a:t> = new Intent(</a:t>
            </a:r>
            <a:r>
              <a:rPr lang="en-US" altLang="zh-CN" sz="2000" dirty="0" err="1">
                <a:latin typeface="Consolas"/>
                <a:cs typeface="Consolas"/>
              </a:rPr>
              <a:t>Intent.ACTION_SEND</a:t>
            </a:r>
            <a:r>
              <a:rPr lang="en-US" altLang="zh-CN" sz="2000" dirty="0">
                <a:latin typeface="Consolas"/>
                <a:cs typeface="Consolas"/>
              </a:rPr>
              <a:t>); </a:t>
            </a:r>
            <a:r>
              <a:rPr lang="en-US" altLang="zh-CN" sz="2000" dirty="0" err="1">
                <a:latin typeface="Consolas"/>
                <a:cs typeface="Consolas"/>
              </a:rPr>
              <a:t>newInt.setFlags</a:t>
            </a:r>
            <a:r>
              <a:rPr lang="en-US" altLang="zh-CN" sz="2000" dirty="0">
                <a:latin typeface="Consolas"/>
                <a:cs typeface="Consolas"/>
              </a:rPr>
              <a:t>(</a:t>
            </a:r>
            <a:r>
              <a:rPr lang="en-US" altLang="zh-CN" sz="2000" dirty="0" err="1">
                <a:latin typeface="Consolas"/>
                <a:cs typeface="Consolas"/>
              </a:rPr>
              <a:t>Intent.FLAG_ACTIVITY_NO_HISTORY</a:t>
            </a:r>
            <a:r>
              <a:rPr lang="en-US" altLang="zh-CN" sz="2000" dirty="0">
                <a:latin typeface="Consolas"/>
                <a:cs typeface="Consolas"/>
              </a:rPr>
              <a:t>); 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8148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启动</a:t>
            </a:r>
            <a:r>
              <a:rPr kumimoji="1" lang="en-US" altLang="zh-CN" dirty="0" smtClean="0"/>
              <a:t>Activity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latin typeface="Consolas"/>
                <a:cs typeface="Consolas"/>
              </a:rPr>
              <a:t>startActivity</a:t>
            </a:r>
            <a:r>
              <a:rPr lang="en-US" altLang="zh-CN" dirty="0">
                <a:latin typeface="Consolas"/>
                <a:cs typeface="Consolas"/>
              </a:rPr>
              <a:t>(Intent intent,...) </a:t>
            </a:r>
            <a:endParaRPr lang="en-US" altLang="zh-CN" dirty="0" smtClean="0">
              <a:latin typeface="Consolas"/>
              <a:cs typeface="Consolas"/>
            </a:endParaRPr>
          </a:p>
          <a:p>
            <a:pPr marL="0" indent="0">
              <a:buNone/>
            </a:pPr>
            <a:endParaRPr lang="en-US" altLang="zh-CN" sz="2000" dirty="0" smtClean="0">
              <a:latin typeface="Consolas"/>
              <a:cs typeface="Consolas"/>
            </a:endParaRPr>
          </a:p>
          <a:p>
            <a:r>
              <a:rPr lang="en-US" altLang="zh-CN" dirty="0" err="1" smtClean="0">
                <a:latin typeface="Consolas"/>
                <a:cs typeface="Consolas"/>
              </a:rPr>
              <a:t>startActivityForResult</a:t>
            </a:r>
            <a:r>
              <a:rPr lang="en-US" altLang="zh-CN" dirty="0">
                <a:latin typeface="Consolas"/>
                <a:cs typeface="Consolas"/>
              </a:rPr>
              <a:t>(Intent intent, ...) </a:t>
            </a:r>
            <a:endParaRPr lang="en-US" altLang="zh-CN" dirty="0" smtClean="0">
              <a:latin typeface="Consolas"/>
              <a:cs typeface="Consolas"/>
            </a:endParaRPr>
          </a:p>
          <a:p>
            <a:pPr lvl="1"/>
            <a:r>
              <a:rPr lang="zh-CN" altLang="en-US" dirty="0" smtClean="0">
                <a:latin typeface="Consolas"/>
                <a:cs typeface="Consolas"/>
              </a:rPr>
              <a:t>当调用的</a:t>
            </a:r>
            <a:r>
              <a:rPr lang="en-US" altLang="zh-CN" dirty="0" smtClean="0">
                <a:latin typeface="Consolas"/>
                <a:cs typeface="Consolas"/>
              </a:rPr>
              <a:t>Activity</a:t>
            </a:r>
            <a:r>
              <a:rPr lang="zh-CN" altLang="en-US" dirty="0" smtClean="0">
                <a:latin typeface="Consolas"/>
                <a:cs typeface="Consolas"/>
              </a:rPr>
              <a:t>结束返回结果时，调用一个回调函数。</a:t>
            </a:r>
            <a:endParaRPr lang="en-US" altLang="zh-CN" dirty="0" smtClean="0">
              <a:latin typeface="Consolas"/>
              <a:cs typeface="Consolas"/>
            </a:endParaRPr>
          </a:p>
          <a:p>
            <a:pPr lvl="1"/>
            <a:r>
              <a:rPr lang="en-US" altLang="zh-CN" dirty="0" err="1" smtClean="0">
                <a:latin typeface="Consolas"/>
                <a:cs typeface="Consolas"/>
              </a:rPr>
              <a:t>Activity.setResult</a:t>
            </a:r>
            <a:r>
              <a:rPr lang="en-US" altLang="zh-CN" dirty="0" smtClean="0">
                <a:latin typeface="Consolas"/>
                <a:cs typeface="Consolas"/>
              </a:rPr>
              <a:t>()</a:t>
            </a:r>
          </a:p>
          <a:p>
            <a:pPr lvl="1"/>
            <a:r>
              <a:rPr lang="en-US" altLang="zh-CN" dirty="0" err="1" smtClean="0">
                <a:latin typeface="Consolas"/>
                <a:cs typeface="Consolas"/>
              </a:rPr>
              <a:t>onActivityResult</a:t>
            </a:r>
            <a:r>
              <a:rPr lang="en-US" altLang="zh-CN" dirty="0" smtClean="0">
                <a:latin typeface="Consolas"/>
                <a:cs typeface="Consolas"/>
              </a:rPr>
              <a:t>()</a:t>
            </a:r>
            <a:endParaRPr lang="en-US" altLang="zh-CN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83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目标</a:t>
            </a:r>
            <a:r>
              <a:rPr kumimoji="1" lang="en-US" altLang="zh-CN" dirty="0" smtClean="0"/>
              <a:t>Activity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显示设定：指定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component</a:t>
            </a:r>
          </a:p>
          <a:p>
            <a:r>
              <a:rPr lang="zh-CN" altLang="en-US" dirty="0" smtClean="0"/>
              <a:t>隐式设定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490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显示设定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1016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隐式设定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当目标</a:t>
            </a:r>
            <a:r>
              <a:rPr kumimoji="1" lang="en-US" altLang="zh-CN" dirty="0" smtClean="0"/>
              <a:t>Activity</a:t>
            </a:r>
            <a:r>
              <a:rPr lang="zh-CN" altLang="en-US" dirty="0" smtClean="0"/>
              <a:t>没有明确指定时，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会找到匹配的</a:t>
            </a:r>
            <a:r>
              <a:rPr lang="en-US" altLang="zh-CN" dirty="0" smtClean="0"/>
              <a:t>Activity</a:t>
            </a:r>
          </a:p>
          <a:p>
            <a:r>
              <a:rPr kumimoji="1" lang="zh-CN" altLang="en-US" dirty="0" smtClean="0"/>
              <a:t>该过程称为「</a:t>
            </a:r>
            <a:r>
              <a:rPr kumimoji="1" lang="en-US" altLang="zh-CN" dirty="0" smtClean="0"/>
              <a:t>Intent Resolution</a:t>
            </a:r>
            <a:r>
              <a:rPr kumimoji="1" lang="zh-CN" altLang="en-US" dirty="0" smtClean="0"/>
              <a:t>」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Intent filter</a:t>
            </a:r>
            <a:r>
              <a:rPr lang="zh-CN" altLang="en-US" dirty="0" smtClean="0"/>
              <a:t>用来指定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所能处理的操作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AndroidManifest.xml</a:t>
            </a:r>
            <a:r>
              <a:rPr kumimoji="1" lang="zh-CN" altLang="en-US" dirty="0" smtClean="0"/>
              <a:t>中指定</a:t>
            </a:r>
            <a:r>
              <a:rPr lang="zh-CN" altLang="en-US" dirty="0" smtClean="0"/>
              <a:t>或编程指定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58343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Intent Resolution</a:t>
            </a:r>
            <a:r>
              <a:rPr kumimoji="1" lang="zh-CN" altLang="en-US" dirty="0" smtClean="0"/>
              <a:t>数据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Action</a:t>
            </a:r>
          </a:p>
          <a:p>
            <a:r>
              <a:rPr lang="en-US" altLang="zh-CN" dirty="0" smtClean="0"/>
              <a:t>Data (URI &amp; Type)</a:t>
            </a:r>
          </a:p>
          <a:p>
            <a:r>
              <a:rPr kumimoji="1" lang="en-US" altLang="zh-CN" dirty="0" smtClean="0"/>
              <a:t>Category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476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设置</a:t>
            </a:r>
            <a:r>
              <a:rPr kumimoji="1" lang="en-US" altLang="zh-CN" dirty="0" smtClean="0"/>
              <a:t>Intent filter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&lt;activity ...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&lt;</a:t>
            </a:r>
            <a:r>
              <a:rPr lang="en-US" altLang="zh-CN" sz="2400" dirty="0">
                <a:latin typeface="Consolas"/>
                <a:cs typeface="Consolas"/>
              </a:rPr>
              <a:t>intent-filter ...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  <a:endParaRPr lang="en-US" altLang="zh-CN" sz="2400" dirty="0">
              <a:latin typeface="Consolas"/>
              <a:cs typeface="Consolas"/>
            </a:endParaRPr>
          </a:p>
          <a:p>
            <a:pPr marL="644525" lvl="2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...</a:t>
            </a:r>
            <a:br>
              <a:rPr lang="en-US" altLang="zh-CN" sz="2400" dirty="0">
                <a:latin typeface="Consolas"/>
                <a:cs typeface="Consolas"/>
              </a:rPr>
            </a:br>
            <a:r>
              <a:rPr lang="en-US" altLang="zh-CN" sz="2400" dirty="0">
                <a:latin typeface="Consolas"/>
                <a:cs typeface="Consolas"/>
              </a:rPr>
              <a:t>&lt;action </a:t>
            </a:r>
            <a:r>
              <a:rPr lang="en-US" altLang="zh-CN" sz="2400" dirty="0" err="1">
                <a:latin typeface="Consolas"/>
                <a:cs typeface="Consolas"/>
              </a:rPr>
              <a:t>android:name</a:t>
            </a:r>
            <a:r>
              <a:rPr lang="en-US" altLang="zh-CN" sz="2400" dirty="0" smtClean="0">
                <a:latin typeface="Consolas"/>
                <a:cs typeface="Consolas"/>
              </a:rPr>
              <a:t>=“</a:t>
            </a:r>
            <a:r>
              <a:rPr lang="en-US" altLang="zh-CN" sz="2400" dirty="0" err="1" smtClean="0">
                <a:latin typeface="Consolas"/>
                <a:cs typeface="Consolas"/>
              </a:rPr>
              <a:t>actionName</a:t>
            </a:r>
            <a:r>
              <a:rPr lang="en-US" altLang="zh-CN" sz="2400" dirty="0" smtClean="0">
                <a:latin typeface="Consolas"/>
                <a:cs typeface="Consolas"/>
              </a:rPr>
              <a:t>” </a:t>
            </a:r>
            <a:r>
              <a:rPr lang="en-US" altLang="zh-CN" sz="2400" dirty="0">
                <a:latin typeface="Consolas"/>
                <a:cs typeface="Consolas"/>
              </a:rPr>
              <a:t>/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</a:p>
          <a:p>
            <a:pPr marL="644525" lvl="2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.</a:t>
            </a:r>
            <a:r>
              <a:rPr lang="en-US" altLang="zh-CN" sz="2400" dirty="0">
                <a:latin typeface="Consolas"/>
                <a:cs typeface="Consolas"/>
              </a:rPr>
              <a:t>.. </a:t>
            </a:r>
          </a:p>
          <a:p>
            <a:pPr marL="349250" lvl="1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&lt;/intent-filter&gt; ... </a:t>
            </a:r>
          </a:p>
          <a:p>
            <a:pPr marL="0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&lt;/activity&gt; 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0937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设置</a:t>
            </a:r>
            <a:r>
              <a:rPr kumimoji="1" lang="en-US" altLang="zh-CN" dirty="0" smtClean="0"/>
              <a:t>Intent filter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</a:t>
            </a:r>
            <a:r>
              <a:rPr lang="fr-FR" altLang="zh-CN" sz="2000" dirty="0" err="1">
                <a:latin typeface="Consolas"/>
                <a:cs typeface="Consolas"/>
              </a:rPr>
              <a:t>activity</a:t>
            </a:r>
            <a:r>
              <a:rPr lang="fr-FR" altLang="zh-CN" sz="2000" dirty="0">
                <a:latin typeface="Consolas"/>
                <a:cs typeface="Consolas"/>
              </a:rPr>
              <a:t> ...</a:t>
            </a:r>
            <a:r>
              <a:rPr lang="fr-FR" altLang="zh-CN" sz="20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fr-FR" altLang="zh-CN" sz="2000" dirty="0" smtClean="0">
                <a:latin typeface="Consolas"/>
                <a:cs typeface="Consolas"/>
              </a:rPr>
              <a:t>&lt;</a:t>
            </a:r>
            <a:r>
              <a:rPr lang="fr-FR" altLang="zh-CN" sz="2000" dirty="0" err="1">
                <a:latin typeface="Consolas"/>
                <a:cs typeface="Consolas"/>
              </a:rPr>
              <a:t>intent-filter</a:t>
            </a:r>
            <a:r>
              <a:rPr lang="fr-FR" altLang="zh-CN" sz="2000" dirty="0">
                <a:latin typeface="Consolas"/>
                <a:cs typeface="Consolas"/>
              </a:rPr>
              <a:t> ...&gt; </a:t>
            </a:r>
          </a:p>
          <a:p>
            <a:pPr marL="644525" lvl="2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...</a:t>
            </a:r>
            <a:br>
              <a:rPr lang="fr-FR" altLang="zh-CN" sz="2000" dirty="0">
                <a:latin typeface="Consolas"/>
                <a:cs typeface="Consolas"/>
              </a:rPr>
            </a:br>
            <a:r>
              <a:rPr lang="fr-FR" altLang="zh-CN" sz="2000" dirty="0">
                <a:latin typeface="Consolas"/>
                <a:cs typeface="Consolas"/>
              </a:rPr>
              <a:t>&lt;</a:t>
            </a:r>
            <a:r>
              <a:rPr lang="fr-FR" altLang="zh-CN" sz="2000" dirty="0" smtClean="0">
                <a:latin typeface="Consolas"/>
                <a:cs typeface="Consolas"/>
              </a:rPr>
              <a:t>action </a:t>
            </a:r>
            <a:r>
              <a:rPr lang="fr-FR" altLang="zh-CN" sz="2000" dirty="0" err="1" smtClean="0">
                <a:latin typeface="Consolas"/>
                <a:cs typeface="Consolas"/>
              </a:rPr>
              <a:t>android:name</a:t>
            </a:r>
            <a:r>
              <a:rPr lang="fr-FR" altLang="zh-CN" sz="2000" dirty="0">
                <a:latin typeface="Consolas"/>
                <a:cs typeface="Consolas"/>
              </a:rPr>
              <a:t>=”</a:t>
            </a:r>
            <a:r>
              <a:rPr lang="fr-FR" altLang="zh-CN" sz="2000" dirty="0" err="1">
                <a:latin typeface="Consolas"/>
                <a:cs typeface="Consolas"/>
              </a:rPr>
              <a:t>android.intent.action.DIAL</a:t>
            </a:r>
            <a:r>
              <a:rPr lang="fr-FR" altLang="zh-CN" sz="2000" dirty="0">
                <a:latin typeface="Consolas"/>
                <a:cs typeface="Consolas"/>
              </a:rPr>
              <a:t>" /</a:t>
            </a:r>
            <a:r>
              <a:rPr lang="fr-FR" altLang="zh-CN" sz="2000" dirty="0" smtClean="0">
                <a:latin typeface="Consolas"/>
                <a:cs typeface="Consolas"/>
              </a:rPr>
              <a:t>&gt;</a:t>
            </a:r>
          </a:p>
          <a:p>
            <a:pPr marL="644525" lvl="2" indent="0">
              <a:buNone/>
            </a:pPr>
            <a:r>
              <a:rPr lang="fr-FR" altLang="zh-CN" sz="2000" dirty="0" smtClean="0">
                <a:latin typeface="Consolas"/>
                <a:cs typeface="Consolas"/>
              </a:rPr>
              <a:t>.</a:t>
            </a:r>
            <a:r>
              <a:rPr lang="fr-FR" altLang="zh-CN" sz="2000" dirty="0">
                <a:latin typeface="Consolas"/>
                <a:cs typeface="Consolas"/>
              </a:rPr>
              <a:t>.. </a:t>
            </a:r>
          </a:p>
          <a:p>
            <a:pPr marL="349250" lvl="1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&lt;/</a:t>
            </a:r>
            <a:r>
              <a:rPr lang="fr-FR" altLang="zh-CN" sz="2000" dirty="0" err="1">
                <a:latin typeface="Consolas"/>
                <a:cs typeface="Consolas"/>
              </a:rPr>
              <a:t>intent-filter</a:t>
            </a:r>
            <a:r>
              <a:rPr lang="fr-FR" altLang="zh-CN" sz="2000" dirty="0" smtClean="0">
                <a:latin typeface="Consolas"/>
                <a:cs typeface="Consolas"/>
              </a:rPr>
              <a:t>&gt;</a:t>
            </a:r>
          </a:p>
          <a:p>
            <a:pPr marL="0" indent="0">
              <a:buNone/>
            </a:pPr>
            <a:r>
              <a:rPr lang="fr-FR" altLang="zh-CN" sz="2000" dirty="0" smtClean="0">
                <a:latin typeface="Consolas"/>
                <a:cs typeface="Consolas"/>
              </a:rPr>
              <a:t>.</a:t>
            </a:r>
            <a:r>
              <a:rPr lang="fr-FR" altLang="zh-CN" sz="2000" dirty="0">
                <a:latin typeface="Consolas"/>
                <a:cs typeface="Consolas"/>
              </a:rPr>
              <a:t>.. </a:t>
            </a:r>
          </a:p>
          <a:p>
            <a:pPr marL="0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&lt;/</a:t>
            </a:r>
            <a:r>
              <a:rPr lang="fr-FR" altLang="zh-CN" sz="2000" dirty="0" err="1">
                <a:latin typeface="Consolas"/>
                <a:cs typeface="Consolas"/>
              </a:rPr>
              <a:t>activity</a:t>
            </a:r>
            <a:r>
              <a:rPr lang="fr-FR" altLang="zh-CN" sz="2000" dirty="0">
                <a:latin typeface="Consolas"/>
                <a:cs typeface="Consolas"/>
              </a:rPr>
              <a:t>&gt; </a:t>
            </a:r>
          </a:p>
          <a:p>
            <a:pPr marL="0" indent="0">
              <a:buNone/>
            </a:pP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76580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为</a:t>
            </a:r>
            <a:r>
              <a:rPr kumimoji="1" lang="en-US" altLang="zh-CN" dirty="0" smtClean="0"/>
              <a:t>Intent filter</a:t>
            </a:r>
            <a:r>
              <a:rPr kumimoji="1" lang="zh-CN" altLang="en-US" dirty="0" smtClean="0"/>
              <a:t>添加数据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&lt;intent-filter ...</a:t>
            </a:r>
            <a:r>
              <a:rPr lang="en-US" altLang="zh-CN" sz="20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000" dirty="0" smtClean="0">
                <a:latin typeface="Consolas"/>
                <a:cs typeface="Consolas"/>
              </a:rPr>
              <a:t>.</a:t>
            </a:r>
            <a:r>
              <a:rPr lang="en-US" altLang="zh-CN" sz="2000" dirty="0">
                <a:latin typeface="Consolas"/>
                <a:cs typeface="Consolas"/>
              </a:rPr>
              <a:t>.. </a:t>
            </a:r>
            <a:endParaRPr lang="en-US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</a:t>
            </a:r>
            <a:r>
              <a:rPr lang="en-US" altLang="zh-CN" sz="2000" dirty="0" smtClean="0">
                <a:latin typeface="Consolas"/>
                <a:cs typeface="Consolas"/>
              </a:rPr>
              <a:t>data</a:t>
            </a: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android:mimeType</a:t>
            </a:r>
            <a:r>
              <a:rPr lang="en-US" altLang="zh-CN" sz="2000" dirty="0">
                <a:latin typeface="Consolas"/>
                <a:cs typeface="Consolas"/>
              </a:rPr>
              <a:t>="</a:t>
            </a:r>
            <a:r>
              <a:rPr lang="en-US" altLang="zh-CN" sz="2000" dirty="0" smtClean="0">
                <a:latin typeface="Consolas"/>
                <a:cs typeface="Consolas"/>
              </a:rPr>
              <a:t>string</a:t>
            </a:r>
            <a:r>
              <a:rPr lang="en-US" altLang="zh-CN" sz="2000" dirty="0">
                <a:latin typeface="Consolas"/>
                <a:cs typeface="Consolas"/>
              </a:rPr>
              <a:t>"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android:scheme</a:t>
            </a:r>
            <a:r>
              <a:rPr lang="en-US" altLang="zh-CN" sz="2000" dirty="0">
                <a:latin typeface="Consolas"/>
                <a:cs typeface="Consolas"/>
              </a:rPr>
              <a:t>="</a:t>
            </a:r>
            <a:r>
              <a:rPr lang="en-US" altLang="zh-CN" sz="2000" dirty="0" smtClean="0">
                <a:latin typeface="Consolas"/>
                <a:cs typeface="Consolas"/>
              </a:rPr>
              <a:t>string" </a:t>
            </a: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android:host</a:t>
            </a:r>
            <a:r>
              <a:rPr lang="en-US" altLang="zh-CN" sz="2000" dirty="0">
                <a:latin typeface="Consolas"/>
                <a:cs typeface="Consolas"/>
              </a:rPr>
              <a:t>="string"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android:port</a:t>
            </a:r>
            <a:r>
              <a:rPr lang="en-US" altLang="zh-CN" sz="2000" dirty="0">
                <a:latin typeface="Consolas"/>
                <a:cs typeface="Consolas"/>
              </a:rPr>
              <a:t>="string"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android:path</a:t>
            </a:r>
            <a:r>
              <a:rPr lang="en-US" altLang="zh-CN" sz="2000" dirty="0">
                <a:latin typeface="Consolas"/>
                <a:cs typeface="Consolas"/>
              </a:rPr>
              <a:t>="string"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android:pathPattern</a:t>
            </a:r>
            <a:r>
              <a:rPr lang="en-US" altLang="zh-CN" sz="2000" dirty="0">
                <a:latin typeface="Consolas"/>
                <a:cs typeface="Consolas"/>
              </a:rPr>
              <a:t>="string" </a:t>
            </a:r>
            <a:endParaRPr lang="en-US" altLang="zh-CN" sz="2000" dirty="0" smtClean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 err="1" smtClean="0">
                <a:latin typeface="Consolas"/>
                <a:cs typeface="Consolas"/>
              </a:rPr>
              <a:t>android:pathPrefix</a:t>
            </a:r>
            <a:r>
              <a:rPr lang="en-US" altLang="zh-CN" sz="2000" dirty="0">
                <a:latin typeface="Consolas"/>
                <a:cs typeface="Consolas"/>
              </a:rPr>
              <a:t>="string" </a:t>
            </a:r>
            <a:endParaRPr lang="en-US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/</a:t>
            </a:r>
            <a:r>
              <a:rPr lang="en-US" altLang="zh-CN" sz="20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000" dirty="0" smtClean="0">
                <a:latin typeface="Consolas"/>
                <a:cs typeface="Consolas"/>
              </a:rPr>
              <a:t>.</a:t>
            </a:r>
            <a:r>
              <a:rPr lang="en-US" altLang="zh-CN" sz="2000" dirty="0">
                <a:latin typeface="Consolas"/>
                <a:cs typeface="Consolas"/>
              </a:rPr>
              <a:t>..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&lt;/intent-filter&gt; </a:t>
            </a:r>
            <a:endParaRPr lang="en-US" altLang="zh-CN" sz="2000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548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处理地理信息数据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&lt;intent-filter ...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  <a:endParaRPr lang="en-US" altLang="zh-CN" sz="24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.</a:t>
            </a:r>
            <a:r>
              <a:rPr lang="en-US" altLang="zh-CN" sz="2400" dirty="0">
                <a:latin typeface="Consolas"/>
                <a:cs typeface="Consolas"/>
              </a:rPr>
              <a:t>.. </a:t>
            </a:r>
          </a:p>
          <a:p>
            <a:pPr marL="349250" lvl="1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&lt;data </a:t>
            </a:r>
            <a:r>
              <a:rPr lang="en-US" altLang="zh-CN" sz="2400" dirty="0" err="1">
                <a:latin typeface="Consolas"/>
                <a:cs typeface="Consolas"/>
              </a:rPr>
              <a:t>android:scheme</a:t>
            </a:r>
            <a:r>
              <a:rPr lang="en-US" altLang="zh-CN" sz="2400" dirty="0" smtClean="0">
                <a:latin typeface="Consolas"/>
                <a:cs typeface="Consolas"/>
              </a:rPr>
              <a:t>=</a:t>
            </a:r>
            <a:r>
              <a:rPr lang="en-US" altLang="zh-CN" sz="2400" dirty="0" smtClean="0">
                <a:latin typeface="Consolas"/>
                <a:cs typeface="Consolas"/>
              </a:rPr>
              <a:t>“</a:t>
            </a:r>
            <a:r>
              <a:rPr lang="en-US" altLang="zh-CN" sz="2400" dirty="0" smtClean="0">
                <a:latin typeface="Consolas"/>
                <a:cs typeface="Consolas"/>
              </a:rPr>
              <a:t>geo” </a:t>
            </a:r>
            <a:r>
              <a:rPr lang="en-US" altLang="zh-CN" sz="2400" dirty="0">
                <a:latin typeface="Consolas"/>
                <a:cs typeface="Consolas"/>
              </a:rPr>
              <a:t>/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.</a:t>
            </a:r>
            <a:r>
              <a:rPr lang="en-US" altLang="zh-CN" sz="2400" dirty="0">
                <a:latin typeface="Consolas"/>
                <a:cs typeface="Consolas"/>
              </a:rPr>
              <a:t>.. </a:t>
            </a:r>
          </a:p>
          <a:p>
            <a:pPr marL="0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&lt;/intent-filter&gt; 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929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Intent filter</a:t>
            </a:r>
            <a:r>
              <a:rPr kumimoji="1" lang="zh-CN" altLang="en-US" dirty="0" smtClean="0"/>
              <a:t>中添加</a:t>
            </a:r>
            <a:r>
              <a:rPr kumimoji="1" lang="en-US" altLang="zh-CN" dirty="0" smtClean="0"/>
              <a:t>Category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&lt;intent-filter ...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.</a:t>
            </a:r>
            <a:r>
              <a:rPr lang="en-US" altLang="zh-CN" sz="2400" dirty="0">
                <a:latin typeface="Consolas"/>
                <a:cs typeface="Consolas"/>
              </a:rPr>
              <a:t>.. </a:t>
            </a:r>
          </a:p>
          <a:p>
            <a:pPr marL="349250" lvl="1" indent="0">
              <a:buNone/>
            </a:pPr>
            <a:r>
              <a:rPr lang="en-US" altLang="zh-CN" sz="2400" dirty="0">
                <a:latin typeface="Consolas"/>
                <a:cs typeface="Consolas"/>
              </a:rPr>
              <a:t>&lt;category </a:t>
            </a:r>
            <a:r>
              <a:rPr lang="en-US" altLang="zh-CN" sz="2400" dirty="0" err="1">
                <a:latin typeface="Consolas"/>
                <a:cs typeface="Consolas"/>
              </a:rPr>
              <a:t>android:name</a:t>
            </a:r>
            <a:r>
              <a:rPr lang="en-US" altLang="zh-CN" sz="2400" dirty="0">
                <a:latin typeface="Consolas"/>
                <a:cs typeface="Consolas"/>
              </a:rPr>
              <a:t>="string" /</a:t>
            </a:r>
            <a:r>
              <a:rPr lang="en-US" altLang="zh-CN" sz="2400" dirty="0" smtClean="0">
                <a:latin typeface="Consolas"/>
                <a:cs typeface="Consolas"/>
              </a:rPr>
              <a:t>&gt;</a:t>
            </a:r>
            <a:endParaRPr lang="en-US" altLang="zh-CN" sz="24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...</a:t>
            </a:r>
            <a:endParaRPr lang="en-US" altLang="zh-CN" sz="24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Consolas"/>
                <a:cs typeface="Consolas"/>
              </a:rPr>
              <a:t>&lt;</a:t>
            </a:r>
            <a:r>
              <a:rPr lang="en-US" altLang="zh-CN" sz="2400" dirty="0">
                <a:latin typeface="Consolas"/>
                <a:cs typeface="Consolas"/>
              </a:rPr>
              <a:t>/intent-filter&gt; </a:t>
            </a:r>
          </a:p>
          <a:p>
            <a:pPr marL="0" indent="0">
              <a:buNone/>
            </a:pP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66402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&lt;intent-filter ...</a:t>
            </a:r>
            <a:r>
              <a:rPr lang="en-US" altLang="zh-CN" sz="20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en-US" altLang="zh-CN" sz="2000" dirty="0" smtClean="0">
                <a:latin typeface="Consolas"/>
                <a:cs typeface="Consolas"/>
              </a:rPr>
              <a:t>&lt;</a:t>
            </a:r>
            <a:r>
              <a:rPr lang="en-US" altLang="zh-CN" sz="2000" dirty="0">
                <a:latin typeface="Consolas"/>
                <a:cs typeface="Consolas"/>
              </a:rPr>
              <a:t>action </a:t>
            </a:r>
            <a:r>
              <a:rPr lang="en-US" altLang="zh-CN" sz="2000" dirty="0" err="1"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latin typeface="Consolas"/>
                <a:cs typeface="Consolas"/>
              </a:rPr>
              <a:t> = "</a:t>
            </a:r>
            <a:r>
              <a:rPr lang="en-US" altLang="zh-CN" sz="2000" dirty="0" err="1">
                <a:latin typeface="Consolas"/>
                <a:cs typeface="Consolas"/>
              </a:rPr>
              <a:t>android.intent.action.VIEW</a:t>
            </a:r>
            <a:r>
              <a:rPr lang="en-US" altLang="zh-CN" sz="2000" dirty="0">
                <a:latin typeface="Consolas"/>
                <a:cs typeface="Consolas"/>
              </a:rPr>
              <a:t>" /</a:t>
            </a:r>
            <a:r>
              <a:rPr lang="en-US" altLang="zh-CN" sz="2000" dirty="0" smtClean="0">
                <a:latin typeface="Consolas"/>
                <a:cs typeface="Consolas"/>
              </a:rPr>
              <a:t>&gt;</a:t>
            </a:r>
            <a:endParaRPr lang="en-US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&lt;category </a:t>
            </a:r>
            <a:r>
              <a:rPr lang="en-US" altLang="zh-CN" sz="2000" dirty="0" err="1">
                <a:solidFill>
                  <a:srgbClr val="FF0000"/>
                </a:solidFill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 = </a:t>
            </a:r>
            <a:r>
              <a:rPr lang="en-US" altLang="zh-CN" sz="2000" dirty="0" smtClean="0">
                <a:solidFill>
                  <a:srgbClr val="FF0000"/>
                </a:solidFill>
                <a:latin typeface="Consolas"/>
                <a:cs typeface="Consolas"/>
              </a:rPr>
              <a:t>	"</a:t>
            </a:r>
            <a:r>
              <a:rPr lang="en-US" altLang="zh-CN" sz="2000" dirty="0" err="1">
                <a:solidFill>
                  <a:srgbClr val="FF0000"/>
                </a:solidFill>
                <a:latin typeface="Consolas"/>
                <a:cs typeface="Consolas"/>
              </a:rPr>
              <a:t>android.intent.category.DEFAULT</a:t>
            </a:r>
            <a:r>
              <a:rPr lang="en-US" altLang="zh-CN" sz="2000" dirty="0">
                <a:solidFill>
                  <a:srgbClr val="FF0000"/>
                </a:solidFill>
                <a:latin typeface="Consolas"/>
                <a:cs typeface="Consolas"/>
              </a:rPr>
              <a:t>" /</a:t>
            </a:r>
            <a:r>
              <a:rPr lang="en-US" altLang="zh-CN" sz="2000" dirty="0" smtClean="0">
                <a:solidFill>
                  <a:srgbClr val="FF0000"/>
                </a:solidFill>
                <a:latin typeface="Consolas"/>
                <a:cs typeface="Consolas"/>
              </a:rPr>
              <a:t>&gt;</a:t>
            </a:r>
            <a:endParaRPr lang="en-US" altLang="zh-CN" sz="2000" dirty="0">
              <a:solidFill>
                <a:srgbClr val="FF0000"/>
              </a:solidFill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&lt;category </a:t>
            </a:r>
            <a:r>
              <a:rPr lang="en-US" altLang="zh-CN" sz="2000" dirty="0" err="1">
                <a:latin typeface="Consolas"/>
                <a:cs typeface="Consolas"/>
              </a:rPr>
              <a:t>android:name</a:t>
            </a:r>
            <a:r>
              <a:rPr lang="en-US" altLang="zh-CN" sz="2000" dirty="0">
                <a:latin typeface="Consolas"/>
                <a:cs typeface="Consolas"/>
              </a:rPr>
              <a:t> </a:t>
            </a:r>
            <a:r>
              <a:rPr lang="en-US" altLang="zh-CN" sz="2000" dirty="0" smtClean="0">
                <a:latin typeface="Consolas"/>
                <a:cs typeface="Consolas"/>
              </a:rPr>
              <a:t>= 	"</a:t>
            </a:r>
            <a:r>
              <a:rPr lang="en-US" altLang="zh-CN" sz="2000" dirty="0" err="1" smtClean="0">
                <a:latin typeface="Consolas"/>
                <a:cs typeface="Consolas"/>
              </a:rPr>
              <a:t>android.intent.category.BROWSABLE</a:t>
            </a:r>
            <a:r>
              <a:rPr lang="en-US" altLang="zh-CN" sz="2000" dirty="0">
                <a:latin typeface="Consolas"/>
                <a:cs typeface="Consolas"/>
              </a:rPr>
              <a:t>"</a:t>
            </a:r>
            <a:r>
              <a:rPr lang="en-US" altLang="zh-CN" sz="2000" dirty="0" smtClean="0">
                <a:latin typeface="Consolas"/>
                <a:cs typeface="Consolas"/>
              </a:rPr>
              <a:t>/&gt;</a:t>
            </a:r>
            <a:endParaRPr lang="en-US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&lt;data </a:t>
            </a:r>
            <a:r>
              <a:rPr lang="en-US" altLang="zh-CN" sz="2000" dirty="0" err="1">
                <a:latin typeface="Consolas"/>
                <a:cs typeface="Consolas"/>
              </a:rPr>
              <a:t>android:scheme</a:t>
            </a:r>
            <a:r>
              <a:rPr lang="en-US" altLang="zh-CN" sz="2000" dirty="0">
                <a:latin typeface="Consolas"/>
                <a:cs typeface="Consolas"/>
              </a:rPr>
              <a:t> = "</a:t>
            </a:r>
            <a:r>
              <a:rPr lang="en-US" altLang="zh-CN" sz="2000" dirty="0" smtClean="0">
                <a:latin typeface="Consolas"/>
                <a:cs typeface="Consolas"/>
              </a:rPr>
              <a:t>geo</a:t>
            </a:r>
            <a:r>
              <a:rPr lang="en-US" altLang="zh-CN" sz="2000" dirty="0">
                <a:latin typeface="Consolas"/>
                <a:cs typeface="Consolas"/>
              </a:rPr>
              <a:t>"</a:t>
            </a:r>
            <a:r>
              <a:rPr lang="en-US" altLang="zh-CN" sz="2000" dirty="0" smtClean="0">
                <a:latin typeface="Consolas"/>
                <a:cs typeface="Consolas"/>
              </a:rPr>
              <a:t>/</a:t>
            </a:r>
            <a:r>
              <a:rPr lang="en-US" altLang="zh-CN" sz="2000" dirty="0">
                <a:latin typeface="Consolas"/>
                <a:cs typeface="Consolas"/>
              </a:rPr>
              <a:t>&gt; </a:t>
            </a:r>
          </a:p>
          <a:p>
            <a:pPr marL="0" indent="0">
              <a:buNone/>
            </a:pPr>
            <a:r>
              <a:rPr lang="en-US" altLang="zh-CN" sz="2000" dirty="0">
                <a:latin typeface="Consolas"/>
                <a:cs typeface="Consolas"/>
              </a:rPr>
              <a:t>&lt;/intent-filter&gt;" </a:t>
            </a:r>
          </a:p>
          <a:p>
            <a:pPr marL="0" indent="0">
              <a:buNone/>
            </a:pPr>
            <a:endParaRPr kumimoji="1" lang="en-US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Consolas"/>
                <a:cs typeface="Consolas"/>
              </a:rPr>
              <a:t>为了接收隐式</a:t>
            </a:r>
            <a:r>
              <a:rPr lang="en-US" altLang="zh-CN" sz="2000" dirty="0" smtClean="0">
                <a:latin typeface="Consolas"/>
                <a:cs typeface="Consolas"/>
              </a:rPr>
              <a:t>Intent</a:t>
            </a:r>
            <a:r>
              <a:rPr lang="zh-CN" altLang="en-US" sz="2000" dirty="0" smtClean="0">
                <a:latin typeface="Consolas"/>
                <a:cs typeface="Consolas"/>
              </a:rPr>
              <a:t>，</a:t>
            </a:r>
            <a:r>
              <a:rPr lang="en-US" altLang="zh-CN" sz="2000" dirty="0" smtClean="0">
                <a:latin typeface="Consolas"/>
                <a:cs typeface="Consolas"/>
              </a:rPr>
              <a:t>Activity</a:t>
            </a:r>
            <a:r>
              <a:rPr lang="zh-CN" altLang="en-US" sz="2000" dirty="0" smtClean="0">
                <a:latin typeface="Consolas"/>
                <a:cs typeface="Consolas"/>
              </a:rPr>
              <a:t>必须指定</a:t>
            </a:r>
            <a:r>
              <a:rPr lang="en-US" altLang="zh-CN" sz="2000" dirty="0" smtClean="0">
                <a:latin typeface="Consolas"/>
                <a:cs typeface="Consolas"/>
              </a:rPr>
              <a:t>Category</a:t>
            </a:r>
            <a:r>
              <a:rPr lang="zh-CN" altLang="en-US" sz="2000" dirty="0" smtClean="0">
                <a:latin typeface="Consolas"/>
                <a:cs typeface="Consolas"/>
              </a:rPr>
              <a:t>为</a:t>
            </a:r>
            <a:r>
              <a:rPr lang="en-US" altLang="zh-CN" sz="2000" smtClean="0">
                <a:latin typeface="Consolas"/>
                <a:cs typeface="Consolas"/>
              </a:rPr>
              <a:t>...DEFAULT</a:t>
            </a: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25101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通过权限来限制对资源和数据的访问</a:t>
            </a:r>
            <a:endParaRPr kumimoji="1" lang="en-US" altLang="zh-CN" dirty="0" smtClean="0"/>
          </a:p>
          <a:p>
            <a:r>
              <a:rPr kumimoji="1" lang="zh-CN" altLang="en-US" dirty="0" smtClean="0"/>
              <a:t>用字符串表示</a:t>
            </a:r>
            <a:endParaRPr kumimoji="1"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AndroidManifest.xml</a:t>
            </a:r>
            <a:r>
              <a:rPr lang="zh-CN" altLang="en-US" dirty="0" smtClean="0"/>
              <a:t>中声明权限</a:t>
            </a:r>
            <a:endParaRPr lang="en-US" altLang="zh-CN" dirty="0" smtClean="0"/>
          </a:p>
          <a:p>
            <a:r>
              <a:rPr kumimoji="1" lang="zh-CN" altLang="en-US" dirty="0" smtClean="0"/>
              <a:t>使用自身</a:t>
            </a:r>
            <a:endParaRPr kumimoji="1" lang="en-US" altLang="zh-CN" dirty="0" smtClean="0"/>
          </a:p>
          <a:p>
            <a:r>
              <a:rPr lang="zh-CN" altLang="en-US" dirty="0" smtClean="0"/>
              <a:t>使用其它部件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5459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使用权限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&lt;uses-permission&gt;</a:t>
            </a:r>
            <a:r>
              <a:rPr kumimoji="1" lang="zh-CN" altLang="en-US" dirty="0" smtClean="0"/>
              <a:t>指定所需权限</a:t>
            </a:r>
            <a:endParaRPr kumimoji="1" lang="en-US" altLang="zh-CN" dirty="0" smtClean="0"/>
          </a:p>
          <a:p>
            <a:r>
              <a:rPr lang="zh-CN" altLang="en-US" dirty="0" smtClean="0"/>
              <a:t>用户在安装程序时必须接受这些权限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097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使用权限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</a:t>
            </a:r>
            <a:r>
              <a:rPr lang="fr-FR" altLang="zh-CN" sz="2000" dirty="0" err="1">
                <a:latin typeface="Consolas"/>
                <a:cs typeface="Consolas"/>
              </a:rPr>
              <a:t>manifest</a:t>
            </a:r>
            <a:r>
              <a:rPr lang="fr-FR" altLang="zh-CN" sz="2000" dirty="0">
                <a:latin typeface="Consolas"/>
                <a:cs typeface="Consolas"/>
              </a:rPr>
              <a:t> ... </a:t>
            </a:r>
            <a:r>
              <a:rPr lang="fr-FR" altLang="zh-CN" sz="2000" dirty="0" smtClean="0">
                <a:latin typeface="Consolas"/>
                <a:cs typeface="Consolas"/>
              </a:rPr>
              <a:t>&gt;</a:t>
            </a:r>
          </a:p>
          <a:p>
            <a:pPr marL="349250" lvl="1" indent="0">
              <a:buNone/>
            </a:pPr>
            <a:r>
              <a:rPr lang="fr-FR" altLang="zh-CN" sz="2000" dirty="0" smtClean="0">
                <a:latin typeface="Consolas"/>
                <a:cs typeface="Consolas"/>
              </a:rPr>
              <a:t>... </a:t>
            </a:r>
            <a:endParaRPr lang="fr-FR" altLang="zh-CN" sz="2000" dirty="0">
              <a:latin typeface="Consolas"/>
              <a:cs typeface="Consolas"/>
            </a:endParaRPr>
          </a:p>
          <a:p>
            <a:pPr marL="349250" lvl="1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&lt;uses-permission </a:t>
            </a:r>
            <a:r>
              <a:rPr lang="fr-FR" altLang="zh-CN" sz="2000" dirty="0" err="1">
                <a:latin typeface="Consolas"/>
                <a:cs typeface="Consolas"/>
              </a:rPr>
              <a:t>android:name</a:t>
            </a:r>
            <a:r>
              <a:rPr lang="fr-FR" altLang="zh-CN" sz="2000" dirty="0" smtClean="0">
                <a:latin typeface="Consolas"/>
                <a:cs typeface="Consolas"/>
              </a:rPr>
              <a:t>= 	"</a:t>
            </a:r>
            <a:r>
              <a:rPr lang="fr-FR" altLang="zh-CN" sz="2000" dirty="0" err="1" smtClean="0">
                <a:latin typeface="Consolas"/>
                <a:cs typeface="Consolas"/>
              </a:rPr>
              <a:t>android.permission.CAMERA</a:t>
            </a:r>
            <a:r>
              <a:rPr lang="fr-FR" altLang="zh-CN" sz="2000" dirty="0">
                <a:latin typeface="Consolas"/>
                <a:cs typeface="Consolas"/>
              </a:rPr>
              <a:t>"</a:t>
            </a:r>
            <a:r>
              <a:rPr lang="fr-FR" altLang="zh-CN" sz="2000" dirty="0" smtClean="0">
                <a:latin typeface="Consolas"/>
                <a:cs typeface="Consolas"/>
              </a:rPr>
              <a:t>/</a:t>
            </a:r>
            <a:r>
              <a:rPr lang="fr-FR" altLang="zh-CN" sz="2000" dirty="0">
                <a:latin typeface="Consolas"/>
                <a:cs typeface="Consolas"/>
              </a:rPr>
              <a:t>&gt; </a:t>
            </a:r>
          </a:p>
          <a:p>
            <a:pPr marL="349250" lvl="1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&lt;uses-permission </a:t>
            </a:r>
            <a:r>
              <a:rPr lang="fr-FR" altLang="zh-CN" sz="2000" dirty="0" err="1">
                <a:latin typeface="Consolas"/>
                <a:cs typeface="Consolas"/>
              </a:rPr>
              <a:t>android:name</a:t>
            </a:r>
            <a:r>
              <a:rPr lang="fr-FR" altLang="zh-CN" sz="2000" dirty="0" smtClean="0">
                <a:latin typeface="Consolas"/>
                <a:cs typeface="Consolas"/>
              </a:rPr>
              <a:t>= 	"</a:t>
            </a:r>
            <a:r>
              <a:rPr lang="fr-FR" altLang="zh-CN" sz="2000" dirty="0" err="1" smtClean="0">
                <a:latin typeface="Consolas"/>
                <a:cs typeface="Consolas"/>
              </a:rPr>
              <a:t>android.permission.INTERNET</a:t>
            </a:r>
            <a:r>
              <a:rPr lang="fr-FR" altLang="zh-CN" sz="2000" dirty="0">
                <a:latin typeface="Consolas"/>
                <a:cs typeface="Consolas"/>
              </a:rPr>
              <a:t>"</a:t>
            </a:r>
            <a:r>
              <a:rPr lang="fr-FR" altLang="zh-CN" sz="2000" dirty="0" smtClean="0">
                <a:latin typeface="Consolas"/>
                <a:cs typeface="Consolas"/>
              </a:rPr>
              <a:t>/</a:t>
            </a:r>
            <a:r>
              <a:rPr lang="fr-FR" altLang="zh-CN" sz="2000" dirty="0">
                <a:latin typeface="Consolas"/>
                <a:cs typeface="Consolas"/>
              </a:rPr>
              <a:t>&gt; </a:t>
            </a:r>
          </a:p>
          <a:p>
            <a:pPr marL="349250" lvl="1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&lt;uses-permission </a:t>
            </a:r>
            <a:r>
              <a:rPr lang="fr-FR" altLang="zh-CN" sz="2000" dirty="0" err="1">
                <a:latin typeface="Consolas"/>
                <a:cs typeface="Consolas"/>
              </a:rPr>
              <a:t>android:name</a:t>
            </a:r>
            <a:r>
              <a:rPr lang="fr-FR" altLang="zh-CN" sz="2000" dirty="0" smtClean="0">
                <a:latin typeface="Consolas"/>
                <a:cs typeface="Consolas"/>
              </a:rPr>
              <a:t>= 	"</a:t>
            </a:r>
            <a:r>
              <a:rPr lang="fr-FR" altLang="zh-CN" sz="2000" dirty="0" err="1" smtClean="0">
                <a:latin typeface="Consolas"/>
                <a:cs typeface="Consolas"/>
              </a:rPr>
              <a:t>android.permission.ACCESS_FINE_LOCATION</a:t>
            </a:r>
            <a:r>
              <a:rPr lang="fr-FR" altLang="zh-CN" sz="2000" dirty="0">
                <a:latin typeface="Consolas"/>
                <a:cs typeface="Consolas"/>
              </a:rPr>
              <a:t>"</a:t>
            </a:r>
            <a:r>
              <a:rPr lang="fr-FR" altLang="zh-CN" sz="2000" dirty="0" smtClean="0">
                <a:latin typeface="Consolas"/>
                <a:cs typeface="Consolas"/>
              </a:rPr>
              <a:t>/</a:t>
            </a:r>
            <a:r>
              <a:rPr lang="fr-FR" altLang="zh-CN" sz="2000" dirty="0">
                <a:latin typeface="Consolas"/>
                <a:cs typeface="Consolas"/>
              </a:rPr>
              <a:t>&gt; </a:t>
            </a:r>
          </a:p>
          <a:p>
            <a:pPr marL="349250" lvl="1" indent="0">
              <a:buNone/>
            </a:pPr>
            <a:r>
              <a:rPr lang="fr-FR" altLang="zh-CN" sz="2000" dirty="0">
                <a:latin typeface="Consolas"/>
                <a:cs typeface="Consolas"/>
              </a:rPr>
              <a:t>... </a:t>
            </a:r>
            <a:endParaRPr lang="fr-FR" altLang="zh-CN" sz="2000" dirty="0" smtClean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fr-FR" altLang="zh-CN" sz="2000" dirty="0" smtClean="0">
                <a:latin typeface="Consolas"/>
                <a:cs typeface="Consolas"/>
              </a:rPr>
              <a:t>&lt;</a:t>
            </a:r>
            <a:r>
              <a:rPr lang="fr-FR" altLang="zh-CN" sz="2000" dirty="0">
                <a:latin typeface="Consolas"/>
                <a:cs typeface="Consolas"/>
              </a:rPr>
              <a:t>/</a:t>
            </a:r>
            <a:r>
              <a:rPr lang="fr-FR" altLang="zh-CN" sz="2000" dirty="0" err="1">
                <a:latin typeface="Consolas"/>
                <a:cs typeface="Consolas"/>
              </a:rPr>
              <a:t>manifest</a:t>
            </a:r>
            <a:r>
              <a:rPr lang="fr-FR" altLang="zh-CN" sz="2000" dirty="0">
                <a:latin typeface="Consolas"/>
                <a:cs typeface="Consolas"/>
              </a:rPr>
              <a:t> &gt; </a:t>
            </a:r>
          </a:p>
          <a:p>
            <a:pPr marL="0" indent="0">
              <a:buNone/>
            </a:pPr>
            <a:endParaRPr kumimoji="1" lang="zh-CN" altLang="en-US"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92567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定义权限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App</a:t>
            </a:r>
            <a:r>
              <a:rPr kumimoji="1" lang="zh-CN" altLang="en-US" dirty="0" smtClean="0"/>
              <a:t>可以定义和使用自己的权限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375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部件权限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单独的部件可以设置自己的权限，限制其它部件访问自己</a:t>
            </a:r>
            <a:endParaRPr kumimoji="1" lang="en-US" altLang="zh-CN" dirty="0" smtClean="0"/>
          </a:p>
          <a:p>
            <a:r>
              <a:rPr lang="zh-CN" altLang="en-US" dirty="0" smtClean="0"/>
              <a:t>部件权限优先于应用程序层权限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526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限制哪些部件能启动</a:t>
            </a:r>
            <a:r>
              <a:rPr kumimoji="1" lang="en-US" altLang="zh-CN" dirty="0" smtClean="0"/>
              <a:t>Activity</a:t>
            </a:r>
          </a:p>
          <a:p>
            <a:r>
              <a:rPr lang="zh-CN" altLang="en-US" dirty="0" smtClean="0"/>
              <a:t>在执行下列函数时检查</a:t>
            </a:r>
            <a:endParaRPr lang="en-US" altLang="zh-CN" dirty="0"/>
          </a:p>
          <a:p>
            <a:pPr lvl="1"/>
            <a:r>
              <a:rPr lang="en-US" altLang="zh-CN" dirty="0" err="1" smtClean="0"/>
              <a:t>startActivity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lvl="1"/>
            <a:r>
              <a:rPr lang="en-US" altLang="zh-CN" dirty="0" err="1" smtClean="0"/>
              <a:t>startActivityForResult</a:t>
            </a:r>
            <a:r>
              <a:rPr lang="en-US" altLang="zh-CN" dirty="0" smtClean="0"/>
              <a:t>()</a:t>
            </a:r>
          </a:p>
          <a:p>
            <a:r>
              <a:rPr kumimoji="1" lang="zh-CN" altLang="en-US" dirty="0" smtClean="0"/>
              <a:t>权限检查失败时，抛出</a:t>
            </a:r>
            <a:r>
              <a:rPr kumimoji="1" lang="en-US" altLang="zh-CN" dirty="0" err="1" smtClean="0"/>
              <a:t>SecurityException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2494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限制哪些部件能够启动或绑定对应的服务</a:t>
            </a:r>
            <a:endParaRPr kumimoji="1" lang="en-US" altLang="zh-CN" dirty="0" smtClean="0"/>
          </a:p>
          <a:p>
            <a:r>
              <a:rPr lang="zh-CN" altLang="en-US" dirty="0" smtClean="0"/>
              <a:t>在执行下列函数时检查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Context.startService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Context.stopService</a:t>
            </a:r>
            <a:r>
              <a:rPr lang="en-US" altLang="zh-CN" dirty="0" smtClean="0"/>
              <a:t>()</a:t>
            </a:r>
          </a:p>
          <a:p>
            <a:pPr lvl="1"/>
            <a:r>
              <a:rPr kumimoji="1" lang="en-US" altLang="zh-CN" dirty="0" err="1" smtClean="0"/>
              <a:t>Context.bindService</a:t>
            </a:r>
            <a:r>
              <a:rPr kumimoji="1" lang="en-US" altLang="zh-CN" dirty="0" smtClean="0"/>
              <a:t>()</a:t>
            </a:r>
          </a:p>
          <a:p>
            <a:r>
              <a:rPr lang="zh-CN" altLang="en-US" dirty="0"/>
              <a:t>权限检查失败时，抛出</a:t>
            </a:r>
            <a:r>
              <a:rPr lang="en-US" altLang="zh-CN" dirty="0" err="1"/>
              <a:t>SecurityException</a:t>
            </a:r>
            <a:endParaRPr lang="zh-CN" altLang="en-US" dirty="0"/>
          </a:p>
          <a:p>
            <a:pPr lvl="1"/>
            <a:endParaRPr kumimoji="1" lang="en-US" altLang="zh-CN" dirty="0" smtClean="0"/>
          </a:p>
          <a:p>
            <a:pPr lvl="1"/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3751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BroadcastReceiver</a:t>
            </a:r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限制哪些部件可以发送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接收广播</a:t>
            </a:r>
            <a:endParaRPr kumimoji="1" lang="en-US" altLang="zh-CN" dirty="0" smtClean="0"/>
          </a:p>
          <a:p>
            <a:r>
              <a:rPr lang="zh-CN" altLang="en-US" dirty="0" smtClean="0"/>
              <a:t>在多处进行检查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46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ContentProvider</a:t>
            </a:r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限制哪些部件可以读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写</a:t>
            </a:r>
            <a:r>
              <a:rPr kumimoji="1" lang="en-US" altLang="zh-CN" dirty="0" err="1" smtClean="0"/>
              <a:t>ContentProvider</a:t>
            </a:r>
            <a:r>
              <a:rPr kumimoji="1" lang="zh-CN" altLang="en-US" dirty="0" smtClean="0"/>
              <a:t>中的数据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177086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457</TotalTime>
  <Words>786</Words>
  <Application>Microsoft Macintosh PowerPoint</Application>
  <PresentationFormat>全屏显示(4:3)</PresentationFormat>
  <Paragraphs>218</Paragraphs>
  <Slides>35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6" baseType="lpstr">
      <vt:lpstr>Android</vt:lpstr>
      <vt:lpstr>高级界面开发技术</vt:lpstr>
      <vt:lpstr>Intent（意图） 类</vt:lpstr>
      <vt:lpstr>使用Intent</vt:lpstr>
      <vt:lpstr>用 Intent 执行操作</vt:lpstr>
      <vt:lpstr>Intent 字段</vt:lpstr>
      <vt:lpstr>Action</vt:lpstr>
      <vt:lpstr>设置 Intent Action</vt:lpstr>
      <vt:lpstr>Data</vt:lpstr>
      <vt:lpstr>设置Intent Data</vt:lpstr>
      <vt:lpstr>Category</vt:lpstr>
      <vt:lpstr>Type</vt:lpstr>
      <vt:lpstr>设置Type</vt:lpstr>
      <vt:lpstr>Component</vt:lpstr>
      <vt:lpstr>Extras</vt:lpstr>
      <vt:lpstr>Flags</vt:lpstr>
      <vt:lpstr>用Intent启动Activity</vt:lpstr>
      <vt:lpstr>目标Activity</vt:lpstr>
      <vt:lpstr>显示设定</vt:lpstr>
      <vt:lpstr>隐式设定</vt:lpstr>
      <vt:lpstr>Intent Resolution数据</vt:lpstr>
      <vt:lpstr>设置Intent filter</vt:lpstr>
      <vt:lpstr>设置Intent filter</vt:lpstr>
      <vt:lpstr>为Intent filter添加数据</vt:lpstr>
      <vt:lpstr>处理地理信息数据</vt:lpstr>
      <vt:lpstr>在Intent filter中添加Category</vt:lpstr>
      <vt:lpstr>例子</vt:lpstr>
      <vt:lpstr>权限</vt:lpstr>
      <vt:lpstr>使用权限</vt:lpstr>
      <vt:lpstr>使用权限</vt:lpstr>
      <vt:lpstr>定义权限</vt:lpstr>
      <vt:lpstr>部件权限</vt:lpstr>
      <vt:lpstr>Activity权限</vt:lpstr>
      <vt:lpstr>Service权限</vt:lpstr>
      <vt:lpstr>BroadcastReceiver权限</vt:lpstr>
      <vt:lpstr>ContentProvider权限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高级界面开发技术</dc:title>
  <dc:creator>韩 建伟</dc:creator>
  <cp:lastModifiedBy>韩 建伟</cp:lastModifiedBy>
  <cp:revision>111</cp:revision>
  <dcterms:created xsi:type="dcterms:W3CDTF">2014-03-19T09:45:28Z</dcterms:created>
  <dcterms:modified xsi:type="dcterms:W3CDTF">2014-03-19T17:22:58Z</dcterms:modified>
</cp:coreProperties>
</file>