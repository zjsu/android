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6858000" type="screen4x3"/>
  <p:notesSz cx="6858000" cy="9144000"/>
  <p:defaultTextStyle>
    <a:defPPr>
      <a:defRPr lang="zh-CN"/>
    </a:defPPr>
    <a:lvl1pPr algn="l" defTabSz="457200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宋体" charset="0"/>
        <a:cs typeface="宋体" charset="0"/>
      </a:defRPr>
    </a:lvl1pPr>
    <a:lvl2pPr marL="457200" algn="l" defTabSz="457200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宋体" charset="0"/>
        <a:cs typeface="宋体" charset="0"/>
      </a:defRPr>
    </a:lvl2pPr>
    <a:lvl3pPr marL="914400" algn="l" defTabSz="457200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宋体" charset="0"/>
        <a:cs typeface="宋体" charset="0"/>
      </a:defRPr>
    </a:lvl3pPr>
    <a:lvl4pPr marL="1371600" algn="l" defTabSz="457200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宋体" charset="0"/>
        <a:cs typeface="宋体" charset="0"/>
      </a:defRPr>
    </a:lvl4pPr>
    <a:lvl5pPr marL="1828800" algn="l" defTabSz="457200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宋体" charset="0"/>
        <a:cs typeface="宋体" charset="0"/>
      </a:defRPr>
    </a:lvl5pPr>
    <a:lvl6pPr marL="2286000" algn="l" defTabSz="457200" rtl="0" eaLnBrk="1" latinLnBrk="0" hangingPunct="1">
      <a:defRPr kumimoji="1" kern="1200">
        <a:solidFill>
          <a:schemeClr val="tx1"/>
        </a:solidFill>
        <a:latin typeface="Arial" charset="0"/>
        <a:ea typeface="宋体" charset="0"/>
        <a:cs typeface="宋体" charset="0"/>
      </a:defRPr>
    </a:lvl6pPr>
    <a:lvl7pPr marL="2743200" algn="l" defTabSz="457200" rtl="0" eaLnBrk="1" latinLnBrk="0" hangingPunct="1">
      <a:defRPr kumimoji="1" kern="1200">
        <a:solidFill>
          <a:schemeClr val="tx1"/>
        </a:solidFill>
        <a:latin typeface="Arial" charset="0"/>
        <a:ea typeface="宋体" charset="0"/>
        <a:cs typeface="宋体" charset="0"/>
      </a:defRPr>
    </a:lvl7pPr>
    <a:lvl8pPr marL="3200400" algn="l" defTabSz="457200" rtl="0" eaLnBrk="1" latinLnBrk="0" hangingPunct="1">
      <a:defRPr kumimoji="1" kern="1200">
        <a:solidFill>
          <a:schemeClr val="tx1"/>
        </a:solidFill>
        <a:latin typeface="Arial" charset="0"/>
        <a:ea typeface="宋体" charset="0"/>
        <a:cs typeface="宋体" charset="0"/>
      </a:defRPr>
    </a:lvl8pPr>
    <a:lvl9pPr marL="3657600" algn="l" defTabSz="457200" rtl="0" eaLnBrk="1" latinLnBrk="0" hangingPunct="1">
      <a:defRPr kumimoji="1" kern="1200">
        <a:solidFill>
          <a:schemeClr val="tx1"/>
        </a:solidFill>
        <a:latin typeface="Arial" charset="0"/>
        <a:ea typeface="宋体" charset="0"/>
        <a:cs typeface="宋体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49" d="100"/>
          <a:sy n="149" d="100"/>
        </p:scale>
        <p:origin x="-2096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printerSettings" Target="printerSettings/printerSettings1.bin"/><Relationship Id="rId32" Type="http://schemas.openxmlformats.org/officeDocument/2006/relationships/presProps" Target="presProps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6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7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8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9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1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2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3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4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5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6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7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8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20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21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22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23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24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25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26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27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28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29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30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31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32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33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34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35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36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</p:grpSp>
      <p:sp>
        <p:nvSpPr>
          <p:cNvPr id="37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8" name="Picture 14" descr="http://www.proxware.com/images/androids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4150" y="5257800"/>
            <a:ext cx="3879850" cy="140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632200"/>
            <a:ext cx="3225800" cy="322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r>
              <a:rPr lang="zh-CN" altLang="en-US" smtClean="0"/>
              <a:t>单击此处编辑母版标题样式</a:t>
            </a:r>
            <a:endParaRPr lang="en-US" altLang="en-US" dirty="0"/>
          </a:p>
        </p:txBody>
      </p:sp>
      <p:sp>
        <p:nvSpPr>
          <p:cNvPr id="3277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200"/>
            </a:lvl1pPr>
          </a:lstStyle>
          <a:p>
            <a:r>
              <a:rPr lang="zh-CN" altLang="en-US" smtClean="0"/>
              <a:t>单击此处编辑母版副标题样式</a:t>
            </a:r>
            <a:endParaRPr lang="en-US" altLang="en-US" dirty="0"/>
          </a:p>
        </p:txBody>
      </p:sp>
      <p:sp>
        <p:nvSpPr>
          <p:cNvPr id="40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AFF57B3-3822-8C43-AAA8-72CD8FCBD7FD}" type="datetimeFigureOut">
              <a:rPr lang="zh-CN" altLang="en-US"/>
              <a:pPr>
                <a:defRPr/>
              </a:pPr>
              <a:t>5/28/14</a:t>
            </a:fld>
            <a:endParaRPr lang="zh-CN" altLang="en-US"/>
          </a:p>
        </p:txBody>
      </p:sp>
      <p:sp>
        <p:nvSpPr>
          <p:cNvPr id="41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2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26218C9-C336-2F46-A3A1-4D126029AFF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6813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://www.pslweb.org/liberationnews/assets/images/website/android-logo-peekin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6238" y="4648200"/>
            <a:ext cx="1147762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E58EF4D-7A81-B64F-A9AA-153D37FCBDAD}" type="datetimeFigureOut">
              <a:rPr lang="zh-CN" altLang="en-US"/>
              <a:pPr>
                <a:defRPr/>
              </a:pPr>
              <a:t>5/28/14</a:t>
            </a:fld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ED4DEDB-3095-4444-A482-4B9617226B0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9405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A328EA-D04C-6E4C-82AC-47D5A6CE9252}" type="datetimeFigureOut">
              <a:rPr lang="zh-CN" altLang="en-US"/>
              <a:pPr>
                <a:defRPr/>
              </a:pPr>
              <a:t>5/28/14</a:t>
            </a:fld>
            <a:endParaRPr lang="zh-CN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344F76-D356-0545-AF8E-0132649E30A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2105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09AFAF-E246-B14A-ABF9-69410E00C5B7}" type="datetimeFigureOut">
              <a:rPr lang="zh-CN" altLang="en-US"/>
              <a:pPr>
                <a:defRPr/>
              </a:pPr>
              <a:t>5/28/14</a:t>
            </a:fld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69F0C1-92A8-C54C-9153-330BD96D7B0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8160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F6BA40-CE65-B94C-86BC-64906BB68D25}" type="datetimeFigureOut">
              <a:rPr lang="zh-CN" altLang="en-US"/>
              <a:pPr>
                <a:defRPr/>
              </a:pPr>
              <a:t>5/28/14</a:t>
            </a:fld>
            <a:endParaRPr lang="zh-CN" alt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884A17-D5BC-FC47-8862-A06B1A1D355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3960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BA1258-9EC7-8C4A-89A1-B269471E57E8}" type="datetimeFigureOut">
              <a:rPr lang="zh-CN" altLang="en-US"/>
              <a:pPr>
                <a:defRPr/>
              </a:pPr>
              <a:t>5/28/14</a:t>
            </a:fld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CF1B3C-8DDD-AC47-8B26-269542E958A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1612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BFA845-2D3C-B54A-90B5-25111C3B9629}" type="datetimeFigureOut">
              <a:rPr lang="zh-CN" altLang="en-US"/>
              <a:pPr>
                <a:defRPr/>
              </a:pPr>
              <a:t>5/28/14</a:t>
            </a:fld>
            <a:endParaRPr lang="zh-CN" alt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B2D85D-7BC6-B047-BFE7-480021E7DDC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2015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94D925-6519-D64E-B2F4-521ADA2FBC35}" type="datetimeFigureOut">
              <a:rPr lang="zh-CN" altLang="en-US"/>
              <a:pPr>
                <a:defRPr/>
              </a:pPr>
              <a:t>5/28/14</a:t>
            </a:fld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0549E3-D466-8D41-ADAB-3FC57901386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5292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将图片拖动到占位符，或单击添加图标</a:t>
            </a:r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CEB09F-FE40-3D41-9D4A-07EFD8860CA6}" type="datetimeFigureOut">
              <a:rPr lang="zh-CN" altLang="en-US"/>
              <a:pPr>
                <a:defRPr/>
              </a:pPr>
              <a:t>5/28/14</a:t>
            </a:fld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622EA8-E2A3-D440-AF6E-83A3BD358D7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3891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9DB3C1-0C4C-9F49-B54B-175A8B468E7C}" type="datetimeFigureOut">
              <a:rPr lang="zh-CN" altLang="en-US"/>
              <a:pPr>
                <a:defRPr/>
              </a:pPr>
              <a:t>5/28/14</a:t>
            </a:fld>
            <a:endParaRPr lang="zh-CN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F0F4FD-4D0B-E14F-8B77-763DD43EE43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1475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06A66F-048B-6C49-A852-8894CD39A094}" type="datetimeFigureOut">
              <a:rPr lang="zh-CN" altLang="en-US"/>
              <a:pPr>
                <a:defRPr/>
              </a:pPr>
              <a:t>5/28/14</a:t>
            </a:fld>
            <a:endParaRPr lang="zh-CN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5A42F0-D4E2-D546-96A3-094CD4D4CE9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1437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、文本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0BEDBF-C274-344D-9F18-F33538B9688B}" type="datetimeFigureOut">
              <a:rPr lang="zh-CN" altLang="en-US"/>
              <a:pPr>
                <a:defRPr/>
              </a:pPr>
              <a:t>5/28/14</a:t>
            </a:fld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14946F-0168-CE47-8ED2-1C3E1660D34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9976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946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altLang="zh-CN"/>
          </a:p>
        </p:txBody>
      </p:sp>
      <p:sp>
        <p:nvSpPr>
          <p:cNvPr id="3174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fontAlgn="auto">
              <a:spcBef>
                <a:spcPts val="0"/>
              </a:spcBef>
              <a:spcAft>
                <a:spcPts val="0"/>
              </a:spcAft>
              <a:defRPr sz="1000" b="0"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16CE8B48-EDCB-6145-A770-8D54E37071EA}" type="datetimeFigureOut">
              <a:rPr lang="zh-CN" altLang="en-US"/>
              <a:pPr>
                <a:defRPr/>
              </a:pPr>
              <a:t>5/28/14</a:t>
            </a:fld>
            <a:endParaRPr lang="zh-CN" altLang="en-US"/>
          </a:p>
        </p:txBody>
      </p:sp>
      <p:sp>
        <p:nvSpPr>
          <p:cNvPr id="3175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fontAlgn="auto">
              <a:spcBef>
                <a:spcPts val="0"/>
              </a:spcBef>
              <a:spcAft>
                <a:spcPts val="0"/>
              </a:spcAft>
              <a:defRPr sz="1000" b="0"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175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fontAlgn="auto">
              <a:spcBef>
                <a:spcPts val="0"/>
              </a:spcBef>
              <a:spcAft>
                <a:spcPts val="0"/>
              </a:spcAft>
              <a:defRPr sz="1000" b="0"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AD5BB6B8-4661-8A45-BD9F-6F70CB0D751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grpSp>
        <p:nvGrpSpPr>
          <p:cNvPr id="19464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19465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66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67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76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68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69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79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70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76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71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73" cy="7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72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7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73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79" cy="7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74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76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75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73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76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7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77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78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79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76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80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81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82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83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76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84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85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86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87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88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76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89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73" cy="79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90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91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79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92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76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93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73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94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95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73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iming>
    <p:tnLst>
      <p:par>
        <p:cTn xmlns:p14="http://schemas.microsoft.com/office/powerpoint/2010/main" id="1" dur="indefinite" restart="never" nodeType="tmRoot"/>
      </p:par>
    </p:tnLst>
  </p:timing>
  <p:txStyles>
    <p:titleStyle>
      <a:lvl1pPr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Kai"/>
          <a:ea typeface="Kai"/>
          <a:cs typeface="Kai"/>
        </a:defRPr>
      </a:lvl1pPr>
      <a:lvl2pPr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Kai" charset="0"/>
          <a:ea typeface="Kai" charset="0"/>
          <a:cs typeface="Kai" charset="0"/>
        </a:defRPr>
      </a:lvl2pPr>
      <a:lvl3pPr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Kai" charset="0"/>
          <a:ea typeface="Kai" charset="0"/>
          <a:cs typeface="Kai" charset="0"/>
        </a:defRPr>
      </a:lvl3pPr>
      <a:lvl4pPr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Kai" charset="0"/>
          <a:ea typeface="Kai" charset="0"/>
          <a:cs typeface="Kai" charset="0"/>
        </a:defRPr>
      </a:lvl4pPr>
      <a:lvl5pPr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Kai" charset="0"/>
          <a:ea typeface="Kai" charset="0"/>
          <a:cs typeface="Kai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charset="0"/>
        <a:buChar char="l"/>
        <a:defRPr kumimoji="1" sz="3000">
          <a:solidFill>
            <a:schemeClr val="tx1"/>
          </a:solidFill>
          <a:latin typeface="Kai"/>
          <a:ea typeface="Kai"/>
          <a:cs typeface="Kai"/>
        </a:defRPr>
      </a:lvl1pPr>
      <a:lvl2pPr marL="692150" indent="-347663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charset="0"/>
        <a:buChar char="l"/>
        <a:defRPr kumimoji="1" sz="2600">
          <a:solidFill>
            <a:schemeClr val="tx1"/>
          </a:solidFill>
          <a:latin typeface="Kai"/>
          <a:ea typeface="Kai"/>
          <a:cs typeface="Kai"/>
        </a:defRPr>
      </a:lvl2pPr>
      <a:lvl3pPr marL="987425" indent="-293688" algn="l" rtl="0" fontAlgn="base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charset="0"/>
        <a:buChar char="l"/>
        <a:defRPr kumimoji="1" sz="2300">
          <a:solidFill>
            <a:schemeClr val="tx1"/>
          </a:solidFill>
          <a:latin typeface="Kai"/>
          <a:ea typeface="Kai"/>
          <a:cs typeface="Kai"/>
        </a:defRPr>
      </a:lvl3pPr>
      <a:lvl4pPr marL="1281113" indent="-292100" algn="l" rtl="0" fontAlgn="base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charset="0"/>
        <a:buChar char="§"/>
        <a:defRPr kumimoji="1" sz="2000">
          <a:solidFill>
            <a:schemeClr val="tx1"/>
          </a:solidFill>
          <a:latin typeface="Kai"/>
          <a:ea typeface="Kai"/>
          <a:cs typeface="Kai"/>
        </a:defRPr>
      </a:lvl4pPr>
      <a:lvl5pPr marL="15986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charset="0"/>
        <a:buChar char="§"/>
        <a:defRPr kumimoji="1" sz="2000">
          <a:solidFill>
            <a:schemeClr val="tx1"/>
          </a:solidFill>
          <a:latin typeface="Kai"/>
          <a:ea typeface="Kai"/>
          <a:cs typeface="Kai"/>
        </a:defRPr>
      </a:lvl5pPr>
      <a:lvl6pPr marL="20558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developer.android.com/reference/java/net/HttpURLConnection.html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android-developers.blogspot.de/2011/09/androids-http-clients.html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developer.android.com/intl/zh-cn/guide/topics/graphics/2d-graphics.html%23drawables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developer.android.com/intl/zh-cn/guide/topics/graphics/2d-graphics.html%23draw-with-canvas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developer.android.com/intl/zh-cn/guide/topics/graphics/view-animation.html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developer.android.com/intl/zh-cn/guide/topics/graphics/prop-animation.html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developer.android.com/guide/topics/media/mediaplayer.html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developer.android.com/intl/zh-cn/reference/android/media/MediaRecorder.html" TargetMode="Externa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developer.android.com/intl/zh-cn/guide/topics/media/camera.html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developer.android.com/intl/zh-cn/training/gestures/multi.html" TargetMode="Externa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developer.android.com/intl/zh-cn/training/gestures/index.html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developer.android.com/training/scheduling/alarms.html" TargetMode="Externa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developer.android.com/intl/zh-cn/guide/topics/sensors/sensors_overview.html" TargetMode="Externa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developer.android.com/intl/zh-cn/guide/topics/location/index.html%23location" TargetMode="Externa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developer.android.com/intl/zh-cn/guide/topics/location/index.html%23maps" TargetMode="Externa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zh-CN" altLang="en-US" dirty="0" smtClean="0">
                <a:latin typeface="Kai" charset="0"/>
                <a:ea typeface="Kai" charset="0"/>
                <a:cs typeface="Kai" charset="0"/>
              </a:rPr>
              <a:t>网络、多媒体、传感器、提醒</a:t>
            </a:r>
            <a:endParaRPr kumimoji="1" lang="zh-CN" altLang="en-US" dirty="0">
              <a:latin typeface="Kai" charset="0"/>
              <a:ea typeface="Kai" charset="0"/>
              <a:cs typeface="Kai" charset="0"/>
            </a:endParaRPr>
          </a:p>
        </p:txBody>
      </p:sp>
      <p:sp>
        <p:nvSpPr>
          <p:cNvPr id="22530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buFont typeface="Wingdings" charset="0"/>
              <a:buNone/>
            </a:pPr>
            <a:endParaRPr lang="zh-CN" altLang="en-US" dirty="0">
              <a:latin typeface="Kai" charset="0"/>
              <a:ea typeface="Kai" charset="0"/>
              <a:cs typeface="Kai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内容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网络</a:t>
            </a:r>
            <a:endParaRPr lang="en-US" altLang="zh-CN" dirty="0" smtClean="0"/>
          </a:p>
          <a:p>
            <a:r>
              <a:rPr lang="zh-CN" altLang="en-US" dirty="0" smtClean="0"/>
              <a:t>多媒体</a:t>
            </a:r>
            <a:endParaRPr kumimoji="1" lang="en-US" altLang="zh-CN" dirty="0" smtClean="0"/>
          </a:p>
          <a:p>
            <a:r>
              <a:rPr lang="zh-CN" altLang="en-US" dirty="0" smtClean="0"/>
              <a:t>传感器</a:t>
            </a:r>
            <a:endParaRPr lang="en-US" altLang="zh-CN" dirty="0" smtClean="0"/>
          </a:p>
          <a:p>
            <a:r>
              <a:rPr kumimoji="1" lang="zh-CN" altLang="en-US" dirty="0" smtClean="0"/>
              <a:t>提醒</a:t>
            </a:r>
            <a:endParaRPr kumimoji="1" lang="en-US" altLang="zh-CN" dirty="0" smtClean="0"/>
          </a:p>
          <a:p>
            <a:r>
              <a:rPr lang="zh-CN" altLang="zh-CN" smtClean="0"/>
              <a:t>……</a:t>
            </a:r>
            <a:endParaRPr kumimoji="1"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39240318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网络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 smtClean="0"/>
              <a:t>java.net</a:t>
            </a:r>
            <a:r>
              <a:rPr lang="en-US" altLang="zh-CN" dirty="0" smtClean="0"/>
              <a:t> — Socket, URL</a:t>
            </a:r>
          </a:p>
          <a:p>
            <a:r>
              <a:rPr kumimoji="1" lang="en-US" altLang="zh-CN" dirty="0" err="1" smtClean="0"/>
              <a:t>org.apache</a:t>
            </a:r>
            <a:r>
              <a:rPr lang="en-US" altLang="zh-CN" dirty="0"/>
              <a:t> </a:t>
            </a:r>
            <a:r>
              <a:rPr lang="zh-CN" altLang="zh-CN" dirty="0" smtClean="0"/>
              <a:t>—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HttpRequest</a:t>
            </a:r>
            <a:r>
              <a:rPr lang="en-US" altLang="zh-CN" dirty="0" smtClean="0"/>
              <a:t>, </a:t>
            </a:r>
            <a:r>
              <a:rPr lang="en-US" altLang="zh-CN" dirty="0" err="1" smtClean="0"/>
              <a:t>HttpResponse</a:t>
            </a:r>
            <a:endParaRPr lang="en-US" altLang="zh-CN" dirty="0" smtClean="0"/>
          </a:p>
          <a:p>
            <a:r>
              <a:rPr kumimoji="1" lang="en-US" altLang="zh-CN" dirty="0" err="1" smtClean="0"/>
              <a:t>android.net</a:t>
            </a:r>
            <a:r>
              <a:rPr kumimoji="1" lang="en-US" altLang="zh-CN" dirty="0" smtClean="0"/>
              <a:t> — URI, </a:t>
            </a:r>
            <a:r>
              <a:rPr kumimoji="1" lang="en-US" altLang="zh-CN" dirty="0" err="1" smtClean="0"/>
              <a:t>AndroidHttpClient</a:t>
            </a:r>
            <a:r>
              <a:rPr kumimoji="1" lang="en-US" altLang="zh-CN" dirty="0" smtClean="0"/>
              <a:t>, </a:t>
            </a:r>
            <a:r>
              <a:rPr kumimoji="1" lang="en-US" altLang="zh-CN" dirty="0" err="1" smtClean="0"/>
              <a:t>AudioStream</a:t>
            </a:r>
            <a:endParaRPr kumimoji="1" lang="en-US" altLang="zh-CN" dirty="0" smtClean="0"/>
          </a:p>
          <a:p>
            <a:r>
              <a:rPr lang="zh-CN" altLang="en-US" dirty="0" smtClean="0"/>
              <a:t>需要网络访问的权限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/>
              <a:t>&lt;uses-</a:t>
            </a:r>
            <a:r>
              <a:rPr lang="en-US" altLang="zh-CN" dirty="0" smtClean="0"/>
              <a:t>permission </a:t>
            </a:r>
            <a:r>
              <a:rPr lang="en-US" altLang="zh-CN" dirty="0" err="1" smtClean="0"/>
              <a:t>android:name</a:t>
            </a:r>
            <a:r>
              <a:rPr lang="en-US" altLang="zh-CN" dirty="0" smtClean="0"/>
              <a:t>=    “</a:t>
            </a:r>
            <a:r>
              <a:rPr lang="en-US" altLang="zh-CN" dirty="0" err="1" smtClean="0"/>
              <a:t>android.permission.INTERNET</a:t>
            </a:r>
            <a:r>
              <a:rPr lang="en-US" altLang="zh-CN" dirty="0" smtClean="0"/>
              <a:t>”/</a:t>
            </a:r>
            <a:r>
              <a:rPr lang="en-US" altLang="zh-CN" dirty="0"/>
              <a:t>&gt; </a:t>
            </a:r>
          </a:p>
          <a:p>
            <a:pPr marL="0" indent="0">
              <a:buNone/>
            </a:pP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8491555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 smtClean="0"/>
              <a:t>HttpURLConnection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比</a:t>
            </a:r>
            <a:r>
              <a:rPr lang="en-US" altLang="zh-CN" dirty="0" smtClean="0"/>
              <a:t>Sockets</a:t>
            </a:r>
            <a:r>
              <a:rPr lang="zh-CN" altLang="en-US" dirty="0" smtClean="0"/>
              <a:t>高层</a:t>
            </a:r>
            <a:endParaRPr lang="en-US" altLang="zh-CN" dirty="0" smtClean="0"/>
          </a:p>
          <a:p>
            <a:r>
              <a:rPr kumimoji="1" lang="zh-CN" altLang="en-US" dirty="0" smtClean="0"/>
              <a:t>不如</a:t>
            </a:r>
            <a:r>
              <a:rPr kumimoji="1" lang="en-US" altLang="zh-CN" dirty="0" err="1" smtClean="0"/>
              <a:t>HttpAndroidClient</a:t>
            </a:r>
            <a:r>
              <a:rPr kumimoji="1" lang="zh-CN" altLang="en-US" dirty="0" smtClean="0"/>
              <a:t>灵活</a:t>
            </a:r>
            <a:endParaRPr kumimoji="1" lang="en-US" altLang="zh-CN" dirty="0" smtClean="0"/>
          </a:p>
          <a:p>
            <a:endParaRPr lang="en-US" altLang="zh-CN" dirty="0"/>
          </a:p>
          <a:p>
            <a:endParaRPr kumimoji="1" lang="en-US" altLang="zh-CN" dirty="0" smtClean="0"/>
          </a:p>
          <a:p>
            <a:pPr marL="0" indent="0">
              <a:buNone/>
            </a:pPr>
            <a:r>
              <a:rPr lang="en-US" altLang="zh-CN" dirty="0">
                <a:hlinkClick r:id="rId2"/>
              </a:rPr>
              <a:t>http://developer.android.com/reference/java/net/</a:t>
            </a:r>
            <a:r>
              <a:rPr lang="en-US" altLang="zh-CN" dirty="0" smtClean="0">
                <a:hlinkClick r:id="rId2"/>
              </a:rPr>
              <a:t>HttpURLConnection.html</a:t>
            </a:r>
            <a:endParaRPr lang="en-US" altLang="zh-CN" dirty="0" smtClean="0"/>
          </a:p>
          <a:p>
            <a:pPr marL="0" indent="0">
              <a:buNone/>
            </a:pPr>
            <a:endParaRPr kumimoji="1" lang="en-US" altLang="zh-CN" dirty="0" smtClean="0"/>
          </a:p>
          <a:p>
            <a:endParaRPr lang="en-US" altLang="zh-CN" dirty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3704346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 smtClean="0"/>
              <a:t>AndroidHttpClient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Apache</a:t>
            </a:r>
            <a:r>
              <a:rPr lang="zh-CN" altLang="en-US" dirty="0" smtClean="0"/>
              <a:t>的</a:t>
            </a:r>
            <a:r>
              <a:rPr lang="en-US" altLang="zh-CN" dirty="0" err="1" smtClean="0"/>
              <a:t>DefaultHttpClient</a:t>
            </a:r>
            <a:r>
              <a:rPr lang="zh-CN" altLang="en-US" dirty="0" smtClean="0"/>
              <a:t>的一种实现</a:t>
            </a:r>
            <a:endParaRPr lang="en-US" altLang="zh-CN" dirty="0" smtClean="0"/>
          </a:p>
          <a:p>
            <a:r>
              <a:rPr kumimoji="1" lang="zh-CN" altLang="en-US" dirty="0" smtClean="0"/>
              <a:t>把</a:t>
            </a:r>
            <a:r>
              <a:rPr kumimoji="1" lang="en-US" altLang="zh-CN" dirty="0" smtClean="0"/>
              <a:t>HTTP</a:t>
            </a:r>
            <a:r>
              <a:rPr kumimoji="1" lang="zh-CN" altLang="en-US" dirty="0" smtClean="0"/>
              <a:t>分解成</a:t>
            </a:r>
            <a:r>
              <a:rPr kumimoji="1" lang="en-US" altLang="zh-CN" dirty="0" smtClean="0"/>
              <a:t>Request</a:t>
            </a:r>
            <a:r>
              <a:rPr kumimoji="1" lang="zh-CN" altLang="en-US" dirty="0" smtClean="0"/>
              <a:t>和</a:t>
            </a:r>
            <a:r>
              <a:rPr kumimoji="1" lang="en-US" altLang="zh-CN" dirty="0" smtClean="0"/>
              <a:t>Response</a:t>
            </a:r>
            <a:r>
              <a:rPr kumimoji="1" lang="zh-CN" altLang="en-US" dirty="0" smtClean="0"/>
              <a:t>对象</a:t>
            </a:r>
            <a:endParaRPr kumimoji="1" lang="en-US" altLang="zh-CN" dirty="0" smtClean="0"/>
          </a:p>
          <a:p>
            <a:r>
              <a:rPr lang="en-US" altLang="zh-CN" dirty="0" smtClean="0"/>
              <a:t>Google</a:t>
            </a:r>
            <a:r>
              <a:rPr lang="zh-CN" altLang="en-US" dirty="0" smtClean="0"/>
              <a:t>已经不再维护，</a:t>
            </a:r>
            <a:r>
              <a:rPr lang="zh-CN" altLang="en-US" dirty="0" smtClean="0">
                <a:hlinkClick r:id="rId2"/>
              </a:rPr>
              <a:t>不建议使用</a:t>
            </a:r>
            <a:endParaRPr lang="en-US" altLang="zh-CN" dirty="0" smtClean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7271590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多媒体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画图</a:t>
            </a:r>
            <a:endParaRPr lang="en-US" altLang="zh-CN" dirty="0" smtClean="0"/>
          </a:p>
          <a:p>
            <a:r>
              <a:rPr kumimoji="1" lang="zh-CN" altLang="en-US" dirty="0" smtClean="0"/>
              <a:t>动画</a:t>
            </a:r>
            <a:endParaRPr kumimoji="1" lang="en-US" altLang="zh-CN" dirty="0" smtClean="0"/>
          </a:p>
          <a:p>
            <a:r>
              <a:rPr lang="zh-CN" altLang="en-US" dirty="0" smtClean="0"/>
              <a:t>视频、音频</a:t>
            </a:r>
            <a:endParaRPr lang="en-US" altLang="zh-CN" dirty="0" smtClean="0"/>
          </a:p>
          <a:p>
            <a:r>
              <a:rPr lang="zh-CN" altLang="en-US" dirty="0" smtClean="0"/>
              <a:t>手势</a:t>
            </a:r>
            <a:endParaRPr lang="en-US" altLang="zh-CN" dirty="0" smtClean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45601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画图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err="1" smtClean="0"/>
              <a:t>ImageView</a:t>
            </a:r>
            <a:endParaRPr kumimoji="1" lang="en-US" altLang="zh-CN" dirty="0" smtClean="0"/>
          </a:p>
          <a:p>
            <a:pPr lvl="1"/>
            <a:r>
              <a:rPr lang="zh-CN" altLang="en-US" dirty="0" smtClean="0"/>
              <a:t>简单图形，没有或很少更新</a:t>
            </a:r>
            <a:endParaRPr kumimoji="1" lang="en-US" altLang="zh-CN" dirty="0" smtClean="0"/>
          </a:p>
          <a:p>
            <a:r>
              <a:rPr lang="en-US" altLang="zh-CN" dirty="0" smtClean="0"/>
              <a:t>Canvas</a:t>
            </a:r>
          </a:p>
          <a:p>
            <a:pPr lvl="1"/>
            <a:r>
              <a:rPr kumimoji="1" lang="zh-CN" altLang="en-US" dirty="0" smtClean="0"/>
              <a:t>复杂图形，</a:t>
            </a:r>
            <a:r>
              <a:rPr kumimoji="1" lang="zh-CN" altLang="en-US" smtClean="0"/>
              <a:t>经常更新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609002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 smtClean="0"/>
              <a:t>ImageView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err="1" smtClean="0"/>
              <a:t>Drawable</a:t>
            </a:r>
            <a:endParaRPr kumimoji="1" lang="en-US" altLang="zh-CN" dirty="0" smtClean="0"/>
          </a:p>
          <a:p>
            <a:pPr lvl="1"/>
            <a:r>
              <a:rPr kumimoji="1" lang="en-US" altLang="zh-CN" dirty="0" err="1" smtClean="0"/>
              <a:t>BitmapDrawable</a:t>
            </a:r>
            <a:endParaRPr kumimoji="1" lang="en-US" altLang="zh-CN" dirty="0" smtClean="0"/>
          </a:p>
          <a:p>
            <a:pPr lvl="1"/>
            <a:r>
              <a:rPr lang="en-US" altLang="zh-CN" dirty="0" err="1" smtClean="0"/>
              <a:t>ShapeDrawable</a:t>
            </a:r>
            <a:endParaRPr lang="en-US" altLang="zh-CN" dirty="0" smtClean="0"/>
          </a:p>
          <a:p>
            <a:pPr lvl="1"/>
            <a:r>
              <a:rPr kumimoji="1" lang="en-US" altLang="zh-CN" dirty="0" err="1" smtClean="0"/>
              <a:t>ColorDrawable</a:t>
            </a:r>
            <a:endParaRPr kumimoji="1" lang="en-US" altLang="zh-CN" dirty="0" smtClean="0"/>
          </a:p>
          <a:p>
            <a:pPr lvl="1"/>
            <a:r>
              <a:rPr lang="zh-CN" altLang="zh-CN" dirty="0"/>
              <a:t>…</a:t>
            </a:r>
            <a:r>
              <a:rPr lang="zh-CN" altLang="zh-CN" dirty="0" smtClean="0"/>
              <a:t>…</a:t>
            </a:r>
            <a:endParaRPr lang="en-US" altLang="zh-CN" dirty="0" smtClean="0"/>
          </a:p>
          <a:p>
            <a:r>
              <a:rPr kumimoji="1" lang="zh-CN" altLang="en-US" dirty="0" smtClean="0"/>
              <a:t>可以通过</a:t>
            </a:r>
            <a:r>
              <a:rPr kumimoji="1" lang="en-US" altLang="zh-CN" dirty="0" smtClean="0"/>
              <a:t>XML</a:t>
            </a:r>
            <a:r>
              <a:rPr kumimoji="1" lang="zh-CN" altLang="en-US" dirty="0" smtClean="0"/>
              <a:t>或者编程设定</a:t>
            </a:r>
            <a:endParaRPr kumimoji="1" lang="en-US" altLang="zh-CN" dirty="0" smtClean="0"/>
          </a:p>
          <a:p>
            <a:pPr marL="0" indent="0">
              <a:buNone/>
            </a:pPr>
            <a:r>
              <a:rPr lang="en-US" altLang="zh-CN" dirty="0">
                <a:hlinkClick r:id="rId2"/>
              </a:rPr>
              <a:t>http://developer.android.com/intl/zh-cn/guide/topics/graphics/2d-graphics.html#</a:t>
            </a:r>
            <a:r>
              <a:rPr lang="en-US" altLang="zh-CN" dirty="0" smtClean="0">
                <a:hlinkClick r:id="rId2"/>
              </a:rPr>
              <a:t>drawables</a:t>
            </a:r>
            <a:endParaRPr lang="en-US" altLang="zh-CN" dirty="0" smtClean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380575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Canvas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作为画布的一个</a:t>
            </a:r>
            <a:r>
              <a:rPr kumimoji="1" lang="en-US" altLang="zh-CN" dirty="0" smtClean="0"/>
              <a:t>Bitmap</a:t>
            </a:r>
          </a:p>
          <a:p>
            <a:r>
              <a:rPr lang="zh-CN" altLang="en-US" dirty="0" smtClean="0"/>
              <a:t>支持多种画图函数</a:t>
            </a:r>
            <a:endParaRPr lang="en-US" altLang="zh-CN" dirty="0" smtClean="0"/>
          </a:p>
          <a:p>
            <a:pPr lvl="1"/>
            <a:r>
              <a:rPr kumimoji="1" lang="en-US" altLang="zh-CN" dirty="0" err="1" smtClean="0"/>
              <a:t>drawText</a:t>
            </a:r>
            <a:r>
              <a:rPr kumimoji="1" lang="en-US" altLang="zh-CN" dirty="0" smtClean="0"/>
              <a:t>()</a:t>
            </a:r>
          </a:p>
          <a:p>
            <a:pPr lvl="1"/>
            <a:r>
              <a:rPr lang="en-US" altLang="zh-CN" dirty="0" err="1" smtClean="0"/>
              <a:t>drawPoints</a:t>
            </a:r>
            <a:r>
              <a:rPr lang="en-US" altLang="zh-CN" dirty="0" smtClean="0"/>
              <a:t>()</a:t>
            </a:r>
          </a:p>
          <a:p>
            <a:pPr lvl="1"/>
            <a:r>
              <a:rPr kumimoji="1" lang="en-US" altLang="zh-CN" dirty="0" err="1" smtClean="0"/>
              <a:t>drawColor</a:t>
            </a:r>
            <a:r>
              <a:rPr kumimoji="1" lang="en-US" altLang="zh-CN" dirty="0" smtClean="0"/>
              <a:t>()</a:t>
            </a:r>
          </a:p>
          <a:p>
            <a:pPr lvl="1"/>
            <a:r>
              <a:rPr lang="zh-CN" altLang="zh-CN" dirty="0"/>
              <a:t>…</a:t>
            </a:r>
            <a:r>
              <a:rPr lang="zh-CN" altLang="zh-CN" dirty="0" smtClean="0"/>
              <a:t>…</a:t>
            </a:r>
            <a:endParaRPr lang="en-US" altLang="zh-CN" dirty="0"/>
          </a:p>
          <a:p>
            <a:pPr marL="344487" lvl="1" indent="0">
              <a:buNone/>
            </a:pPr>
            <a:r>
              <a:rPr lang="en-US" altLang="zh-CN" dirty="0" smtClean="0">
                <a:hlinkClick r:id="rId2"/>
              </a:rPr>
              <a:t>http</a:t>
            </a:r>
            <a:r>
              <a:rPr lang="en-US" altLang="zh-CN" dirty="0">
                <a:hlinkClick r:id="rId2"/>
              </a:rPr>
              <a:t>://developer.android.com/intl/zh-cn/guide/topics/graphics/2d-graphics.html#draw-with-</a:t>
            </a:r>
            <a:r>
              <a:rPr lang="en-US" altLang="zh-CN" dirty="0" smtClean="0">
                <a:hlinkClick r:id="rId2"/>
              </a:rPr>
              <a:t>canvas</a:t>
            </a:r>
            <a:endParaRPr lang="en-US" altLang="zh-CN" dirty="0" smtClean="0"/>
          </a:p>
          <a:p>
            <a:pPr lvl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629890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动画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视图动画</a:t>
            </a:r>
            <a:endParaRPr kumimoji="1" lang="en-US" altLang="zh-CN" dirty="0" smtClean="0"/>
          </a:p>
          <a:p>
            <a:r>
              <a:rPr lang="zh-CN" altLang="en-US" dirty="0" smtClean="0"/>
              <a:t>属性动画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332282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视图动画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改变视图在一段时间内的属性</a:t>
            </a:r>
            <a:endParaRPr kumimoji="1" lang="en-US" altLang="zh-CN" dirty="0" smtClean="0"/>
          </a:p>
          <a:p>
            <a:pPr lvl="1"/>
            <a:r>
              <a:rPr lang="zh-CN" altLang="en-US" dirty="0" smtClean="0"/>
              <a:t>大小</a:t>
            </a:r>
            <a:endParaRPr lang="en-US" altLang="zh-CN" dirty="0" smtClean="0"/>
          </a:p>
          <a:p>
            <a:pPr lvl="1"/>
            <a:r>
              <a:rPr kumimoji="1" lang="zh-CN" altLang="en-US" dirty="0" smtClean="0"/>
              <a:t>位置</a:t>
            </a:r>
            <a:endParaRPr kumimoji="1" lang="en-US" altLang="zh-CN" dirty="0" smtClean="0"/>
          </a:p>
          <a:p>
            <a:pPr lvl="1"/>
            <a:r>
              <a:rPr lang="zh-CN" altLang="en-US" dirty="0" smtClean="0"/>
              <a:t>透明度</a:t>
            </a:r>
            <a:endParaRPr lang="en-US" altLang="zh-CN" dirty="0" smtClean="0"/>
          </a:p>
          <a:p>
            <a:pPr lvl="1"/>
            <a:r>
              <a:rPr kumimoji="1" lang="zh-CN" altLang="en-US" dirty="0" smtClean="0"/>
              <a:t>旋转</a:t>
            </a:r>
            <a:endParaRPr kumimoji="1" lang="en-US" altLang="zh-CN" dirty="0" smtClean="0"/>
          </a:p>
          <a:p>
            <a:pPr marL="344487" lvl="1" indent="0">
              <a:buNone/>
            </a:pPr>
            <a:r>
              <a:rPr lang="en-US" altLang="zh-CN" dirty="0">
                <a:hlinkClick r:id="rId2"/>
              </a:rPr>
              <a:t>http://developer.android.com/intl/zh-cn/guide/topics/graphics/view-</a:t>
            </a:r>
            <a:r>
              <a:rPr lang="en-US" altLang="zh-CN" dirty="0" smtClean="0">
                <a:hlinkClick r:id="rId2"/>
              </a:rPr>
              <a:t>animation.html</a:t>
            </a:r>
            <a:endParaRPr lang="en-US" altLang="zh-CN" dirty="0" smtClean="0"/>
          </a:p>
          <a:p>
            <a:pPr lvl="1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196023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属性动画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改变一个对象某段时间内的属性</a:t>
            </a:r>
            <a:endParaRPr kumimoji="1" lang="en-US" altLang="zh-CN" dirty="0" smtClean="0"/>
          </a:p>
          <a:p>
            <a:pPr lvl="1"/>
            <a:r>
              <a:rPr lang="en-US" altLang="zh-CN" dirty="0" err="1" smtClean="0"/>
              <a:t>ValueAnimator</a:t>
            </a:r>
            <a:r>
              <a:rPr lang="en-US" altLang="zh-CN" dirty="0" smtClean="0"/>
              <a:t> – </a:t>
            </a:r>
            <a:r>
              <a:rPr lang="zh-CN" altLang="en-US" dirty="0" smtClean="0"/>
              <a:t>计时引擎</a:t>
            </a:r>
            <a:endParaRPr lang="en-US" altLang="zh-CN" dirty="0" smtClean="0"/>
          </a:p>
          <a:p>
            <a:pPr lvl="1"/>
            <a:r>
              <a:rPr kumimoji="1" lang="en-US" altLang="zh-CN" dirty="0" err="1" smtClean="0"/>
              <a:t>TimeInterpolator</a:t>
            </a:r>
            <a:r>
              <a:rPr kumimoji="1" lang="en-US" altLang="zh-CN" dirty="0" smtClean="0"/>
              <a:t> – </a:t>
            </a:r>
            <a:r>
              <a:rPr lang="zh-CN" altLang="en-US" dirty="0" smtClean="0"/>
              <a:t>插值方式</a:t>
            </a:r>
            <a:endParaRPr lang="en-US" altLang="zh-CN" dirty="0" smtClean="0"/>
          </a:p>
          <a:p>
            <a:pPr lvl="1"/>
            <a:r>
              <a:rPr kumimoji="1" lang="en-US" altLang="zh-CN" dirty="0" err="1" smtClean="0"/>
              <a:t>AnimatorUpdateListener</a:t>
            </a:r>
            <a:r>
              <a:rPr kumimoji="1" lang="en-US" altLang="zh-CN" dirty="0" smtClean="0"/>
              <a:t> – </a:t>
            </a:r>
            <a:r>
              <a:rPr kumimoji="1" lang="zh-CN" altLang="en-US" dirty="0" smtClean="0"/>
              <a:t>在动画的每一帧调用</a:t>
            </a:r>
            <a:endParaRPr kumimoji="1" lang="en-US" altLang="zh-CN" dirty="0" smtClean="0"/>
          </a:p>
          <a:p>
            <a:pPr lvl="1"/>
            <a:r>
              <a:rPr lang="en-US" altLang="zh-CN" dirty="0" err="1" smtClean="0"/>
              <a:t>TypeEvaluator</a:t>
            </a:r>
            <a:r>
              <a:rPr lang="en-US" altLang="zh-CN" dirty="0" smtClean="0"/>
              <a:t> –</a:t>
            </a:r>
            <a:r>
              <a:rPr lang="zh-CN" altLang="en-US" dirty="0" smtClean="0"/>
              <a:t>计算某一个时间点的属性值</a:t>
            </a:r>
            <a:endParaRPr lang="en-US" altLang="zh-CN" dirty="0" smtClean="0"/>
          </a:p>
          <a:p>
            <a:pPr marL="344487" lvl="1" indent="0">
              <a:buNone/>
            </a:pPr>
            <a:r>
              <a:rPr lang="en-US" altLang="zh-CN" dirty="0">
                <a:hlinkClick r:id="rId2"/>
              </a:rPr>
              <a:t>http://developer.android.com/intl/zh-cn/guide/topics/graphics/prop-</a:t>
            </a:r>
            <a:r>
              <a:rPr lang="en-US" altLang="zh-CN" dirty="0" smtClean="0">
                <a:hlinkClick r:id="rId2"/>
              </a:rPr>
              <a:t>animation.html</a:t>
            </a:r>
            <a:endParaRPr lang="en-US" altLang="zh-CN" dirty="0" smtClean="0"/>
          </a:p>
          <a:p>
            <a:pPr lvl="1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871908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视频、音频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err="1" smtClean="0"/>
              <a:t>AudioManager</a:t>
            </a:r>
            <a:r>
              <a:rPr kumimoji="1" lang="en-US" altLang="zh-CN" dirty="0" smtClean="0"/>
              <a:t> &amp; </a:t>
            </a:r>
            <a:r>
              <a:rPr kumimoji="1" lang="en-US" altLang="zh-CN" dirty="0" err="1" smtClean="0"/>
              <a:t>SoundPool</a:t>
            </a:r>
            <a:endParaRPr kumimoji="1" lang="en-US" altLang="zh-CN" dirty="0" smtClean="0"/>
          </a:p>
          <a:p>
            <a:r>
              <a:rPr lang="en-US" altLang="zh-CN" dirty="0" err="1" smtClean="0"/>
              <a:t>RingtoneManager</a:t>
            </a:r>
            <a:r>
              <a:rPr lang="en-US" altLang="zh-CN" dirty="0" smtClean="0"/>
              <a:t> &amp; Ringtone</a:t>
            </a:r>
          </a:p>
          <a:p>
            <a:r>
              <a:rPr kumimoji="1" lang="en-US" altLang="zh-CN" dirty="0" err="1" smtClean="0"/>
              <a:t>MediaPlayer</a:t>
            </a:r>
            <a:endParaRPr kumimoji="1" lang="en-US" altLang="zh-CN" dirty="0" smtClean="0"/>
          </a:p>
          <a:p>
            <a:r>
              <a:rPr lang="en-US" altLang="zh-CN" dirty="0" err="1" smtClean="0"/>
              <a:t>MediaRecorder</a:t>
            </a:r>
            <a:endParaRPr lang="en-US" altLang="zh-CN" dirty="0" smtClean="0"/>
          </a:p>
          <a:p>
            <a:r>
              <a:rPr kumimoji="1" lang="en-US" altLang="zh-CN" dirty="0" smtClean="0"/>
              <a:t>Camera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117768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 smtClean="0"/>
              <a:t>AudioManager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管理音量、系统声音效果、响铃模式等</a:t>
            </a:r>
            <a:endParaRPr kumimoji="1" lang="en-US" altLang="zh-CN" dirty="0" smtClean="0"/>
          </a:p>
          <a:p>
            <a:pPr lvl="1"/>
            <a:r>
              <a:rPr lang="en-US" altLang="zh-CN" dirty="0" err="1" smtClean="0"/>
              <a:t>Context.getSystemService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Context.AUDIO_SERVICE</a:t>
            </a:r>
            <a:r>
              <a:rPr lang="en-US" altLang="zh-CN" dirty="0" smtClean="0"/>
              <a:t>)</a:t>
            </a:r>
          </a:p>
          <a:p>
            <a:r>
              <a:rPr lang="en-US" altLang="zh-CN" dirty="0" err="1" smtClean="0"/>
              <a:t>SoundPool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表示一组音频样例（流）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可以对多组音频进行混合、播放</a:t>
            </a:r>
            <a:endParaRPr lang="en-US" altLang="zh-CN" dirty="0" smtClean="0"/>
          </a:p>
          <a:p>
            <a:r>
              <a:rPr lang="en-US" altLang="zh-CN" dirty="0" err="1" smtClean="0"/>
              <a:t>RingtoneManager</a:t>
            </a:r>
            <a:r>
              <a:rPr lang="zh-CN" altLang="en-US" dirty="0" smtClean="0"/>
              <a:t>和</a:t>
            </a:r>
            <a:r>
              <a:rPr lang="en-US" altLang="zh-CN" dirty="0" smtClean="0"/>
              <a:t>Ringtone</a:t>
            </a:r>
          </a:p>
          <a:p>
            <a:pPr lvl="1"/>
            <a:r>
              <a:rPr lang="zh-CN" altLang="en-US" dirty="0" smtClean="0"/>
              <a:t>管理电话、通知、闹钟等铃声</a:t>
            </a:r>
            <a:endParaRPr lang="en-US" altLang="zh-CN" dirty="0" smtClean="0"/>
          </a:p>
          <a:p>
            <a:pPr lvl="1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671031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 smtClean="0"/>
              <a:t>MediaPlayer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播放音频、视频</a:t>
            </a:r>
            <a:endParaRPr kumimoji="1" lang="en-US" altLang="zh-CN" dirty="0" smtClean="0"/>
          </a:p>
          <a:p>
            <a:r>
              <a:rPr kumimoji="1" lang="zh-CN" altLang="en-US" dirty="0" smtClean="0"/>
              <a:t>程序可以控制播放</a:t>
            </a:r>
            <a:endParaRPr kumimoji="1" lang="en-US" altLang="zh-CN" dirty="0" smtClean="0"/>
          </a:p>
          <a:p>
            <a:pPr marL="0" indent="0">
              <a:buNone/>
            </a:pPr>
            <a:r>
              <a:rPr lang="en-US" altLang="zh-CN" dirty="0">
                <a:hlinkClick r:id="rId2"/>
              </a:rPr>
              <a:t>http://developer.android.com/guide/topics/media/</a:t>
            </a:r>
            <a:r>
              <a:rPr lang="en-US" altLang="zh-CN" dirty="0" smtClean="0">
                <a:hlinkClick r:id="rId2"/>
              </a:rPr>
              <a:t>mediaplayer.html</a:t>
            </a:r>
            <a:endParaRPr lang="en-US" altLang="zh-CN" dirty="0" smtClean="0"/>
          </a:p>
          <a:p>
            <a:pPr marL="0" indent="0">
              <a:buNone/>
            </a:pP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81774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 smtClean="0"/>
              <a:t>MediaRecorder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用于录制音频和视频</a:t>
            </a:r>
            <a:endParaRPr kumimoji="1" lang="en-US" altLang="zh-CN" dirty="0" smtClean="0"/>
          </a:p>
          <a:p>
            <a:pPr marL="0" indent="0">
              <a:buNone/>
            </a:pPr>
            <a:r>
              <a:rPr lang="en-US" altLang="zh-CN" dirty="0">
                <a:hlinkClick r:id="rId2"/>
              </a:rPr>
              <a:t>http://developer.android.com/intl/zh-cn/reference/android/media/</a:t>
            </a:r>
            <a:r>
              <a:rPr lang="en-US" altLang="zh-CN" dirty="0" smtClean="0">
                <a:hlinkClick r:id="rId2"/>
              </a:rPr>
              <a:t>MediaRecorder.html</a:t>
            </a:r>
            <a:endParaRPr lang="en-US" altLang="zh-CN" dirty="0" smtClean="0"/>
          </a:p>
          <a:p>
            <a:pPr marL="0" indent="0">
              <a:buNone/>
            </a:pP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361575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Camera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 smtClean="0"/>
              <a:t>相机服务的客户端，管理实际的相机硬件</a:t>
            </a:r>
            <a:endParaRPr kumimoji="1" lang="en-US" altLang="zh-CN" dirty="0" smtClean="0"/>
          </a:p>
          <a:p>
            <a:r>
              <a:rPr kumimoji="1" lang="zh-CN" altLang="en-US" dirty="0" smtClean="0"/>
              <a:t>管理成像设置</a:t>
            </a:r>
            <a:endParaRPr kumimoji="1" lang="en-US" altLang="zh-CN" dirty="0" smtClean="0"/>
          </a:p>
          <a:p>
            <a:r>
              <a:rPr lang="zh-CN" altLang="en-US" dirty="0" smtClean="0"/>
              <a:t>开始</a:t>
            </a:r>
            <a:r>
              <a:rPr lang="en-US" altLang="zh-CN" dirty="0" smtClean="0"/>
              <a:t>/</a:t>
            </a:r>
            <a:r>
              <a:rPr lang="zh-CN" altLang="en-US" dirty="0" smtClean="0"/>
              <a:t>停止预览</a:t>
            </a:r>
            <a:endParaRPr lang="en-US" altLang="zh-CN" dirty="0" smtClean="0"/>
          </a:p>
          <a:p>
            <a:r>
              <a:rPr kumimoji="1" lang="zh-CN" altLang="en-US" dirty="0" smtClean="0"/>
              <a:t>拍照</a:t>
            </a:r>
            <a:endParaRPr kumimoji="1" lang="en-US" altLang="zh-CN" dirty="0" smtClean="0"/>
          </a:p>
          <a:p>
            <a:pPr marL="0" indent="0">
              <a:buNone/>
            </a:pP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086650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Camera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权限</a:t>
            </a:r>
            <a:endParaRPr kumimoji="1" lang="en-US" altLang="zh-CN" dirty="0" smtClean="0"/>
          </a:p>
          <a:p>
            <a:pPr marL="0" indent="0">
              <a:buNone/>
            </a:pPr>
            <a:r>
              <a:rPr lang="en-US" altLang="zh-CN" sz="2000" dirty="0">
                <a:latin typeface="Consolas"/>
                <a:cs typeface="Consolas"/>
              </a:rPr>
              <a:t>&lt;uses-permission </a:t>
            </a:r>
            <a:r>
              <a:rPr lang="en-US" altLang="zh-CN" sz="2000" dirty="0" err="1">
                <a:latin typeface="Consolas"/>
                <a:cs typeface="Consolas"/>
              </a:rPr>
              <a:t>android:name</a:t>
            </a:r>
            <a:r>
              <a:rPr lang="en-US" altLang="zh-CN" sz="2000" dirty="0">
                <a:latin typeface="Consolas"/>
                <a:cs typeface="Consolas"/>
              </a:rPr>
              <a:t>="</a:t>
            </a:r>
            <a:r>
              <a:rPr lang="en-US" altLang="zh-CN" sz="2000" dirty="0" err="1">
                <a:latin typeface="Consolas"/>
                <a:cs typeface="Consolas"/>
              </a:rPr>
              <a:t>android.permission.CAMERA</a:t>
            </a:r>
            <a:r>
              <a:rPr lang="en-US" altLang="zh-CN" sz="2000" dirty="0">
                <a:latin typeface="Consolas"/>
                <a:cs typeface="Consolas"/>
              </a:rPr>
              <a:t>" /&gt; </a:t>
            </a:r>
          </a:p>
          <a:p>
            <a:pPr marL="0" indent="0">
              <a:buNone/>
            </a:pPr>
            <a:r>
              <a:rPr lang="en-US" altLang="zh-CN" sz="2000" dirty="0">
                <a:latin typeface="Consolas"/>
                <a:cs typeface="Consolas"/>
              </a:rPr>
              <a:t>&lt;uses-feature </a:t>
            </a:r>
            <a:r>
              <a:rPr lang="en-US" altLang="zh-CN" sz="2000" dirty="0" err="1">
                <a:latin typeface="Consolas"/>
                <a:cs typeface="Consolas"/>
              </a:rPr>
              <a:t>android:name</a:t>
            </a:r>
            <a:r>
              <a:rPr lang="en-US" altLang="zh-CN" sz="2000" dirty="0">
                <a:latin typeface="Consolas"/>
                <a:cs typeface="Consolas"/>
              </a:rPr>
              <a:t>="</a:t>
            </a:r>
            <a:r>
              <a:rPr lang="en-US" altLang="zh-CN" sz="2000" dirty="0" err="1">
                <a:latin typeface="Consolas"/>
                <a:cs typeface="Consolas"/>
              </a:rPr>
              <a:t>android.hardware.camera</a:t>
            </a:r>
            <a:r>
              <a:rPr lang="en-US" altLang="zh-CN" sz="2000" dirty="0">
                <a:latin typeface="Consolas"/>
                <a:cs typeface="Consolas"/>
              </a:rPr>
              <a:t>" /&gt; </a:t>
            </a:r>
          </a:p>
          <a:p>
            <a:pPr marL="0" indent="0">
              <a:buNone/>
            </a:pPr>
            <a:r>
              <a:rPr lang="en-US" altLang="zh-CN" sz="2000" dirty="0">
                <a:latin typeface="Consolas"/>
                <a:cs typeface="Consolas"/>
              </a:rPr>
              <a:t>&lt;uses-feature </a:t>
            </a:r>
            <a:r>
              <a:rPr lang="en-US" altLang="zh-CN" sz="2000" dirty="0" err="1">
                <a:latin typeface="Consolas"/>
                <a:cs typeface="Consolas"/>
              </a:rPr>
              <a:t>android:name</a:t>
            </a:r>
            <a:r>
              <a:rPr lang="en-US" altLang="zh-CN" sz="2000" dirty="0">
                <a:latin typeface="Consolas"/>
                <a:cs typeface="Consolas"/>
              </a:rPr>
              <a:t>= "</a:t>
            </a:r>
            <a:r>
              <a:rPr lang="en-US" altLang="zh-CN" sz="2000" dirty="0" err="1">
                <a:latin typeface="Consolas"/>
                <a:cs typeface="Consolas"/>
              </a:rPr>
              <a:t>android.hardware.camera.autofocus</a:t>
            </a:r>
            <a:r>
              <a:rPr lang="en-US" altLang="zh-CN" sz="2000" dirty="0">
                <a:latin typeface="Consolas"/>
                <a:cs typeface="Consolas"/>
              </a:rPr>
              <a:t>" /&gt; </a:t>
            </a:r>
            <a:endParaRPr lang="en-US" altLang="zh-CN" sz="2000" dirty="0" smtClean="0">
              <a:latin typeface="Consolas"/>
              <a:cs typeface="Consolas"/>
            </a:endParaRPr>
          </a:p>
          <a:p>
            <a:pPr marL="0" indent="0">
              <a:buNone/>
            </a:pPr>
            <a:endParaRPr lang="en-US" altLang="zh-CN" sz="2000" dirty="0">
              <a:latin typeface="Consolas"/>
              <a:cs typeface="Consolas"/>
            </a:endParaRPr>
          </a:p>
          <a:p>
            <a:pPr marL="0" indent="0">
              <a:buNone/>
            </a:pPr>
            <a:r>
              <a:rPr lang="en-US" altLang="zh-CN" dirty="0">
                <a:hlinkClick r:id="rId2"/>
              </a:rPr>
              <a:t>http://developer.android.com/intl/zh-cn/guide/topics/media/</a:t>
            </a:r>
            <a:r>
              <a:rPr lang="en-US" altLang="zh-CN" dirty="0" smtClean="0">
                <a:hlinkClick r:id="rId2"/>
              </a:rPr>
              <a:t>camera.html</a:t>
            </a:r>
            <a:endParaRPr lang="en-US" altLang="zh-CN" dirty="0" smtClean="0"/>
          </a:p>
          <a:p>
            <a:pPr marL="0" indent="0">
              <a:buNone/>
            </a:pP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672952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多点触摸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err="1" smtClean="0"/>
              <a:t>MotionEvent</a:t>
            </a:r>
            <a:endParaRPr kumimoji="1" lang="en-US" altLang="zh-CN" dirty="0" smtClean="0"/>
          </a:p>
          <a:p>
            <a:r>
              <a:rPr lang="zh-CN" altLang="en-US" dirty="0" smtClean="0"/>
              <a:t>处理多点触摸</a:t>
            </a:r>
            <a:endParaRPr lang="en-US" altLang="zh-CN" dirty="0" smtClean="0"/>
          </a:p>
          <a:p>
            <a:r>
              <a:rPr kumimoji="1" lang="zh-CN" altLang="en-US" dirty="0" smtClean="0"/>
              <a:t>手势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961317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 smtClean="0"/>
              <a:t>MotionEvent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表示输入设备的一次移动</a:t>
            </a:r>
            <a:endParaRPr kumimoji="1" lang="en-US" altLang="zh-CN" dirty="0" smtClean="0"/>
          </a:p>
          <a:p>
            <a:pPr lvl="1"/>
            <a:r>
              <a:rPr lang="zh-CN" altLang="en-US" dirty="0" smtClean="0"/>
              <a:t>触控笔</a:t>
            </a:r>
            <a:endParaRPr lang="en-US" altLang="zh-CN" dirty="0" smtClean="0"/>
          </a:p>
          <a:p>
            <a:pPr lvl="1"/>
            <a:r>
              <a:rPr kumimoji="1" lang="zh-CN" altLang="en-US" dirty="0" smtClean="0"/>
              <a:t>轨迹球</a:t>
            </a:r>
            <a:endParaRPr kumimoji="1" lang="en-US" altLang="zh-CN" dirty="0" smtClean="0"/>
          </a:p>
          <a:p>
            <a:pPr lvl="1"/>
            <a:r>
              <a:rPr lang="zh-CN" altLang="en-US" dirty="0" smtClean="0"/>
              <a:t>鼠标</a:t>
            </a:r>
            <a:endParaRPr lang="en-US" altLang="zh-CN" dirty="0" smtClean="0"/>
          </a:p>
          <a:p>
            <a:pPr lvl="1"/>
            <a:r>
              <a:rPr kumimoji="1" lang="zh-CN" altLang="en-US" dirty="0" smtClean="0"/>
              <a:t>手指</a:t>
            </a:r>
            <a:endParaRPr kumimoji="1" lang="en-US" altLang="zh-CN" dirty="0" smtClean="0"/>
          </a:p>
          <a:p>
            <a:r>
              <a:rPr kumimoji="1" lang="en-US" altLang="zh-CN" dirty="0" err="1" smtClean="0"/>
              <a:t>View.onTouchEvent</a:t>
            </a:r>
            <a:r>
              <a:rPr kumimoji="1" lang="en-US" altLang="zh-CN" dirty="0" smtClean="0"/>
              <a:t>(</a:t>
            </a:r>
            <a:r>
              <a:rPr kumimoji="1" lang="en-US" altLang="zh-CN" dirty="0" err="1" smtClean="0"/>
              <a:t>MotionEvent</a:t>
            </a:r>
            <a:r>
              <a:rPr kumimoji="1" lang="en-US" altLang="zh-CN" dirty="0" smtClean="0"/>
              <a:t> event)</a:t>
            </a:r>
          </a:p>
          <a:p>
            <a:pPr marL="0" indent="0">
              <a:buNone/>
            </a:pPr>
            <a:r>
              <a:rPr lang="en-US" altLang="zh-CN" dirty="0">
                <a:hlinkClick r:id="rId2"/>
              </a:rPr>
              <a:t>http://developer.android.com/intl/zh-cn/training/gestures/</a:t>
            </a:r>
            <a:r>
              <a:rPr lang="en-US" altLang="zh-CN" dirty="0" smtClean="0">
                <a:hlinkClick r:id="rId2"/>
              </a:rPr>
              <a:t>multi.html</a:t>
            </a:r>
            <a:endParaRPr lang="en-US" altLang="zh-CN" dirty="0" smtClean="0"/>
          </a:p>
          <a:p>
            <a:pPr marL="0" indent="0">
              <a:buNone/>
            </a:pP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679754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 smtClean="0"/>
              <a:t>GestureDetector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识别一般的手势</a:t>
            </a:r>
            <a:endParaRPr kumimoji="1" lang="en-US" altLang="zh-CN" dirty="0" smtClean="0"/>
          </a:p>
          <a:p>
            <a:r>
              <a:rPr kumimoji="1" lang="zh-CN" altLang="en-US" dirty="0" smtClean="0"/>
              <a:t>内置的手势包括单击、双击、滑动等</a:t>
            </a:r>
            <a:endParaRPr kumimoji="1" lang="en-US" altLang="zh-CN" dirty="0" smtClean="0"/>
          </a:p>
          <a:p>
            <a:r>
              <a:rPr kumimoji="1" lang="zh-CN" altLang="en-US" dirty="0" smtClean="0"/>
              <a:t>可以用</a:t>
            </a:r>
            <a:r>
              <a:rPr kumimoji="1" lang="en-US" altLang="zh-CN" dirty="0" err="1" smtClean="0"/>
              <a:t>GestureBuilder</a:t>
            </a:r>
            <a:r>
              <a:rPr kumimoji="1" lang="zh-CN" altLang="en-US" dirty="0" smtClean="0"/>
              <a:t>自定义手势</a:t>
            </a:r>
            <a:endParaRPr kumimoji="1" lang="en-US" altLang="zh-CN" dirty="0" smtClean="0"/>
          </a:p>
          <a:p>
            <a:pPr marL="0" indent="0">
              <a:buNone/>
            </a:pPr>
            <a:endParaRPr kumimoji="1" lang="en-US" altLang="zh-CN" dirty="0" smtClean="0"/>
          </a:p>
          <a:p>
            <a:pPr marL="0" indent="0">
              <a:buNone/>
            </a:pPr>
            <a:r>
              <a:rPr lang="en-US" altLang="zh-CN" dirty="0">
                <a:hlinkClick r:id="rId2"/>
              </a:rPr>
              <a:t>http://developer.android.com/intl/zh-cn/training/gestures/</a:t>
            </a:r>
            <a:r>
              <a:rPr lang="en-US" altLang="zh-CN" dirty="0" smtClean="0">
                <a:hlinkClick r:id="rId2"/>
              </a:rPr>
              <a:t>index.html</a:t>
            </a:r>
            <a:endParaRPr lang="en-US" altLang="zh-CN" dirty="0" smtClean="0"/>
          </a:p>
          <a:p>
            <a:pPr marL="0" indent="0">
              <a:buNone/>
            </a:pP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609964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提醒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err="1" smtClean="0"/>
              <a:t>AlarmManager</a:t>
            </a:r>
            <a:endParaRPr kumimoji="1" lang="en-US" altLang="zh-CN" dirty="0" smtClean="0"/>
          </a:p>
          <a:p>
            <a:pPr lvl="1"/>
            <a:r>
              <a:rPr lang="en-US" altLang="zh-CN" dirty="0" err="1" smtClean="0"/>
              <a:t>getSystemService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Context.ALARM_SERVICE</a:t>
            </a:r>
            <a:r>
              <a:rPr lang="en-US" altLang="zh-CN" dirty="0" smtClean="0"/>
              <a:t>)</a:t>
            </a:r>
          </a:p>
          <a:p>
            <a:r>
              <a:rPr kumimoji="1" lang="zh-CN" altLang="en-US" dirty="0" smtClean="0"/>
              <a:t>可以设置各种提醒</a:t>
            </a:r>
            <a:endParaRPr kumimoji="1" lang="en-US" altLang="zh-CN" dirty="0" smtClean="0"/>
          </a:p>
          <a:p>
            <a:endParaRPr lang="en-US" altLang="zh-CN" dirty="0"/>
          </a:p>
          <a:p>
            <a:pPr marL="0" indent="0">
              <a:buNone/>
            </a:pPr>
            <a:r>
              <a:rPr lang="en-US" altLang="zh-CN" dirty="0">
                <a:hlinkClick r:id="rId2"/>
              </a:rPr>
              <a:t>http://developer.android.com/training/scheduling/</a:t>
            </a:r>
            <a:r>
              <a:rPr lang="en-US" altLang="zh-CN" dirty="0" smtClean="0">
                <a:hlinkClick r:id="rId2"/>
              </a:rPr>
              <a:t>alarms.html</a:t>
            </a:r>
            <a:endParaRPr lang="en-US" altLang="zh-CN" smtClean="0"/>
          </a:p>
          <a:p>
            <a:pPr marL="0" indent="0">
              <a:buNone/>
            </a:pP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687003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传感器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err="1" smtClean="0"/>
              <a:t>SensorManager</a:t>
            </a:r>
            <a:r>
              <a:rPr kumimoji="1" lang="en-US" altLang="zh-CN" dirty="0" smtClean="0"/>
              <a:t> &amp; Sensor</a:t>
            </a:r>
          </a:p>
          <a:p>
            <a:r>
              <a:rPr lang="en-US" altLang="zh-CN" dirty="0" err="1" smtClean="0"/>
              <a:t>SensorEvent</a:t>
            </a:r>
            <a:r>
              <a:rPr lang="en-US" altLang="zh-CN" dirty="0" smtClean="0"/>
              <a:t> &amp; </a:t>
            </a:r>
            <a:r>
              <a:rPr lang="en-US" altLang="zh-CN" dirty="0" err="1" smtClean="0"/>
              <a:t>SensorEventListener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4719658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传感器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衡量物理环境的硬件设备</a:t>
            </a:r>
            <a:endParaRPr kumimoji="1" lang="en-US" altLang="zh-CN" dirty="0" smtClean="0"/>
          </a:p>
          <a:p>
            <a:pPr lvl="1"/>
            <a:r>
              <a:rPr lang="zh-CN" altLang="en-US" dirty="0" smtClean="0"/>
              <a:t>动作</a:t>
            </a:r>
            <a:endParaRPr lang="en-US" altLang="zh-CN" dirty="0" smtClean="0"/>
          </a:p>
          <a:p>
            <a:pPr lvl="1"/>
            <a:r>
              <a:rPr kumimoji="1" lang="zh-CN" altLang="en-US" dirty="0" smtClean="0"/>
              <a:t>位置</a:t>
            </a:r>
            <a:endParaRPr kumimoji="1" lang="en-US" altLang="zh-CN" dirty="0" smtClean="0"/>
          </a:p>
          <a:p>
            <a:pPr lvl="1"/>
            <a:r>
              <a:rPr lang="zh-CN" altLang="en-US" dirty="0" smtClean="0"/>
              <a:t>环境信息</a:t>
            </a:r>
            <a:endParaRPr lang="en-US" altLang="zh-CN" dirty="0" smtClean="0"/>
          </a:p>
          <a:p>
            <a:r>
              <a:rPr lang="en-US" altLang="zh-CN" dirty="0" err="1" smtClean="0"/>
              <a:t>SensorManager</a:t>
            </a:r>
            <a:endParaRPr lang="en-US" altLang="zh-CN" dirty="0" smtClean="0"/>
          </a:p>
          <a:p>
            <a:pPr lvl="1"/>
            <a:r>
              <a:rPr kumimoji="1" lang="en-US" altLang="zh-CN" dirty="0" err="1" smtClean="0"/>
              <a:t>getSystemService</a:t>
            </a:r>
            <a:r>
              <a:rPr kumimoji="1" lang="en-US" altLang="zh-CN" dirty="0" smtClean="0"/>
              <a:t>(</a:t>
            </a:r>
            <a:r>
              <a:rPr kumimoji="1" lang="en-US" altLang="zh-CN" dirty="0" err="1" smtClean="0"/>
              <a:t>Context.SENSOR_SERVICE</a:t>
            </a:r>
            <a:r>
              <a:rPr kumimoji="1" lang="en-US" altLang="zh-CN" dirty="0" smtClean="0"/>
              <a:t>)</a:t>
            </a:r>
          </a:p>
          <a:p>
            <a:pPr lvl="1"/>
            <a:r>
              <a:rPr lang="en-US" altLang="zh-CN" dirty="0" err="1" smtClean="0"/>
              <a:t>SensorManager.getDefaultSensor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type)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613394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传感器事件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通过回调函数处理</a:t>
            </a:r>
            <a:endParaRPr kumimoji="1" lang="en-US" altLang="zh-CN" dirty="0" smtClean="0"/>
          </a:p>
          <a:p>
            <a:pPr lvl="1"/>
            <a:r>
              <a:rPr lang="en-US" altLang="zh-CN" dirty="0" err="1" smtClean="0"/>
              <a:t>SensorEventListener</a:t>
            </a:r>
            <a:endParaRPr lang="en-US" altLang="zh-CN" dirty="0" smtClean="0"/>
          </a:p>
          <a:p>
            <a:pPr lvl="1"/>
            <a:r>
              <a:rPr kumimoji="1" lang="zh-CN" altLang="en-US" dirty="0" smtClean="0"/>
              <a:t>在传感器的值发生变化时调用</a:t>
            </a:r>
            <a:endParaRPr kumimoji="1" lang="en-US" altLang="zh-CN" dirty="0" smtClean="0"/>
          </a:p>
          <a:p>
            <a:pPr lvl="1"/>
            <a:endParaRPr lang="en-US" altLang="zh-CN" dirty="0" smtClean="0"/>
          </a:p>
          <a:p>
            <a:pPr marL="344487" lvl="1" indent="0">
              <a:buNone/>
            </a:pPr>
            <a:r>
              <a:rPr lang="en-US" altLang="zh-CN" dirty="0">
                <a:hlinkClick r:id="rId2"/>
              </a:rPr>
              <a:t>http://developer.android.com/intl/zh-cn/guide/topics/sensors/</a:t>
            </a:r>
            <a:r>
              <a:rPr lang="en-US" altLang="zh-CN" dirty="0" smtClean="0">
                <a:hlinkClick r:id="rId2"/>
              </a:rPr>
              <a:t>sensors_overview.html</a:t>
            </a:r>
            <a:endParaRPr lang="en-US" altLang="zh-CN" dirty="0" smtClean="0"/>
          </a:p>
          <a:p>
            <a:pPr lvl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178784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位置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位置</a:t>
            </a:r>
            <a:endParaRPr kumimoji="1" lang="en-US" altLang="zh-CN" dirty="0" smtClean="0"/>
          </a:p>
          <a:p>
            <a:pPr lvl="1"/>
            <a:r>
              <a:rPr lang="zh-CN" altLang="en-US" dirty="0" smtClean="0"/>
              <a:t>表示地球上的一个位置</a:t>
            </a:r>
            <a:endParaRPr lang="en-US" altLang="zh-CN" dirty="0" smtClean="0"/>
          </a:p>
          <a:p>
            <a:pPr lvl="1"/>
            <a:r>
              <a:rPr kumimoji="1" lang="zh-CN" altLang="en-US" dirty="0" smtClean="0"/>
              <a:t>经纬度、精确度、时间戳等</a:t>
            </a:r>
            <a:endParaRPr kumimoji="1" lang="en-US" altLang="zh-CN" dirty="0" smtClean="0"/>
          </a:p>
          <a:p>
            <a:pPr lvl="1"/>
            <a:r>
              <a:rPr lang="en-US" altLang="zh-CN" dirty="0" smtClean="0"/>
              <a:t>GPS</a:t>
            </a:r>
            <a:r>
              <a:rPr lang="zh-CN" altLang="en-US" dirty="0" smtClean="0"/>
              <a:t>、基站、</a:t>
            </a:r>
            <a:r>
              <a:rPr lang="en-US" altLang="zh-CN" dirty="0" err="1" smtClean="0"/>
              <a:t>Wifi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android.permission.ACCESS_COARSE_LOCATION</a:t>
            </a:r>
            <a:r>
              <a:rPr lang="en-US" altLang="zh-CN" dirty="0" smtClean="0"/>
              <a:t> </a:t>
            </a:r>
            <a:endParaRPr lang="en-US" altLang="zh-CN" dirty="0"/>
          </a:p>
          <a:p>
            <a:pPr lvl="1"/>
            <a:r>
              <a:rPr lang="en-US" altLang="zh-CN" dirty="0" err="1" smtClean="0"/>
              <a:t>android.permission.ACCESS_FINE_LOCATION</a:t>
            </a:r>
            <a:r>
              <a:rPr lang="en-US" altLang="zh-CN" dirty="0" smtClean="0"/>
              <a:t> </a:t>
            </a:r>
            <a:endParaRPr lang="en-US" altLang="zh-CN" dirty="0"/>
          </a:p>
          <a:p>
            <a:pPr lvl="1"/>
            <a:r>
              <a:rPr kumimoji="1" lang="en-US" altLang="zh-CN" dirty="0" err="1" smtClean="0"/>
              <a:t>getSystemService</a:t>
            </a:r>
            <a:r>
              <a:rPr kumimoji="1" lang="en-US" altLang="zh-CN" dirty="0" smtClean="0"/>
              <a:t>(</a:t>
            </a:r>
            <a:r>
              <a:rPr kumimoji="1" lang="en-US" altLang="zh-CN" dirty="0" err="1" smtClean="0"/>
              <a:t>Context.LOCATION_SERVICE</a:t>
            </a:r>
            <a:r>
              <a:rPr kumimoji="1" lang="en-US" altLang="zh-CN" dirty="0" smtClean="0"/>
              <a:t>)</a:t>
            </a:r>
          </a:p>
          <a:p>
            <a:pPr lvl="1"/>
            <a:r>
              <a:rPr lang="en-US" altLang="zh-CN" dirty="0" err="1" smtClean="0"/>
              <a:t>LocationListener</a:t>
            </a:r>
            <a:endParaRPr kumimoji="1" lang="en-US" altLang="zh-CN" dirty="0"/>
          </a:p>
          <a:p>
            <a:pPr marL="344487" lvl="1" indent="0">
              <a:buNone/>
            </a:pPr>
            <a:r>
              <a:rPr lang="en-US" altLang="zh-CN" dirty="0">
                <a:hlinkClick r:id="rId2"/>
              </a:rPr>
              <a:t>http://developer.android.com/intl/zh-cn/guide/topics/location/index.html#</a:t>
            </a:r>
            <a:r>
              <a:rPr lang="en-US" altLang="zh-CN" dirty="0" smtClean="0">
                <a:hlinkClick r:id="rId2"/>
              </a:rPr>
              <a:t>location</a:t>
            </a:r>
            <a:endParaRPr lang="en-US" altLang="zh-CN" dirty="0" smtClean="0"/>
          </a:p>
          <a:p>
            <a:pPr marL="344487" lvl="1" indent="0">
              <a:buNone/>
            </a:pP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619025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地图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一块区域的可视表示</a:t>
            </a:r>
            <a:endParaRPr kumimoji="1" lang="en-US" altLang="zh-CN" dirty="0" smtClean="0"/>
          </a:p>
          <a:p>
            <a:r>
              <a:rPr lang="en-US" altLang="zh-CN" dirty="0" smtClean="0"/>
              <a:t>Google Maps Android API</a:t>
            </a:r>
          </a:p>
          <a:p>
            <a:endParaRPr kumimoji="1" lang="en-US" altLang="zh-CN" dirty="0" smtClean="0"/>
          </a:p>
          <a:p>
            <a:pPr marL="0" indent="0">
              <a:buNone/>
            </a:pPr>
            <a:r>
              <a:rPr lang="en-US" altLang="zh-CN" dirty="0">
                <a:hlinkClick r:id="rId2"/>
              </a:rPr>
              <a:t>http://developer.android.com/intl/zh-cn/guide/topics/location/index.html#</a:t>
            </a:r>
            <a:r>
              <a:rPr lang="en-US" altLang="zh-CN" dirty="0" smtClean="0">
                <a:hlinkClick r:id="rId2"/>
              </a:rPr>
              <a:t>maps</a:t>
            </a:r>
            <a:endParaRPr lang="en-US" altLang="zh-CN" smtClean="0"/>
          </a:p>
          <a:p>
            <a:pPr marL="0" indent="0">
              <a:buNone/>
            </a:pP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82521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其它</a:t>
            </a:r>
            <a:r>
              <a:rPr kumimoji="1" lang="en-US" altLang="zh-CN" dirty="0" smtClean="0"/>
              <a:t>……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smtClean="0"/>
              <a:t>Widget</a:t>
            </a:r>
          </a:p>
          <a:p>
            <a:r>
              <a:rPr kumimoji="1" lang="en-US" altLang="zh-CN" dirty="0" smtClean="0"/>
              <a:t>Style/Theme</a:t>
            </a:r>
          </a:p>
          <a:p>
            <a:r>
              <a:rPr lang="zh-CN" altLang="en-US" dirty="0" smtClean="0"/>
              <a:t>游戏：</a:t>
            </a:r>
            <a:r>
              <a:rPr lang="en-US" altLang="zh-CN" dirty="0" smtClean="0"/>
              <a:t>OpenGL ES</a:t>
            </a:r>
          </a:p>
          <a:p>
            <a:r>
              <a:rPr lang="zh-CN" altLang="en-US" dirty="0" smtClean="0"/>
              <a:t>计算：</a:t>
            </a:r>
            <a:r>
              <a:rPr lang="en-US" altLang="zh-CN" dirty="0" err="1" smtClean="0"/>
              <a:t>RenderScript</a:t>
            </a:r>
            <a:endParaRPr lang="en-US" altLang="zh-CN" dirty="0" smtClean="0"/>
          </a:p>
          <a:p>
            <a:r>
              <a:rPr kumimoji="1" lang="zh-CN" altLang="en-US" dirty="0" smtClean="0"/>
              <a:t>蓝牙、</a:t>
            </a:r>
            <a:r>
              <a:rPr kumimoji="1" lang="en-US" altLang="zh-CN" dirty="0" smtClean="0"/>
              <a:t>NFC</a:t>
            </a:r>
            <a:r>
              <a:rPr kumimoji="1" lang="zh-CN" altLang="en-US" dirty="0" smtClean="0"/>
              <a:t>、</a:t>
            </a:r>
            <a:r>
              <a:rPr kumimoji="1" lang="en-US" altLang="zh-CN" dirty="0" smtClean="0"/>
              <a:t>USB……</a:t>
            </a:r>
          </a:p>
          <a:p>
            <a:r>
              <a:rPr kumimoji="1" lang="zh-CN" altLang="en-US" dirty="0" smtClean="0"/>
              <a:t>输入法</a:t>
            </a:r>
            <a:r>
              <a:rPr kumimoji="1" lang="en-US" altLang="zh-CN" dirty="0" smtClean="0"/>
              <a:t>……</a:t>
            </a:r>
          </a:p>
          <a:p>
            <a:r>
              <a:rPr lang="en-US" altLang="zh-CN" dirty="0" smtClean="0"/>
              <a:t>Web app</a:t>
            </a:r>
            <a:endParaRPr lang="en-US" altLang="zh-CN" dirty="0"/>
          </a:p>
          <a:p>
            <a:r>
              <a:rPr kumimoji="1" lang="en-US" altLang="zh-CN" dirty="0" smtClean="0"/>
              <a:t>……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5463343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22313" y="2906713"/>
            <a:ext cx="7772400" cy="1362075"/>
          </a:xfrm>
        </p:spPr>
        <p:txBody>
          <a:bodyPr/>
          <a:lstStyle/>
          <a:p>
            <a:pPr algn="ctr"/>
            <a:r>
              <a:rPr kumimoji="1" lang="zh-CN" altLang="en-US" dirty="0" smtClean="0"/>
              <a:t>学无止境</a:t>
            </a:r>
            <a:endParaRPr kumimoji="1"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3868378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Android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Android.thmx</Template>
  <TotalTime>1260</TotalTime>
  <Words>649</Words>
  <Application>Microsoft Macintosh PowerPoint</Application>
  <PresentationFormat>全屏显示(4:3)</PresentationFormat>
  <Paragraphs>166</Paragraphs>
  <Slides>29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0" baseType="lpstr">
      <vt:lpstr>Android</vt:lpstr>
      <vt:lpstr>网络、多媒体、传感器、提醒</vt:lpstr>
      <vt:lpstr>内容</vt:lpstr>
      <vt:lpstr>网络</vt:lpstr>
      <vt:lpstr>HttpURLConnection</vt:lpstr>
      <vt:lpstr>AndroidHttpClient</vt:lpstr>
      <vt:lpstr>多媒体</vt:lpstr>
      <vt:lpstr>画图</vt:lpstr>
      <vt:lpstr>ImageView</vt:lpstr>
      <vt:lpstr>Canvas</vt:lpstr>
      <vt:lpstr>动画</vt:lpstr>
      <vt:lpstr>视图动画</vt:lpstr>
      <vt:lpstr>属性动画</vt:lpstr>
      <vt:lpstr>视频、音频</vt:lpstr>
      <vt:lpstr>AudioManager</vt:lpstr>
      <vt:lpstr>MediaPlayer</vt:lpstr>
      <vt:lpstr>MediaRecorder</vt:lpstr>
      <vt:lpstr>Camera</vt:lpstr>
      <vt:lpstr>Camera</vt:lpstr>
      <vt:lpstr>多点触摸</vt:lpstr>
      <vt:lpstr>MotionEvent</vt:lpstr>
      <vt:lpstr>GestureDetector</vt:lpstr>
      <vt:lpstr>提醒</vt:lpstr>
      <vt:lpstr>传感器</vt:lpstr>
      <vt:lpstr>传感器</vt:lpstr>
      <vt:lpstr>传感器事件</vt:lpstr>
      <vt:lpstr>位置</vt:lpstr>
      <vt:lpstr>地图</vt:lpstr>
      <vt:lpstr>其它……</vt:lpstr>
      <vt:lpstr>学无止境</vt:lpstr>
    </vt:vector>
  </TitlesOfParts>
  <Company>zjgsu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数据存取</dc:title>
  <dc:creator>建伟 韩</dc:creator>
  <cp:lastModifiedBy>韩 建伟</cp:lastModifiedBy>
  <cp:revision>226</cp:revision>
  <dcterms:created xsi:type="dcterms:W3CDTF">2012-11-06T04:31:34Z</dcterms:created>
  <dcterms:modified xsi:type="dcterms:W3CDTF">2014-05-28T13:50:48Z</dcterms:modified>
</cp:coreProperties>
</file>